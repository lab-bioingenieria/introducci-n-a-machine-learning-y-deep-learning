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la sesión 13 de 14. Dar la bienvenida, verificar audio y video, y recordar las reglas de participación.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los seis objetivos, uno por cada nivel de la taxonomía de Bloom revisada. Al final de la clase el quiz verifica los primeros niveles y la tarea cubre los superiores.
Resultado de aprendizaje: Describe el movimiento del cuerpo con variables biomecánicas y calcula esfuerzo, deformación y esfuerzo de flexión en un hueso largo con sus ecuaciones.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 de la semana 12. Pedir a dos estudiantes que expliquen una idea con sus palabras antes de avanzar. Resultado previo: Explica la arquitectura U-Net y segmenta anomalías en resonancia magnética cerebral, evaluando el resultado con Dice e IoU.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a paso de la clase:
0–10 min · Apertura: Repaso de U-Net y de la tarea. Panorama de la biomecánica: cinemática, cinética y carga en articulaciones durante la marcha.
10–30 min · Exposición: Exposición: esfuerzo, deformación, módulo de Young, flexión (sigma = M c / I), inercia de un cilindro hueco y valores típicos del hueso cortical como supuestos de trabajo.
30–50 min · Demostración en vivo: Resolución en vivo del ejemplo de la hoja: fémur como cilindro hueco con carga axial y excéntrica; cálculo paso a paso de A, sigma, epsilon, I y sigma de flexión.
50–55 min · Pausa: Pausa de 5 minutos.
55–80 min · Práctica en salas virtuales: Salas de 4 personas: cambiar el diámetro interno y la carga en el ejemplo, registrar el cambio en el esfuerzo y calcular el factor de seguridad.
80–95 min · Plenaria y discusión: Plenaria: cada sala presenta su resultado. Discusión sobre osteoporosis (menor diámetro efectivo) y sobre las simplificaciones del modelo.
95–105 min · Cierre y evaluación: Quiz en Google Forms, publicación de la tarea y adelanto de la semana 14 (elementos finitos del fémur).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sesión recorre los seis niveles de la taxonomía de Bloom revisada, de recordar a crear, con una actividad para cada 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 al grupo quién completó cada actividad previa y qué dudas surgieron. Usar sus respuestas para ajustar el ritmo de la exposición.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(20 min): Resolución en vivo del ejemplo de la hoja: fémur como cilindro hueco con carga axial y excéntrica; cálculo paso a paso de A, sigma, epsilon, I y sigma de flexión.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las salas en Zoom y asignar roles. Pasar por cada sala durante el trabajo. Actividad: Salas de 4 personas: cambiar el diámetro interno y la carga en el ejemplo, registrar el cambio en el esfuerzo y calcular el factor de seguridad.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Plenaria (15 min). Criterios de la rúbrica de coevaluación: claridad, evidencia y seguridad del paciente. Plenaria: cada sala presenta su resultado. Discusión sobre osteoporosis (menor diámetro efectivo) y sobre las simplificaciones del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 esperadas:
1. σ = F / A.
2. La rigidez del material: E = σ / ε.
3. 2 N/mm², es decir 2 MPa.
4. Cuántas veces la resistencia supera el esfuerzo máximo.
5. Reduce la resistencia y adelgaza la cortical, lo que sube el esfuerzo.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las tres ideas clave. Pedir a un estudiante que las resuma en una frase.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cada entregable y su fecha en el aula virtual.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Compartir este enlace en el chat al final de la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Adelanto de la semana 14. Recordar las actividades previas y su duración.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openstax.org/books/university-physics-volume-1/pages/12-3-stress-strain-and-elastic-modulus" TargetMode="External"/><Relationship Id="rId2" Type="http://schemas.openxmlformats.org/officeDocument/2006/relationships/hyperlink" Target="https://openstax.org/books/university-physics-volume-1/pages/12-4-elasticity-and-plasticity" TargetMode="External"/><Relationship Id="rId3" Type="http://schemas.openxmlformats.org/officeDocument/2006/relationships/hyperlink" Target="https://opensimconfluence.atlassian.net/wiki/spaces/OpenSim/pages/53088700/Tutorial+1+-+Intro+to+Musculoskeletal+Modeling" TargetMode="External"/><Relationship Id="rId4" Type="http://schemas.openxmlformats.org/officeDocument/2006/relationships/hyperlink" Target="https://simtk.org/projects/opensim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097280"/>
            <a:ext cx="4572000" cy="4572000"/>
          </a:xfrm>
          <a:prstGeom prst="ellipse">
            <a:avLst/>
          </a:prstGeom>
          <a:solidFill>
            <a:srgbClr val="13334F"/>
          </a:solidFill>
          <a:ln w="12700">
            <a:solidFill>
              <a:srgbClr val="1333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377440"/>
            <a:ext cx="3108960" cy="3108960"/>
          </a:xfrm>
          <a:prstGeom prst="ellipse">
            <a:avLst/>
          </a:prstGeom>
          <a:solidFill>
            <a:srgbClr val="1A7F8E">
              <a:alpha val="45000"/>
            </a:srgbClr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0" y="3291840"/>
            <a:ext cx="1645920" cy="1645920"/>
          </a:xfrm>
          <a:prstGeom prst="ellipse">
            <a:avLst/>
          </a:prstGeom>
          <a:solidFill>
            <a:srgbClr val="E8871E">
              <a:alpha val="45000"/>
            </a:srgbClr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0584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SISTEMAS BIOMECATRONICOS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CF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13: Biomecánica del movimiento y esfuerzos de tensión y compresión en huesos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434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ESPOL  ·  Clase virtual de 1 h 45 min  ·  Taxonomía de Bloom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clase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3560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356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72821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 las ecuaciones de esfuerzo (sigma = F/A), deformación (epsilon = dL/L0) y módulo de Young (E = sigma/epsilon).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43560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356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72821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la diferencia entre tensión, compresión, flexión y torsión en un hueso.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53288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53288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282549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paso a paso el esfuerzo axial y de flexión de un fémur modelado como cilindro hueco.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42316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253288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92040" y="253288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282549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cómo cambia el esfuerzo al variar el diámetro interno o la carga.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63016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6301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392277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el resultado frente a la resistencia del hueso cortical y calcular el factor de seguridad.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52044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363016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92040" y="36301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892040" y="392277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Proponer un modelo simplificado de la marcha con OpenSim o con cálculo manual.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la clase anterior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12: Segmentación de tumores cerebrales con la arquitectura U-Net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993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1460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segmenta píxel a píxel con un camino de contracción, uno de expansión y saltos.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56432" y="1993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643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51460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conexiones de salto conservan el detalle espacial.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82880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99632" y="1993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9963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51460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e IoU miden qué tanto coincide la máscara predicha con la de referencia.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la sesión: 105 minutos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 min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2801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Apertura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60720" y="13533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0" y="1353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12801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7373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85800" y="17373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10–30 min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17373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Exposición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60720" y="18105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60720" y="18105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17373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1945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85800" y="21945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 min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21945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en vivo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60720" y="22677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60720" y="22677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21945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26517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85800" y="26517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50–55 min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011680" y="26517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Pausa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760720" y="26517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Descanso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26517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1089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85800" y="31089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55–80 min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011680" y="31089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 en salas virtuales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760720" y="31821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760720" y="31821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0" y="31089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35661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685800" y="35661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80–95 min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2011680" y="35661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Plenaria y discusión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760720" y="36393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760720" y="3639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7315200" y="35661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40233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685800" y="40233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95–105 min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2011680" y="40233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 y evaluación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760720" y="40965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760720" y="40965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7315200" y="40233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trabajaremos: niveles de Bloom en la clase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25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Recordar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13258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y repaso rápido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856232"/>
            <a:ext cx="3611880" cy="457200"/>
          </a:xfrm>
          <a:prstGeom prst="roundRect">
            <a:avLst>
              <a:gd name="adj" fmla="val 2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85623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Comprender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185623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con ejemplos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4480560" cy="45720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38658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Aplicar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238658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vivo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916936"/>
            <a:ext cx="5349240" cy="457200"/>
          </a:xfrm>
          <a:prstGeom prst="roundRect">
            <a:avLst>
              <a:gd name="adj" fmla="val 20000"/>
            </a:avLst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91693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Analizar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91693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en salas virtuales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447288"/>
            <a:ext cx="6217920" cy="45720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44728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Evaluar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34472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Plenaria y rúbrica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7086600" cy="45720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977640"/>
            <a:ext cx="681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Crear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39776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Cierre, quiz y tarea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preparaste antes de la clase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la sección de esfuerzo, deformación y módulo elástico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Resumen con las tres ecuaciones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564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la sección de elasticidad y plasticidad y anotar el límite elástico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Dibujo de una curva esfuerzo-deformación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la introducción de OpenSim al modelado musculoesquelético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1996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Tres preguntas anotadas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Biomecánica del movimiento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Cinemática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posición, velocidad y ángulos sin considerar las fuerzas.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Cinética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 fuerzas y momentos con el movimiento.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Antropometría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Masas, longitudes e inercias de los segmentos.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Electromiografía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cuándo se activa cada músculo.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Fases de la marcha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481328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7160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Contacto inicial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371600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talón toca el suelo.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039112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148840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Respuesta a la carga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039112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peso pasa a la pierna de apoyo.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706624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281635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706624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Apoyo medio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2706624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cuerpo avanza sobre el pie.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348386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374136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Despegue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337413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pie se impulsa y deja el suelo.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041648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4151376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404164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Balanceo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657600" y="4041648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pierna avanza para el siguiente paso.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Esfuerzo y deformación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1188720"/>
          </a:xfrm>
          <a:prstGeom prst="roundRect">
            <a:avLst>
              <a:gd name="adj" fmla="val 923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= F / A        ε = ΔL / L₀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Esfuerzo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Fuerza por unidad de área, en pascales (Pa).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Deformación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relativo de longitud, sin unidades.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Límite elástico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ahí el material recupera su forma.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de Young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1188720"/>
          </a:xfrm>
          <a:prstGeom prst="roundRect">
            <a:avLst>
              <a:gd name="adj" fmla="val 923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= σ / ε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Significado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Rigidez del material en su zona elástica.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Hueso cortical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como supuesto de trabajo unos 17 GPa.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Comparación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acero es cerca de diez veces más rígido.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carga en un hueso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Tensión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Estira el hueso a lo largo de su eje.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Compresión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acorta; es la carga principal del fémur al estar de pie.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Flexión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curva; combina tensión y compresión en la sección.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Torsión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retuerce alrededor de su eje.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Esfuerzo de flexión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1188720"/>
          </a:xfrm>
          <a:prstGeom prst="roundRect">
            <a:avLst>
              <a:gd name="adj" fmla="val 923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= M · c / I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 flector: fuerza por brazo de palanca.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del eje neutro a la fibra más alejada.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 de inercia de la sección.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Fémur como cilindro hueco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1188720"/>
          </a:xfrm>
          <a:prstGeom prst="roundRect">
            <a:avLst>
              <a:gd name="adj" fmla="val 923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= π (Dₒ⁴ − Dᵢ⁴) / 64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Área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π/4 (Dₒ² − Dᵢ²).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Supuestos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uniforme y material homogéneo.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83464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297180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971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Utilidad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340156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simple para comparar con elementos finitos.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resuelto (hoja de cálculo)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7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4,15 MPa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60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esfuerzo axial con F = 2100 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83280" y="1600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43,1 MPa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560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esfuerzo de flexión con 50 mm de excentricidad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126480" y="1600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7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3,6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560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de seguridad con 170 MPa de resistencia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8404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de trabajo para enseñanza; contrástalos con la literatura antes de diseñar.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Osteoporosis y factor de seguridad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Menor densidad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Disminuyen la rigidez y la resistencia del hueso.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Cortical más delgada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el esfuerzo para la misma carga.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 de seguridad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 = resistencia / esfuerzo máximo.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Consecuencia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FS bajo aumenta el riesgo de fractura.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en vivo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754880" cy="3108960"/>
          </a:xfrm>
          <a:prstGeom prst="roundRect">
            <a:avLst>
              <a:gd name="adj" fmla="val 3529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E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haremos (20 min)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4297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en vivo del ejemplo de la hoja: fémur como cilindro hueco con carga axial y excéntrica; cálculo paso a paso de A, sigma, epsilon, I y sigma de flexión.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0" y="1371600"/>
            <a:ext cx="3108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23560" y="164592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2356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13716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en tu propio Colab o software mientras se muestra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0" y="2423160"/>
            <a:ext cx="3108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23560" y="269748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2356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42316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 tus dudas en el chat con el número de paso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0" y="3474720"/>
            <a:ext cx="3108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23560" y="374904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2356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34747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capturas para tu entregable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 en salas virtuales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194560" cy="3108960"/>
          </a:xfrm>
          <a:prstGeom prst="roundRect">
            <a:avLst>
              <a:gd name="adj" fmla="val 5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salas de 4 personas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13716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Salas de 4 personas: cambiar el diámetro interno y la carga en el ejemplo, registrar el cambio en el esfuerzo y calcular el factor de seguridad.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926080" y="265176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063240" y="27066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Moderador/a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30358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 el tiempo y da la palabra.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06440" y="265176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943600" y="27066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Ejecutor/a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30358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Comparte pantalla y corre el ejercicio.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926080" y="361188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063240" y="36667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Verificador/a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063240" y="39959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resultados y unidades.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06440" y="361188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943600" y="36667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Relator/a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39959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hallazgos en el documento.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Plenaria y discusión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417320"/>
            <a:ext cx="7589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Plenaria: cada sala presenta su resultado. Discusión sobre osteoporosis (menor diámetro efectivo) y sobre las simplificaciones del modelo.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3063240"/>
            <a:ext cx="347472" cy="347472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063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Claridad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explicación se entiende sin ver el código.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9260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3063240"/>
            <a:ext cx="347472" cy="347472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86200" y="3063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Respalda con datos, métricas o cálculos.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9260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063240"/>
            <a:ext cx="347472" cy="347472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3063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del paciente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 el riesgo de equivocarse.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de cierre (Google Forms)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26464"/>
            <a:ext cx="365760" cy="36576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26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3258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la fórmula del esfuerzo.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2066544"/>
            <a:ext cx="365760" cy="36576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066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96596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mide el módulo de Young?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706624"/>
            <a:ext cx="365760" cy="365760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6060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σ con F = 1000 N y A = 500 mm².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346704"/>
            <a:ext cx="365760" cy="365760"/>
          </a:xfrm>
          <a:prstGeom prst="ellipse">
            <a:avLst/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346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2461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dice el factor de seguridad?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986784"/>
            <a:ext cx="365760" cy="3657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88620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la osteoporosis aumenta el riesgo de fractura?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la clase de hoy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Esfuerzo σ = F/A, deformación ε = ΔL/L0 y módulo de Young E = σ/ε describen el hueso.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56432" y="1536192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64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flexión, σ = M·c/I, y en un cilindro hueco I = π(Do⁴ − Di⁴)/64.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99632" y="1536192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996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factor de seguridad compara la resistencia con el esfuerzo máximo.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Después de la clase: tarea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dos problemas propuestos de esfuerzo y flexión, con unidades y procedimiento completo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Problemas resueltos con unidades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564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en un párrafo cómo la osteoporosis cambia el factor de seguridad del fémur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Párrafo con cálculo de apoyo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OpenSim o revisar el tutorial para la semana siguiente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1996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Captura de instalación o de tutorial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y enlaces de la sesión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OpenStax: esfuerzo, deformación y módulo elástico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https://openstax.org/books/university-physics-volume-1/pages/12-3-stress-strain-and-elastic-modulus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83664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883664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OpenStax: elasticidad y plasticidad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https://openstax.org/books/university-physics-volume-1/pages/12-4-elasticity-and-plasticity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85800" y="2487168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OpenSim Tutorial 1: introducción al modelado musculoesquelético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https://opensimconfluence.atlassian.net/wiki/spaces/OpenSim/pages/53088700/Tutorial+1+-+Intro+to+Musculoskeletal+Modeling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090672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85800" y="309067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OpenSim (SimTK)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https://simtk.org/projects/opensim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52628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Enlaces confirmados por búsqueda web el 30/09/2026; ábrelos una vez antes de la clase.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Próxima clase: Semana 14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949440" y="-914400"/>
            <a:ext cx="3291840" cy="3291840"/>
          </a:xfrm>
          <a:prstGeom prst="ellipse">
            <a:avLst/>
          </a:prstGeom>
          <a:solidFill>
            <a:srgbClr val="13334F"/>
          </a:solidFill>
          <a:ln w="12700">
            <a:solidFill>
              <a:srgbClr val="1333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3017520"/>
            <a:ext cx="2194560" cy="2194560"/>
          </a:xfrm>
          <a:prstGeom prst="ellipse">
            <a:avLst/>
          </a:prstGeom>
          <a:solidFill>
            <a:srgbClr val="1A7F8E">
              <a:alpha val="45000"/>
            </a:srgbClr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CF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por elementos finitos del fémur y cierre del curso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574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 un modelo de elementos finitos de un fémur (geometría, malla, material, cargas, condiciones de borde), interpreta la distribución de esfuerzos y presenta el proyecto final.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632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esa clase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401568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la revisión de análisis por elementos finitos del fémur humano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el tutorial de FEM de FreeCAD hasta obtener resultados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el estudio de fémur distal con y sin osteoartritis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13: Biomecánica del movimiento y esfuerzos de tensión y compresión en huesos</dc:title>
  <dc:subject>PptxGenJS Presentation</dc:subject>
  <dc:creator>Sistemas Biomecatrónicos, ESPOL</dc:creator>
  <cp:lastModifiedBy>Sistemas Biomecatrónicos, ESPOL</cp:lastModifiedBy>
  <cp:revision>1</cp:revision>
  <dcterms:created xsi:type="dcterms:W3CDTF">2026-09-30T16:49:19Z</dcterms:created>
  <dcterms:modified xsi:type="dcterms:W3CDTF">2026-09-30T16:49:19Z</dcterms:modified>
</cp:coreProperties>
</file>