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la sesión 12 de 14. Dar la bienvenida, verificar audio y video, y recordar las reglas de participación.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los seis objetivos, uno por cada nivel de la taxonomía de Bloom revisada. Al final de la clase el quiz verifica los primeros niveles y la tarea cubre los superiores.
Resultado de aprendizaje: Explica la arquitectura U-Net y segmenta anomalías en resonancia magnética cerebral, evaluando el resultado con Dice e IoU.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 de la semana 11. Pedir a dos estudiantes que expliquen una idea con sus palabras antes de avanzar. Resultado previo: Entrena y evalúa una CNN para clasificar imágenes médicas (radiografía de tórax) y explica su desempeño con métricas clínicas.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a paso de la clase:
0–10 min · Apertura: Repaso de clasificación con CNN. Diferencia entre clasificar una imagen y segmentar píxeles.
10–30 min · Exposición: Exposición: U-Net paso a paso (contracción, cuello, expansión, saltos), pérdidas (entropía cruzada, Dice) y métricas (Dice, IoU).
30–50 min · Demostración en vivo: Demostración en Colab: cargar cortes FLAIR y máscaras del conjunto LGG, predecir con un U-Net y superponer la máscara.
50–55 min · Pausa: Pausa de 5 minutos.
55–80 min · Práctica en salas virtuales: Salas de 4 personas: comparar máscaras predichas y de referencia, calcular Dice y describir tres errores típicos.
80–95 min · Plenaria y discusión: Plenaria: cada sala presenta un caso de fallo. Discusión sobre el uso de la segmentación en planificación quirúrgica y radioterapia.
95–105 min · Cierre y evaluación: Quiz en Google Forms, publicación de la tarea y adelanto de la semana 13 (biomecánica del movimiento).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sesión recorre los seis niveles de la taxonomía de Bloom revisada, de recordar a crear, con una actividad para cada 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al grupo quién completó cada actividad previa y qué dudas surgieron. Usar sus respuestas para ajustar el ritmo de la exposición.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(20 min): Demostración en Colab: cargar cortes FLAIR y máscaras del conjunto LGG, predecir con un U-Net y superponer la máscara.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las salas en Zoom y asignar roles. Pasar por cada sala durante el trabajo. Actividad: Salas de 4 personas: comparar máscaras predichas y de referencia, calcular Dice y describir tres errores típicos.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Plenaria (15 min). Criterios de la rúbrica de coevaluación: claridad, evidencia y seguridad del paciente. Plenaria: cada sala presenta un caso de fallo. Discusión sobre el uso de la segmentación en planificación quirúrgica y radioterapia.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 esperadas:
1. Clasificar da una etiqueta por imagen; segmentar, una por píxel.
2. Conservar el detalle espacial al reconstruir la máscara.
3. 2·30 / (40 + 60) = 0,6.
4. De 0 a 1.
5. Falsos positivos en vasos o tumores pequeños no detectados.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las tres ideas clave. Pedir a un estudiante que las resuma en una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cada entregable y su fecha en el aula virtual.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Compartir este enlace en el chat al final de la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Adelanto de la semana 13. Recordar las actividades previas y su duración.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1505.04597" TargetMode="External"/><Relationship Id="rId2" Type="http://schemas.openxmlformats.org/officeDocument/2006/relationships/hyperlink" Target="https://www.kaggle.com/datasets/mateuszbuda/lgg-mri-segmentation" TargetMode="External"/><Relationship Id="rId3" Type="http://schemas.openxmlformats.org/officeDocument/2006/relationships/hyperlink" Target="https://www.tensorflow.org/tutorials/images/segmentation" TargetMode="External"/><Relationship Id="rId4" Type="http://schemas.openxmlformats.org/officeDocument/2006/relationships/hyperlink" Target="https://github.com/mateuszbuda/brain-segmentation-pytorch" TargetMode="External"/><Relationship Id="rId5" Type="http://schemas.openxmlformats.org/officeDocument/2006/relationships/hyperlink" Target="https://colab.research.google.com/" TargetMode="External"/><Relationship Id="rId6" Type="http://schemas.openxmlformats.org/officeDocument/2006/relationships/hyperlink" Target="https://monai.io/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097280"/>
            <a:ext cx="4572000" cy="4572000"/>
          </a:xfrm>
          <a:prstGeom prst="ellipse">
            <a:avLst/>
          </a:prstGeom>
          <a:solidFill>
            <a:srgbClr val="13334F"/>
          </a:solidFill>
          <a:ln w="12700">
            <a:solidFill>
              <a:srgbClr val="1333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3108960" cy="3108960"/>
          </a:xfrm>
          <a:prstGeom prst="ellipse">
            <a:avLst/>
          </a:prstGeom>
          <a:solidFill>
            <a:srgbClr val="1A7F8E">
              <a:alpha val="45000"/>
            </a:srgbClr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0" y="3291840"/>
            <a:ext cx="1645920" cy="1645920"/>
          </a:xfrm>
          <a:prstGeom prst="ellipse">
            <a:avLst/>
          </a:prstGeom>
          <a:solidFill>
            <a:srgbClr val="E8871E">
              <a:alpha val="45000"/>
            </a:srgbClr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BIOMECATRONICOS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CF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12: Segmentación de tumores cerebrales con la arquitectura U-Net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ESPOL  ·  Clase virtual de 1 h 45 min  ·  Taxonomía de Bloom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3560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356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282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Nombrar las partes de U-Net: camino de contracción, camino de expansión y conexiones de salto.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43560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356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7282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por qué las conexiones de salto conservan detalle espacial.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53288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5328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8254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un U-Net sobre cortes de resonancia FLAIR del conjunto LGG.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253288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25328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28254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máscaras predichas frente a las de referencia e identificar fallos.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63016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630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9227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la segmentación con Dice e IoU y decidir si es útil clínicamente.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5204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363016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92040" y="3630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9227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 una modificación a U-Net (profundidad, pérdida o aumento de datos).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clase anterior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11: Clasificación de tumores y patologías con redes convolucionales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993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aprendizaje por transferencia permite clasificar con pocos datos médicos.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56432" y="1993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64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51460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curva ROC y la sensibilidad guían el umbral según el riesgo clínico.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99632" y="1993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996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51460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necesita validación externa y supervisión antes de usarse en un hospital.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sesión: 105 minutos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 min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2801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Apertura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0" y="13533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0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1280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" y="17373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10–30 min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17373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Exposición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60720" y="18105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0" y="1810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17373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1945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5800" y="21945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 min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21945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60720" y="22677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0" y="22677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21945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26517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85800" y="26517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50–55 min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011680" y="26517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26517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6517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1089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85800" y="31089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55–80 min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011680" y="31089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en salas virtuales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760720" y="31821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60720" y="31821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31089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35661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85800" y="3566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80–95 min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2011680" y="35661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Plenaria y discusión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760720" y="36393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760720" y="3639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315200" y="3566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40233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85800" y="40233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95–105 min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2011680" y="40233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y evaluación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760720" y="40965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760720" y="4096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7315200" y="40233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trabajaremos: niveles de Bloom en la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Recordar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13258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y repaso rápido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56232"/>
            <a:ext cx="3611880" cy="457200"/>
          </a:xfrm>
          <a:prstGeom prst="roundRect">
            <a:avLst>
              <a:gd name="adj" fmla="val 2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85623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Comprender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185623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con ejemplos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4480560" cy="45720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3865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Aplicar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3865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916936"/>
            <a:ext cx="5349240" cy="457200"/>
          </a:xfrm>
          <a:prstGeom prst="roundRect">
            <a:avLst>
              <a:gd name="adj" fmla="val 2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91693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Analizar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9169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en salas virtuales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447288"/>
            <a:ext cx="6217920" cy="4572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44728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4472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Plenaria y rúbrica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7086600" cy="45720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977640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Crear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39776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Cierre, quiz y tarea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preparaste antes de la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el resumen y la figura de arquitectura del artículo de U-Net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Dibujo de la arquitectura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564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el conjunto LGG y ver ejemplos de imágenes y máscaras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Cantidad de imágenes y máscaras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el tutorial de segmentación de TensorFlow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Dos preguntas sobre el código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Clasificar una imagen frente a segmentar píxeles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etiqueta por imagen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Responde: ¿hay tumor?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Salida: probabilidad o clase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84048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55448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Segmentación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194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etiqueta por píxel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Responde: ¿dónde está y qué tamaño tiene?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Salida: máscara del tamaño de la imagen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U-Net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Camino de contracción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Convoluciones y pooling que capturan contexto.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Cuello de botella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representación más compacta.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Camino de expansión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Up-convoluciones que recuperan resolución.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Conexiones de salto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Copian rasgos del camino de contracción al de expansión.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funcionan las conexiones de salto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Detalle espacial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Recuperan bordes finos perdidos al reducir la imagen.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y localización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Combinan qué es con dónde está.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Facilitan el entrenamiento de redes profundas.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Pocos datos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Permiten entrenar con pocas imágenes anotadas.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Conjunto LGG de resonancia cerebral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(glioma de bajo grado)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8328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3 929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FLAIR con su máscara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12648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FLAIR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de resonancia usada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840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máscaras fueron aprobadas por un radiólogo; las imágenes vienen de la colección TCGA-LGG en TCIA.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Preprocesamiento de las imágenes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37160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las intensidades.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31343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14884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Redimensionar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14884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ejemplo 256×256.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09067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92608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Dividir por paciente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292608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mezclar cortes del mismo paciente.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86791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70332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Aumentar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70332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Giros, escalas y cambios de brillo leves.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Coeficiente de Dice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188720"/>
          </a:xfrm>
          <a:prstGeom prst="roundRect">
            <a:avLst>
              <a:gd name="adj" fmla="val 923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Dice = 2 |A ∩ B| / (|A| + |B|)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y B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 la máscara predicha; B, la de referencia.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0 (sin solapamiento) a 1 (coincidencia total).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Pérdida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entrena con 1 − Dice, sola o con entropía cruzada.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Intersección sobre unión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188720"/>
          </a:xfrm>
          <a:prstGeom prst="roundRect">
            <a:avLst>
              <a:gd name="adj" fmla="val 923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IoU = |A ∩ B| / |A ∪ B|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Interpretación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Fracción del área total que ambas máscaras comparten.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Relación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= Dice / (2 − Dice).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e IoU se reportan juntos en las publicaciones.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típicos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Falsos positivos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Vasos o bordes confundidos con tumor.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Tumores pequeños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subsegmentan o se pierden.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Cortes extremos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primeras y últimas capas del volumen fallan más.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Variabilidad del experto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máscara de referencia también tiene incertidumbre.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clínico de la segmentación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Planificación quirúrgica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Delimitar el tumor y las zonas a proteger.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Radioterapia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Contornear volúmenes a irradiar.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Seguimiento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el cambio de volumen.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Revisión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radiólogo revisa siempre la máscara.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754880" cy="3108960"/>
          </a:xfrm>
          <a:prstGeom prst="roundRect">
            <a:avLst>
              <a:gd name="adj" fmla="val 3529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haremos (20 min)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Colab: cargar cortes FLAIR y máscaras del conjunto LGG, predecir con un U-Net y superponer la máscara.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0" y="137160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0" y="164592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2356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3716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en tu propio Colab o software mientras se muestra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0" y="242316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23560" y="269748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2356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4231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tus dudas en el chat con el número de paso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0" y="347472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23560" y="374904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2356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3474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capturas para tu entregable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en salas virtuales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194560" cy="3108960"/>
          </a:xfrm>
          <a:prstGeom prst="roundRect">
            <a:avLst>
              <a:gd name="adj" fmla="val 5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de 4 personas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13716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de 4 personas: comparar máscaras predichas y de referencia, calcular Dice y describir tres errores típicos.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926080" y="265176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063240" y="27066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Moderador/a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3035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 el tiempo y da la palabra.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06440" y="265176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943600" y="27066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Ejecutor/a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3035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pantalla y corre el ejercicio.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926080" y="361188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063240" y="3666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Verificador/a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39959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resultados y unidades.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06440" y="361188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943600" y="3666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Relator/a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39959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hallazgos en el documento.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Plenaria y discusión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7589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Plenaria: cada sala presenta un caso de fallo. Discusión sobre el uso de la segmentación en planificación quirúrgica y radioterapia.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Claridad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explicación se entiende sin ver el código.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Respalda con datos, métricas o cálculos.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del paciente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 el riesgo de equivocarse.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de cierre (Google Forms)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26464"/>
            <a:ext cx="365760" cy="36576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325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diferencia hay entre clasificar y segmentar?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066544"/>
            <a:ext cx="365760" cy="36576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066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9659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sirven las conexiones de salto?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706624"/>
            <a:ext cx="365760" cy="365760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6060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Dice si A = 40 píxeles, B = 60 y la intersección es 30.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346704"/>
            <a:ext cx="365760" cy="365760"/>
          </a:xfrm>
          <a:prstGeom prst="ellipse">
            <a:avLst/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2461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rango tiene el Dice?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986784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8862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 un error típico de segmentación.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clase de hoy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segmenta píxel a píxel con un camino de contracción, uno de expansión y saltos.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564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64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conexiones de salto conservan el detalle espacial.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996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996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e IoU miden qué tanto coincide la máscara predicha con la de referencia.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Después de la clase: tarea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Dice e IoU en veinte cortes y graficar la distribución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Cuaderno con gráfica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564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en un párrafo tres fallos de segmentación y cómo los corregirías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Párrafo con tres fallos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 una modificación a U-Net y justificar su efecto esperado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Propuesta en el foro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y enlaces de la sesión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9319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U-Net: Convolutional Networks for Biomedical Image Segmentation (arXiv)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https://arxiv.org/abs/1505.04597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47088"/>
            <a:ext cx="39319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84708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LGG MRI Segmentation (Kaggle)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https://www.kaggle.com/datasets/mateuszbuda/lgg-mri-segmentation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14016"/>
            <a:ext cx="39319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5800" y="241401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de segmentación de imágenes de TensorFlow (U-Net)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https://www.tensorflow.org/tutorials/images/segmentation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39319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00600" y="12801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brain-segmentation-pytorch: U-Net para FLAIR (GitHub)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https://github.com/mateuszbuda/brain-segmentation-pytorch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847088"/>
            <a:ext cx="39319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00600" y="184708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414016"/>
            <a:ext cx="39319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800600" y="241401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MONAI: framework de deep learning para imagen médica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https://monai.io/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5262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Enlaces confirmados por búsqueda web el 30/09/2026; ábrelos una vez antes de la clase.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Próxima clase: Semana 13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949440" y="-914400"/>
            <a:ext cx="3291840" cy="3291840"/>
          </a:xfrm>
          <a:prstGeom prst="ellipse">
            <a:avLst/>
          </a:prstGeom>
          <a:solidFill>
            <a:srgbClr val="13334F"/>
          </a:solidFill>
          <a:ln w="12700">
            <a:solidFill>
              <a:srgbClr val="1333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017520"/>
            <a:ext cx="2194560" cy="2194560"/>
          </a:xfrm>
          <a:prstGeom prst="ellipse">
            <a:avLst/>
          </a:prstGeom>
          <a:solidFill>
            <a:srgbClr val="1A7F8E">
              <a:alpha val="45000"/>
            </a:srgbClr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F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Biomecánica del movimiento y esfuerzos de tensión y compresión en huesos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574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el movimiento del cuerpo con variables biomecánicas y calcula esfuerzo, deformación y esfuerzo de flexión en un hueso largo con sus ecuaciones.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632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esa clase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01568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la sección de esfuerzo, deformación y módulo elástico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la sección de elasticidad y plasticidad y anotar el límite elástico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la introducción de OpenSim al modelado musculoesquelético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12: Segmentación de tumores cerebrales con la arquitectura U-Net</dc:title>
  <dc:subject>PptxGenJS Presentation</dc:subject>
  <dc:creator>Sistemas Biomecatrónicos, ESPOL</dc:creator>
  <cp:lastModifiedBy>Sistemas Biomecatrónicos, ESPOL</cp:lastModifiedBy>
  <cp:revision>1</cp:revision>
  <dcterms:created xsi:type="dcterms:W3CDTF">2026-09-30T16:49:19Z</dcterms:created>
  <dcterms:modified xsi:type="dcterms:W3CDTF">2026-09-30T16:49:19Z</dcterms:modified>
</cp:coreProperties>
</file>