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sesión 2 de 14. Dar la bienvenida, verificar audio y video, y recordar las reglas de participación.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objetivos, uno por cada nivel de la taxonomía de Bloom revisada. Al final de la clase el quiz verifica los primeros niveles y la tarea cubre los superiores.
Resultado de aprendizaje: Explica qué es machine learning, sus tipos y el flujo de trabajo (datos, entrenamiento, validación y prueba) con ejemplos biomédicos.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de la semana 1. Pedir a dos estudiantes que expliquen una idea con sus palabras antes de avanzar. Resultado previo: Describe los componentes de un sistema biomecatrónico (sensores, procesamiento, control, actuadores e interfaz biológica) y explica su papel en la ingeniería biomédica.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a paso de la clase:
0–10 min · Apertura: Repaso de la semana 1 con dos preguntas orales. Objetivos de la sesión y agenda de 105 minutos.
10–30 min · Exposición: Exposición: qué es ML, tipos de aprendizaje, flujo de trabajo, ejemplos en biomedicina (diagnóstico por imagen, señales fisiológicas, predicción de riesgo).
30–50 min · Demostración en vivo: Demostración en Colab: cargar un conjunto de datos tabular, separar entrenamiento y prueba, entrenar un modelo simple y medir su exactitud.
50–55 min · Pausa: Pausa de 5 minutos.
55–80 min · Práctica en salas virtuales: Salas de 4 personas: para tres casos biomédicos, identificar entrada, salida, tipo de problema y riesgo de sobreajuste. Registrar en un documento compartido.
80–95 min · Plenaria y discusión: Plenaria: cada sala defiende un caso. Discusión sobre calidad de datos, sesgo y privacidad del paciente.
95–105 min · Cierre y evaluación: Quiz en Google Forms, publicación de la tarea y adelanto de la semana 3 (aprendizaje supervisado y no supervisado).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sesión recorre los seis niveles de la taxonomía de Bloom revisada, de recordar a crear, con una actividad para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grupo quién completó cada actividad previa y qué dudas surgieron. Usar sus respuestas para ajustar el ritmo de la exposición.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de exposición aproximado: 2 minutos. Pedir un ejemplo del grupo antes de pasar a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(20 min): Demostración en Colab: cargar un conjunto de datos tabular, separar entrenamiento y prueba, entrenar un modelo simple y medir su exactitud.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las salas en Zoom y asignar roles. Pasar por cada sala durante el trabajo. Actividad: Salas de 4 personas: para tres casos biomédicos, identificar entrada, salida, tipo de problema y riesgo de sobreajuste. Registrar en un documento compartido.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Plenaria (15 min). Criterios de la rúbrica de coevaluación: claridad, evidencia y seguridad del paciente. Plenaria: cada sala defiende un caso. Discusión sobre calidad de datos, sesgo y privacidad del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
1. Clásica: reglas y datos entran, respuestas salen. ML: datos y respuestas entran, reglas (modelo) salen.
2. El resultado que se quiere predecir.
3. Medir el desempeño final, usándolo una sola vez.
4. Error bajo en entrenamiento y alto en validación.
5. Normalizar con datos de prueba, o mezclar latidos del mismo paciente en entrenamiento y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tres ideas clave. Pedir a un estudiante que las resuma en una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entregable y su fecha en el aula virtual.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Compartir este enlace en el chat al final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Adelanto de la semana 3. Recordar las actividades previas y su duración.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s.google.com/machine-learning/crash-course" TargetMode="External"/><Relationship Id="rId2" Type="http://schemas.openxmlformats.org/officeDocument/2006/relationships/hyperlink" Target="https://colab.research.google.com/" TargetMode="External"/><Relationship Id="rId3" Type="http://schemas.openxmlformats.org/officeDocument/2006/relationships/hyperlink" Target="https://scikit-learn.org/stable/user_guide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108960" cy="31089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3291840"/>
            <a:ext cx="1645920" cy="1645920"/>
          </a:xfrm>
          <a:prstGeom prst="ellipse">
            <a:avLst/>
          </a:prstGeom>
          <a:solidFill>
            <a:srgbClr val="E8871E">
              <a:alpha val="45000"/>
            </a:srgbClr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BIOMECATRONICOS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2: Introducción a machine learning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ESPOL  ·  Clase virtual de 1 h 45 min  ·  Taxonomía de Bloom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aprendizaje automático, característica, etiqueta, modelo y función de pérdida.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3560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35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282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la diferencia entre programación clásica y aprendizaje a partir de datos.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en Colab la división entrenamiento/prueba de un conjunto de datos pequeño.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53288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5328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por qué un modelo puede sobreajustar usando las curvas de entrenamiento y validación.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Valorar si un problema biomédico es adecuado para machine learning según los datos disponibles.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63016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630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227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flujo de trabajo de ML para un problema clínico propuesto.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anterior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1: Introducción a los sistemas biomecatrónicos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biomecatrónico integra biología, mecánica, electrónica y control.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64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64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básica es sensor, acondicionamiento, controlador y actuador, con realimentación.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1993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51460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del paciente, privacidad y equidad son parte del diseño, no un añadido.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sesión: 105 minutos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53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280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1737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1810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85800" y="21945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min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194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2677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1945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517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50–55 min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6517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517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1089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55–80 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1089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60720" y="3182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108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35661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566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11680" y="3566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760720" y="36393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60720" y="3639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35661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4023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11680" y="4023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y evaluación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409651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60720" y="4096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trabajaremos: niveles de Bloom en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repaso rápido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3611880" cy="45720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8562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Comprender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562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con ejemplos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386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386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91693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916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salas virtuales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621792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4472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47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 y rúbrica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7086600" cy="45720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7764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9776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Cierre, quiz y tarea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preparaste antes de la clase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Cursar el módulo de introducción de Machine Learning Crash Course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Resumen de cinco líneas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Colab y ejecutar la primera celda de código de práctica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Captura de la celda ejecutada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el formulario diagnóstico de conocimientos previos de Python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Formulario enviado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machine learning?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clásica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escritas por una persona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reglas y datos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respuestas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cuando las reglas son demasiadas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 automático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aprendidas de ejemplos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datos y respuestas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un modelo con reglas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cuando hay patrones complejos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Vocabulario clave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 entrada medible, por ejemplo la frecuencia cardiaca.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que se quiere predecir, por ejemplo sano o enfermo.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aprendida que relaciona características con etiquetas.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del error que el entrenamiento intenta reducir.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aprendizaje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Supervisado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con etiquetas conocidas: clasifica o predice valores.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supervisado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estructura sin etiquetas: agrupa o reduce dimensiones.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Semisupervisado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pocos datos etiquetados con muchos sin etiquetar.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refuerzo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por prueba y error a partir de recompensas.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trabajo de un proyecto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el problema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predice y cómo se usará en la clínica.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Recolectar, limpiar y documentar su origen.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entrenamiento, validación y prueba.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 y ajustar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modelos e hiperparámetros con la validación.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Evaluar y monitorear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 prueba y vigilar el desempeño en uso real.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en biomedicina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 médica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neumonía en una radiografía de tórax.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fisiológicas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arritmias en un electrocardiograma.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Predicción de riesgo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el riesgo de complicaciones con datos clínicos.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prótesis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gestos a partir de EMG.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Entrenamiento, validación y prueba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entrenamiento: ajusta los parámetros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 elige hiperparámetros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prueba: se usa una sola vez al final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Proporciones de ejemplo; con pocos pacientes conviene validación cruzada.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Sobreajuste y subajuste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Sobreajuste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bajo en entrenamiento y alto en validación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memoriza el ruido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corrige con más datos o regularización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55448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Subajuste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alto en entrenamiento y en validación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demasiado simple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corrige con un modelo más flexible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datos y sesgo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Representatividad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deben cubrir edades, sexos y equipos de la población real.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5361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99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Etiquetas confiables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933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diagnóstico erróneo en los datos produce un modelo erróneo.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Fuga de datos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prueba que se filtra al entrenamiento da resultados falsos.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28032" y="313639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28032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099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5935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Anonimizar y proteger los datos del paciente.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 de trabajo: Google Colab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cuaderno nuevo con la cuenta de Google.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0391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Cargar datos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039112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un archivo o leer un conjunto público.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7066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06624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en entrenamiento y prueba.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8386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7413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7413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un modelo sencillo de scikit-learn.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151376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41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4041648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exactitud y revisar los errores.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E8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haremos (20 min)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Colab: cargar un conjunto de datos tabular, separar entrenamiento y prueba, entrenar un modelo simple y medir su exactitud.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7160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23560" y="164592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371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en tu propio Colab o software mientras se muestra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42316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23560" y="269748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235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tus dudas en el chat con el número de paso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3108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3749040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474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capturas para tu entregable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en salas virtuales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94560" cy="3108960"/>
          </a:xfrm>
          <a:prstGeom prst="roundRect">
            <a:avLst>
              <a:gd name="adj" fmla="val 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de 4 personas: para tres casos biomédicos, identificar entrada, salida, tipo de problema y riesgo de sobreajuste. Registrar en un documento compartido.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Moderador/a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el tiempo y da la palabra.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65176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Ejecutor/a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358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y corre el ejercicio.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06324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Verificador/a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resultados y unidades.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611880"/>
            <a:ext cx="2788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943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Relator/a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hallazgos en el documento.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Plenaria y discusión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Plenaria: cada sala defiende un caso. Discusión sobre calidad de datos, sesgo y privacidad del paciente.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explicación se entiende sin ver 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con datos, métricas o cálculos.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063240"/>
            <a:ext cx="347472" cy="347472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30632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paciente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el riesgo de equivocarse.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de cierre (Google Forms)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2646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entra y qué sale en programación clásica y en machine learning?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066544"/>
            <a:ext cx="365760" cy="3657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etiqueta?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 el conjunto de prueba?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346704"/>
            <a:ext cx="365760" cy="365760"/>
          </a:xfrm>
          <a:prstGeom prst="ellipse">
            <a:avLst/>
          </a:prstGeom>
          <a:solidFill>
            <a:srgbClr val="7A4E9C"/>
          </a:solidFill>
          <a:ln w="12700">
            <a:solidFill>
              <a:srgbClr val="7A4E9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461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síntoma indica sobreajuste?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986784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 ejemplo de fuga de datos.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 de hoy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aprende reglas a partir de datos y respuestas conocidas.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divide el conjunto en entrenamiento, validación y prueba para medir con honestidad.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536192"/>
            <a:ext cx="384048" cy="38404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1031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sobreajuste ocurre cuando el modelo memoriza en vez de generalizar.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la clase: tarea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cuaderno de la clase con una partición 70/30 y reportar la exactitud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Cuaderno compartido con permiso de lectura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media página sobre un problema clínico de la carrera que podría resolverse con ML y qué datos harían falta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Texto de media página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508760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5087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9202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scikit-learn sobre validación para la próxima clase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Tres dudas anotadas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enlaces de la sesión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Crash Course (Google)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https://developers.google.com/machine-learning/crash-course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883664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804672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487168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usuario de scikit-learn</a:t>
            </a:r>
            <a:endParaRPr lang="en-US" sz="1100" dirty="0"/>
          </a:p>
          <a:p>
            <a:pPr indent="0" marL="0">
              <a:buNone/>
            </a:pPr>
            <a:r>
              <a:rPr lang="en-US" sz="9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https://scikit-learn.org/stable/user_guide.html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2628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confirmados por búsqueda web el 30/09/2026; ábrelos una vez antes de la clase.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 clase: Semana 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BIOMECATRONICOS  ·  Semana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949440" y="-914400"/>
            <a:ext cx="3291840" cy="3291840"/>
          </a:xfrm>
          <a:prstGeom prst="ellipse">
            <a:avLst/>
          </a:prstGeom>
          <a:solidFill>
            <a:srgbClr val="13334F"/>
          </a:solidFill>
          <a:ln w="12700">
            <a:solidFill>
              <a:srgbClr val="13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017520"/>
            <a:ext cx="2194560" cy="2194560"/>
          </a:xfrm>
          <a:prstGeom prst="ellipse">
            <a:avLst/>
          </a:prstGeom>
          <a:solidFill>
            <a:srgbClr val="1A7F8E">
              <a:alpha val="45000"/>
            </a:srgbClr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F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supervisado y no supervisado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el aprendizaje supervisado del no supervisado y selecciona el tipo de algoritmo adecuado según el problema y los datos.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esa clase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01568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aprendizaje supervisado de la guía de scikit-learn (regresión lineal y k-vecinos)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sección de clustering y ubicar k-means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el cuaderno de la semana 2 con un conjunto de datos distinto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2: Introducción a machine learning</dc:title>
  <dc:subject>PptxGenJS Presentation</dc:subject>
  <dc:creator>Sistemas Biomecatrónicos, ESPOL</dc:creator>
  <cp:lastModifiedBy>Sistemas Biomecatrónicos, ESPOL</cp:lastModifiedBy>
  <cp:revision>1</cp:revision>
  <dcterms:created xsi:type="dcterms:W3CDTF">2026-09-30T16:49:19Z</dcterms:created>
  <dcterms:modified xsi:type="dcterms:W3CDTF">2026-09-30T16:49:19Z</dcterms:modified>
</cp:coreProperties>
</file>