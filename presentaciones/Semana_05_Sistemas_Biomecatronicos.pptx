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sesión 5 de 14. Dar la bienvenida, verificar audio y video, y recordar las reglas de participación.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los seis objetivos, uno por cada nivel de la taxonomía de Bloom revisada. Al final de la clase el quiz verifica los primeros niveles y la tarea cubre los superiores.
Resultado de aprendizaje: Preprocesa señales EMG y EEG, extrae características y entrena un clasificador sencillo con ellas.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de la semana 4. Pedir a dos estudiantes que expliquen una idea con sus palabras antes de avanzar. Resultado previo: Aplica algoritmos de clasificación, regresión y agrupamiento a un conjunto de datos biomédico y evalúa su desempeño.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a paso de la clase:
0–10 min · Apertura: Repaso de métricas y objetivos. Recordar la ética del manejo de datos fisiológicos.
10–30 min · Exposición: Exposición: adquisición y características de EMG y EEG, ruido y artefactos, filtros, ventaneo y características (RMS, MAV, bandas alfa y beta).
30–50 min · Demostración en vivo: Demostración en Colab: cargar un registro, filtrar, graficar y extraer características con NeuroKit2 y MNE.
50–55 min · Pausa: Pausa de 5 minutos.
55–80 min · Práctica en salas virtuales: Salas de 4 personas: extraer características de dos condiciones distintas y entrenar un clasificador simple. Comparar resultados.
80–95 min · Plenaria y discusión: Plenaria: cada sala muestra su gráfica y su métrica. Discusión sobre artefactos oculares, cardiacos y de movimiento.
95–105 min · Cierre y evaluación: Quiz en Google Forms, publicación de la tarea y adelanto de la semana 6 (ECG y PPG).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sesión recorre los seis niveles de la taxonomía de Bloom revisada, de recordar a crear, con una actividad para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al grupo quién completó cada actividad previa y qué dudas surgieron. Usar sus respuestas para ajustar el ritmo de la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(20 min): Demostración en Colab: cargar un registro, filtrar, graficar y extraer características con NeuroKit2 y MNE.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las salas en Zoom y asignar roles. Pasar por cada sala durante el trabajo. Actividad: Salas de 4 personas: extraer características de dos condiciones distintas y entrenar un clasificador simple. Comparar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Plenaria (15 min). Criterios de la rúbrica de coevaluación: claridad, evidencia y seguridad del paciente. Plenaria: cada sala muestra su gráfica y su métrica. Discusión sobre artefactos oculares, cardiacos y de movimiento.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esperadas:
1. 60 Hz.
2. Alfa, de 8 a 13 Hz.
3. La raíz de la media de los cuadrados de la ventana; mide la amplitud de la actividad.
4. Para obtener más ejemplos y seguir cambios rápidos de la señal.
5. El parpadeo o el movimiento ocular.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tres ideas clave. Pedir a un estudiante que las resuma en una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entregable y su fecha en el aula virtual.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Compartir este enlace en el chat al final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Adelanto de la semana 6. Recordar las actividades previas y su duración.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link.springer.com/article/10.3758/s13428-020-01516-y" TargetMode="External"/><Relationship Id="rId2" Type="http://schemas.openxmlformats.org/officeDocument/2006/relationships/hyperlink" Target="https://mne.tools/stable/auto_tutorials/intro/10_overview.html" TargetMode="External"/><Relationship Id="rId3" Type="http://schemas.openxmlformats.org/officeDocument/2006/relationships/hyperlink" Target="https://physionet.org/content/eegmmidb/1.0.0/" TargetMode="External"/><Relationship Id="rId4" Type="http://schemas.openxmlformats.org/officeDocument/2006/relationships/hyperlink" Target="https://colab.research.google.com/" TargetMode="External"/><Relationship Id="rId5" Type="http://schemas.openxmlformats.org/officeDocument/2006/relationships/hyperlink" Target="https://pypi.org/project/neurokit2/" TargetMode="External"/><Relationship Id="rId6" Type="http://schemas.openxmlformats.org/officeDocument/2006/relationships/hyperlink" Target="https://archive.ics.uci.edu/dataset/278/emg+dataset+in+lower+limb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572000" cy="457200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108960" cy="31089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3291840"/>
            <a:ext cx="1645920" cy="1645920"/>
          </a:xfrm>
          <a:prstGeom prst="ellipse">
            <a:avLst/>
          </a:prstGeom>
          <a:solidFill>
            <a:srgbClr val="E8871E">
              <a:alpha val="45000"/>
            </a:srgbClr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BIOMECATRONICOS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5: Práctica con señales biomédicas: EMG y EEG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ESPOL  ·  Clase virtual de 1 h 45 min  ·  Taxonomía de Bloom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el origen fisiológico de la EMG y del EEG y sus bandas de frecuencia típicas.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por qué se filtra la señal y qué hace un filtro pasa banda.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filtrado y ventaneo a un registro y calcular RMS de EMG y potencia por banda de EEG.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cómo cambian las características entre reposo y movimiento (o ojos abiertos y cerrados).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calidad de la señal e identificar artefactos.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pipeline completo: señal, filtro, características y clasificador.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anterior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4: Algoritmos de ML en biomedicina: clasificación, regresión y modelos no supervisados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sensibilidad y la especificidad importan más que la exactitud en diagnóstico.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64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validación cruzada, por paciente, da una estimación más honesta del desempeño.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clínico de un falso negativo suele ser mayor que el de un falso positivo.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sesión: 105 minutos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280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353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280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1737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1737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1810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1810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737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21945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1945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22677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194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50–55 min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26517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1089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" y="3108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55–80 min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1089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31821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0720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3108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85800" y="3566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80–95 min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011680" y="3566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760720" y="3639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60720" y="3639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023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85800" y="4023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95–105 min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011680" y="4023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y evaluación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60720" y="4096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60720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4023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trabajaremos: niveles de Bloom en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Recordar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325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y repaso rápido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562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Comprender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8562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con ejemplos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865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3865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5349240" cy="457200"/>
          </a:xfrm>
          <a:prstGeom prst="roundRect">
            <a:avLst>
              <a:gd name="adj" fmla="val 2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1693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Analizar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916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salas virtuales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621792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4472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447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 y rúbrica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7086600" cy="45720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7764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Crear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977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quiz y tarea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preparaste antes de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artículo de NeuroKit2 y la introducción de MNE-Python sobre análisis EEG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Glosario de cinco términos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el conjunto de EEG de movimiento e imaginación motora y ubicar los archivos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Lista de tareas registradas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NeuroKit2 y MNE en Colab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Instalación exitosa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Origen fisiológico de EMG y EEG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potenciales de unidades motoras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útil aproximada de 20 a 450 Hz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 de microvoltios a milivoltios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sináptica de la corteza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útil aproximada de 0,5 a 45 Hz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 de pocos microvoltios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Bandas del EEG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 (0,5 a 4 Hz)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Predomina en sueño profundo.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Theta (4 a 8 Hz)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Somnolencia y algunos estados de memoria.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Alfa (8 a 13 Hz)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Reposo con ojos cerrados; aumenta al cerrar los ojos.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(13 a 30 Hz)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cognitiva y motora.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Cadena de adquisición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Electrodos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estable con la piel, piel limpia.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Amplificador diferencial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0391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 la diferencia y rechaza el ruido común.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81635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7066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 analógico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7066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la banda antes de muestrear.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48386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74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Muestreo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3741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al menos el doble de la máxima útil (Nyquist).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1513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41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 A/D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0416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a valores digitales para el computador.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Ruido y artefactos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Interferencia de red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Hz en Ecuador; se atenúa con un filtro notch.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Movimiento del electrodo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saltos lentos y cambios bruscos.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Parpadeo y movimiento ocular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Contaminan el EEG frontal.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 cardiaca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ECG puede aparecer en EMG del tronco.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Filtrado de la señal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Pasa banda: 20–450 Hz (EMG)  ·  0,5–45 Hz (EEG)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la interferencia de 60 Hz.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Butterworth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respuesta suave, muy usado.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desfase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hacia adelante y atrás evita desplazar la señal.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Ventaneo de la señal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Ventanas de unos 200 ms para EMG.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Solapar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0391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solapamiento del 50 % da más muestras.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81635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7066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7066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características en cada ventana.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48386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74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Etiquetar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3741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ventana recibe la etiqueta de su condición.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1513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41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0416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de la tabla es una ventana.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del EMG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 = √( (1/N) Σ xᵢ² 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absoluto medio de la ventana.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Cruces por cero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veces cambia de signo la señal.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Longitud de onda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diferencias entre muestras consecutivas.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 por bandas en EEG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Densidad espectral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Welch para estimar la potencia por frecuencia.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 por banda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la densidad en delta, theta, alfa y beta.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Razón alfa/beta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el estado de reposo frente a la activación.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clásico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potencia alfa suele subir al cerrar los ojos.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Conjunto de EEG de movimiento e imaginación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voluntarios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de EEG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264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 Hz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muestreo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Tareas: abrir y cerrar puños o pies, reales e imaginados, más líneas base de ojos abiertos y cerrados.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754880" cy="310896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haremos (20 min)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Colab: cargar un registro, filtrar, graficar y extraer características con NeuroKit2 y MNE.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0" y="164592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371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en tu propio Colab o software mientras se muestra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242316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23560" y="269748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231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tus dudas en el chat con el número de paso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347472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374904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capturas para tu entregable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94560" cy="3108960"/>
          </a:xfrm>
          <a:prstGeom prst="roundRect">
            <a:avLst>
              <a:gd name="adj" fmla="val 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3716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personas: extraer características de dos condiciones distintas y entrenar un clasificador simple. Comparar resultados.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6324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Moderador/a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el tiempo y da la palabra.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0644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Ejecutor/a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pantalla y corre el ejercicio.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06324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Verificador/a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resultados y unidades.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Relator/a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hallazgos en el documento.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Plenaria: cada sala muestra su gráfica y su métrica. Discusión sobre artefactos oculares, cardiacos y de movimiento.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explicación se entiende sin ver el código.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 con datos, métricas o cálculos.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del paciente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el riesgo de equivocarse.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cierre (Google Forms)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26464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frecuencia de red se filtra con el notch en Ecuador?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066544"/>
            <a:ext cx="365760" cy="3657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659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banda del EEG aumenta con los ojos cerrados?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706624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6060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calcula el RMS?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346704"/>
            <a:ext cx="365760" cy="365760"/>
          </a:xfrm>
          <a:prstGeom prst="ellipse">
            <a:avLst/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46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se usan ventanas solapadas?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986784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8862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 un artefacto que contamina el EEG frontal.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de hoy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y EEG se filtran, se dividen en ventanas y se resumen con características.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sirve para EMG y la potencia por bandas (alfa, beta) para EEG.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artefactos es parte del análisis, no un detalle.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de la clase: tarea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el cuaderno de la clase con una segunda condición y reportar exactitud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Cuaderno ejecutado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qué artefactos aparecieron y cómo los mitigarías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Texto de media página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un pipeline de control para una prótesis basado en EMG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Diagrama y descripción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enlaces de la sesión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NeuroKit2: toolbox de Python para señales fisiológicas (artículo)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https://link.springer.com/article/10.3758/s13428-020-01516-y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47088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84708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MNE-Python: visión general del análisis EEG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https://mne.tools/stable/auto_tutorials/intro/10_overview.html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14016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41401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Motor Movement/Imagery Dataset (PhysioNet)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https://physionet.org/content/eegmmidb/1.0.0/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12801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847088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00600" y="184708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NeuroKit2 en PyPI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https://pypi.org/project/neurokit2/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414016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800600" y="241401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dataset in Lower Limb (UCI)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https://archive.ics.uci.edu/dataset/278/emg+dataset+in+lower+limb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262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confirmados por búsqueda web el 30/09/2026; ábrelos una vez antes de la clase.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clase: Semana 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949440" y="-914400"/>
            <a:ext cx="3291840" cy="329184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017520"/>
            <a:ext cx="2194560" cy="21945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con señales biomédicas: ECG (EKG) y PPG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picos R y pulsos, calcula frecuencia cardiaca y variabilidad, y clasifica latidos con características extraídas de ECG y PPG.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esa clase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01568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 descripción del conjunto MIT-BIH y anotar las clases de latidos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descripción del conjunto BIDMC con ECG, PPG y respiración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NeuroKit2 en Colab y ejecutar el ejemplo de ECG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5: Práctica con señales biomédicas: EMG y EEG</dc:title>
  <dc:subject>PptxGenJS Presentation</dc:subject>
  <dc:creator>Sistemas Biomecatrónicos, ESPOL</dc:creator>
  <cp:lastModifiedBy>Sistemas Biomecatrónicos, ESPOL</cp:lastModifiedBy>
  <cp:revision>1</cp:revision>
  <dcterms:created xsi:type="dcterms:W3CDTF">2026-09-30T16:49:19Z</dcterms:created>
  <dcterms:modified xsi:type="dcterms:W3CDTF">2026-09-30T16:49:19Z</dcterms:modified>
</cp:coreProperties>
</file>