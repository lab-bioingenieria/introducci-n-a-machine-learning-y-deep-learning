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sesión 8 de 14. Dar la bienvenida, verificar audio y video, y recordar las reglas de participación.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seis objetivos, uno por cada nivel de la taxonomía de Bloom revisada. Al final de la clase el quiz verifica los primeros niveles y la tarea cubre los superiores.
Resultado de aprendizaje: Explica cómo funciona una neurona artificial y una red multicapa, y entrena una red pequeña identificando el efecto de sus hiperparámetros.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de la semana 7. Pedir a dos estudiantes que expliquen una idea con sus palabras antes de avanzar. Resultado previo: Compara las modalidades de imagen médica según física, contraste, riesgos y aplicaciones, y prepara imágenes para modelos de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a paso de la clase:
0–10 min · Apertura: Repaso de imágenes médicas y de la tarea. Agenda: neurona, capa, entrenamiento.
10–30 min · Exposición: Exposición: neurona artificial, funciones de activación, red multicapa, función de pérdida, descenso del gradiente y retropropagación con un ejemplo numérico.
30–50 min · Demostración en vivo: Demostración en TensorFlow Playground: clasificar un conjunto de espirales cambiando capas, neuronas y tasa de aprendizaje.
50–55 min · Pausa: Pausa de 5 minutos.
55–80 min · Práctica en salas virtuales: Salas de 4 personas: en Playground, encontrar la red mínima que clasifique el conjunto de espirales y explicar por qué funciona.
80–95 min · Plenaria y discusión: Plenaria: cada sala muestra su arquitectura. Discusión sobre sobreajuste y sobre el costo de datos y cómputo.
95–105 min · Cierre y evaluación: Quiz en Google Forms, publicación de la tarea y adelanto de la semana 9 (redes neuronales en señales).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sesión recorre los seis niveles de la taxonomía de Bloom revisada, de recordar a crear, con una actividad para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al grupo quién completó cada actividad previa y qué dudas surgieron. Usar sus respuestas para ajustar el ritmo de la exposición.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(20 min): Demostración en TensorFlow Playground: clasificar un conjunto de espirales cambiando capas, neuronas y tasa de aprendizaje.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las salas en Zoom y asignar roles. Pasar por cada sala durante el trabajo. Actividad: Salas de 4 personas: en Playground, encontrar la red mínima que clasifique el conjunto de espirales y explicar por qué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Plenaria (15 min). Criterios de la rúbrica de coevaluación: claridad, evidencia y seguridad del paciente. Plenaria: cada sala muestra su arquitectura. Discusión sobre sobreajuste y sobre el costo de datos y cómputo.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esperadas:
1. Una suma ponderada de entradas más un sesgo, pasada por una activación.
2. Lo convierte en 0.
3. La tasa de aprendizaje, el tamaño del paso.
4. Calcular los gradientes de la pérdida respecto a cada peso.
5. Pocos datos tabulares o cuando se exige interpretabilidad.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las tres ideas clave. Pedir a un estudiante que las resuma en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cada entregable y su fecha en el aula virtual.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Compartir este enlace en el chat al final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Adelanto de la semana 9. Recordar las actividades previas y su duración.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FB3C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FB3C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developers.google.com/machine-learning/crash-course" TargetMode="External"/><Relationship Id="rId2" Type="http://schemas.openxmlformats.org/officeDocument/2006/relationships/hyperlink" Target="https://playground.tensorflow.org/" TargetMode="External"/><Relationship Id="rId3" Type="http://schemas.openxmlformats.org/officeDocument/2006/relationships/hyperlink" Target="https://scikit-learn.org/stable/modules/neural_networks_supervised.html" TargetMode="External"/><Relationship Id="rId4" Type="http://schemas.openxmlformats.org/officeDocument/2006/relationships/hyperlink" Target="https://colab.research.google.com/" TargetMode="External"/><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852160" y="-1097280"/>
            <a:ext cx="4572000" cy="4572000"/>
          </a:xfrm>
          <a:prstGeom prst="ellipse">
            <a:avLst/>
          </a:prstGeom>
          <a:solidFill>
            <a:srgbClr val="13334F"/>
          </a:solidFill>
          <a:ln w="12700">
            <a:solidFill>
              <a:srgbClr val="13334F"/>
            </a:solidFill>
            <a:prstDash val="solid"/>
          </a:ln>
        </p:spPr>
      </p:sp>
      <p:sp>
        <p:nvSpPr>
          <p:cNvPr id="3" name="Shape 1"/>
          <p:cNvSpPr/>
          <p:nvPr/>
        </p:nvSpPr>
        <p:spPr>
          <a:xfrm>
            <a:off x="6949440" y="2377440"/>
            <a:ext cx="3108960" cy="3108960"/>
          </a:xfrm>
          <a:prstGeom prst="ellipse">
            <a:avLst/>
          </a:prstGeom>
          <a:solidFill>
            <a:srgbClr val="1A7F8E">
              <a:alpha val="45000"/>
            </a:srgbClr>
          </a:solidFill>
          <a:ln w="12700">
            <a:solidFill>
              <a:srgbClr val="1A7F8E"/>
            </a:solidFill>
            <a:prstDash val="solid"/>
          </a:ln>
        </p:spPr>
      </p:sp>
      <p:sp>
        <p:nvSpPr>
          <p:cNvPr id="4" name="Shape 2"/>
          <p:cNvSpPr/>
          <p:nvPr/>
        </p:nvSpPr>
        <p:spPr>
          <a:xfrm>
            <a:off x="5120640" y="3291840"/>
            <a:ext cx="1645920" cy="1645920"/>
          </a:xfrm>
          <a:prstGeom prst="ellipse">
            <a:avLst/>
          </a:prstGeom>
          <a:solidFill>
            <a:srgbClr val="E8871E">
              <a:alpha val="45000"/>
            </a:srgbClr>
          </a:solidFill>
          <a:ln w="12700">
            <a:solidFill>
              <a:srgbClr val="E8871E"/>
            </a:solidFill>
            <a:prstDash val="solid"/>
          </a:ln>
        </p:spPr>
      </p:sp>
      <p:sp>
        <p:nvSpPr>
          <p:cNvPr id="5" name="Text 3"/>
          <p:cNvSpPr txBox="1"/>
          <p:nvPr/>
        </p:nvSpPr>
        <p:spPr>
          <a:xfrm>
            <a:off x="548640" y="1005840"/>
            <a:ext cx="6766560" cy="160020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Cambria" pitchFamily="34" charset="0"/>
                <a:ea typeface="Cambria" pitchFamily="34" charset="-122"/>
                <a:cs typeface="Cambria" pitchFamily="34" charset="-120"/>
              </a:rPr>
              <a:t>SISTEMAS BIOMECATRONICOS</a:t>
            </a:r>
            <a:endParaRPr lang="en-US" sz="4400" dirty="0"/>
          </a:p>
        </p:txBody>
      </p:sp>
      <p:sp>
        <p:nvSpPr>
          <p:cNvPr id="6" name="Text 4"/>
          <p:cNvSpPr txBox="1"/>
          <p:nvPr/>
        </p:nvSpPr>
        <p:spPr>
          <a:xfrm>
            <a:off x="548640" y="2743200"/>
            <a:ext cx="6035040" cy="1005840"/>
          </a:xfrm>
          <a:prstGeom prst="rect">
            <a:avLst/>
          </a:prstGeom>
          <a:noFill/>
          <a:ln/>
        </p:spPr>
        <p:txBody>
          <a:bodyPr wrap="square" lIns="0" tIns="0" rIns="0" bIns="0" rtlCol="0" anchor="t">
            <a:normAutofit/>
          </a:bodyPr>
          <a:lstStyle/>
          <a:p>
            <a:pPr indent="0" marL="0">
              <a:buNone/>
            </a:pPr>
            <a:r>
              <a:rPr lang="en-US" sz="2200" dirty="0">
                <a:solidFill>
                  <a:srgbClr val="CFE8EC"/>
                </a:solidFill>
                <a:latin typeface="Calibri" pitchFamily="34" charset="0"/>
                <a:ea typeface="Calibri" pitchFamily="34" charset="-122"/>
                <a:cs typeface="Calibri" pitchFamily="34" charset="-120"/>
              </a:rPr>
              <a:t>Semana 8: Introducción al deep learning y a las redes neuronales</a:t>
            </a:r>
            <a:endParaRPr lang="en-US" sz="2200" dirty="0"/>
          </a:p>
        </p:txBody>
      </p:sp>
      <p:sp>
        <p:nvSpPr>
          <p:cNvPr id="7" name="Text 5"/>
          <p:cNvSpPr txBox="1"/>
          <p:nvPr/>
        </p:nvSpPr>
        <p:spPr>
          <a:xfrm>
            <a:off x="548640" y="4343400"/>
            <a:ext cx="6035040" cy="27432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ESPOL  ·  Clase virtual de 1 h 45 min  ·  Taxonomía de Bloom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Objetivos de clase</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2588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435608"/>
            <a:ext cx="1051560" cy="256032"/>
          </a:xfrm>
          <a:prstGeom prst="roundRect">
            <a:avLst>
              <a:gd name="adj" fmla="val 50000"/>
            </a:avLst>
          </a:prstGeom>
          <a:solidFill>
            <a:srgbClr val="1A7F8E"/>
          </a:solidFill>
          <a:ln w="12700">
            <a:solidFill>
              <a:srgbClr val="1A7F8E"/>
            </a:solidFill>
            <a:prstDash val="solid"/>
          </a:ln>
        </p:spPr>
      </p:sp>
      <p:sp>
        <p:nvSpPr>
          <p:cNvPr id="6" name="Text 4"/>
          <p:cNvSpPr txBox="1"/>
          <p:nvPr/>
        </p:nvSpPr>
        <p:spPr>
          <a:xfrm>
            <a:off x="685800" y="143560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Recordar</a:t>
            </a:r>
            <a:endParaRPr lang="en-US" sz="1000" dirty="0"/>
          </a:p>
        </p:txBody>
      </p:sp>
      <p:sp>
        <p:nvSpPr>
          <p:cNvPr id="7" name="Text 5"/>
          <p:cNvSpPr txBox="1"/>
          <p:nvPr/>
        </p:nvSpPr>
        <p:spPr>
          <a:xfrm>
            <a:off x="685800" y="172821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Recordar los términos neurona, peso, sesgo, función de activación, capa y época.</a:t>
            </a:r>
            <a:endParaRPr lang="en-US" sz="1100" dirty="0"/>
          </a:p>
        </p:txBody>
      </p:sp>
      <p:sp>
        <p:nvSpPr>
          <p:cNvPr id="8" name="Shape 6"/>
          <p:cNvSpPr/>
          <p:nvPr/>
        </p:nvSpPr>
        <p:spPr>
          <a:xfrm>
            <a:off x="4754880" y="132588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892040" y="1435608"/>
            <a:ext cx="1051560" cy="256032"/>
          </a:xfrm>
          <a:prstGeom prst="roundRect">
            <a:avLst>
              <a:gd name="adj" fmla="val 50000"/>
            </a:avLst>
          </a:prstGeom>
          <a:solidFill>
            <a:srgbClr val="2E6DA4"/>
          </a:solidFill>
          <a:ln w="12700">
            <a:solidFill>
              <a:srgbClr val="2E6DA4"/>
            </a:solidFill>
            <a:prstDash val="solid"/>
          </a:ln>
        </p:spPr>
      </p:sp>
      <p:sp>
        <p:nvSpPr>
          <p:cNvPr id="10" name="Text 8"/>
          <p:cNvSpPr txBox="1"/>
          <p:nvPr/>
        </p:nvSpPr>
        <p:spPr>
          <a:xfrm>
            <a:off x="4892040" y="143560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Comprender</a:t>
            </a:r>
            <a:endParaRPr lang="en-US" sz="1000" dirty="0"/>
          </a:p>
        </p:txBody>
      </p:sp>
      <p:sp>
        <p:nvSpPr>
          <p:cNvPr id="11" name="Text 9"/>
          <p:cNvSpPr txBox="1"/>
          <p:nvPr/>
        </p:nvSpPr>
        <p:spPr>
          <a:xfrm>
            <a:off x="4892040" y="172821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Explicar el paso hacia adelante y la retropropagación con un ejemplo numérico simple.</a:t>
            </a:r>
            <a:endParaRPr lang="en-US" sz="1100" dirty="0"/>
          </a:p>
        </p:txBody>
      </p:sp>
      <p:sp>
        <p:nvSpPr>
          <p:cNvPr id="12" name="Shape 10"/>
          <p:cNvSpPr/>
          <p:nvPr/>
        </p:nvSpPr>
        <p:spPr>
          <a:xfrm>
            <a:off x="548640" y="242316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685800" y="2532888"/>
            <a:ext cx="1051560" cy="256032"/>
          </a:xfrm>
          <a:prstGeom prst="roundRect">
            <a:avLst>
              <a:gd name="adj" fmla="val 50000"/>
            </a:avLst>
          </a:prstGeom>
          <a:solidFill>
            <a:srgbClr val="E8871E"/>
          </a:solidFill>
          <a:ln w="12700">
            <a:solidFill>
              <a:srgbClr val="E8871E"/>
            </a:solidFill>
            <a:prstDash val="solid"/>
          </a:ln>
        </p:spPr>
      </p:sp>
      <p:sp>
        <p:nvSpPr>
          <p:cNvPr id="14" name="Text 12"/>
          <p:cNvSpPr txBox="1"/>
          <p:nvPr/>
        </p:nvSpPr>
        <p:spPr>
          <a:xfrm>
            <a:off x="685800" y="253288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Aplicar</a:t>
            </a:r>
            <a:endParaRPr lang="en-US" sz="1000" dirty="0"/>
          </a:p>
        </p:txBody>
      </p:sp>
      <p:sp>
        <p:nvSpPr>
          <p:cNvPr id="15" name="Text 13"/>
          <p:cNvSpPr txBox="1"/>
          <p:nvPr/>
        </p:nvSpPr>
        <p:spPr>
          <a:xfrm>
            <a:off x="685800" y="282549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Entrenar una red en TensorFlow Playground y en scikit-learn y observar su aprendizaje.</a:t>
            </a:r>
            <a:endParaRPr lang="en-US" sz="1100" dirty="0"/>
          </a:p>
        </p:txBody>
      </p:sp>
      <p:sp>
        <p:nvSpPr>
          <p:cNvPr id="16" name="Shape 14"/>
          <p:cNvSpPr/>
          <p:nvPr/>
        </p:nvSpPr>
        <p:spPr>
          <a:xfrm>
            <a:off x="4754880" y="242316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4892040" y="2532888"/>
            <a:ext cx="1051560" cy="256032"/>
          </a:xfrm>
          <a:prstGeom prst="roundRect">
            <a:avLst>
              <a:gd name="adj" fmla="val 50000"/>
            </a:avLst>
          </a:prstGeom>
          <a:solidFill>
            <a:srgbClr val="7A4E9C"/>
          </a:solidFill>
          <a:ln w="12700">
            <a:solidFill>
              <a:srgbClr val="7A4E9C"/>
            </a:solidFill>
            <a:prstDash val="solid"/>
          </a:ln>
        </p:spPr>
      </p:sp>
      <p:sp>
        <p:nvSpPr>
          <p:cNvPr id="18" name="Text 16"/>
          <p:cNvSpPr txBox="1"/>
          <p:nvPr/>
        </p:nvSpPr>
        <p:spPr>
          <a:xfrm>
            <a:off x="4892040" y="253288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Analizar</a:t>
            </a:r>
            <a:endParaRPr lang="en-US" sz="1000" dirty="0"/>
          </a:p>
        </p:txBody>
      </p:sp>
      <p:sp>
        <p:nvSpPr>
          <p:cNvPr id="19" name="Text 17"/>
          <p:cNvSpPr txBox="1"/>
          <p:nvPr/>
        </p:nvSpPr>
        <p:spPr>
          <a:xfrm>
            <a:off x="4892040" y="282549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Analizar el efecto de la tasa de aprendizaje, el número de capas y la activación.</a:t>
            </a:r>
            <a:endParaRPr lang="en-US" sz="1100" dirty="0"/>
          </a:p>
        </p:txBody>
      </p:sp>
      <p:sp>
        <p:nvSpPr>
          <p:cNvPr id="20" name="Shape 18"/>
          <p:cNvSpPr/>
          <p:nvPr/>
        </p:nvSpPr>
        <p:spPr>
          <a:xfrm>
            <a:off x="548640" y="352044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685800" y="3630168"/>
            <a:ext cx="1051560" cy="256032"/>
          </a:xfrm>
          <a:prstGeom prst="roundRect">
            <a:avLst>
              <a:gd name="adj" fmla="val 50000"/>
            </a:avLst>
          </a:prstGeom>
          <a:solidFill>
            <a:srgbClr val="C0392B"/>
          </a:solidFill>
          <a:ln w="12700">
            <a:solidFill>
              <a:srgbClr val="C0392B"/>
            </a:solidFill>
            <a:prstDash val="solid"/>
          </a:ln>
        </p:spPr>
      </p:sp>
      <p:sp>
        <p:nvSpPr>
          <p:cNvPr id="22" name="Text 20"/>
          <p:cNvSpPr txBox="1"/>
          <p:nvPr/>
        </p:nvSpPr>
        <p:spPr>
          <a:xfrm>
            <a:off x="685800" y="363016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Evaluar</a:t>
            </a:r>
            <a:endParaRPr lang="en-US" sz="1000" dirty="0"/>
          </a:p>
        </p:txBody>
      </p:sp>
      <p:sp>
        <p:nvSpPr>
          <p:cNvPr id="23" name="Text 21"/>
          <p:cNvSpPr txBox="1"/>
          <p:nvPr/>
        </p:nvSpPr>
        <p:spPr>
          <a:xfrm>
            <a:off x="685800" y="392277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Evaluar cuándo una red profunda supera a un modelo clásico.</a:t>
            </a:r>
            <a:endParaRPr lang="en-US" sz="1100" dirty="0"/>
          </a:p>
        </p:txBody>
      </p:sp>
      <p:sp>
        <p:nvSpPr>
          <p:cNvPr id="24" name="Shape 22"/>
          <p:cNvSpPr/>
          <p:nvPr/>
        </p:nvSpPr>
        <p:spPr>
          <a:xfrm>
            <a:off x="4754880" y="352044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4892040" y="3630168"/>
            <a:ext cx="1051560" cy="256032"/>
          </a:xfrm>
          <a:prstGeom prst="roundRect">
            <a:avLst>
              <a:gd name="adj" fmla="val 50000"/>
            </a:avLst>
          </a:prstGeom>
          <a:solidFill>
            <a:srgbClr val="2E8B57"/>
          </a:solidFill>
          <a:ln w="12700">
            <a:solidFill>
              <a:srgbClr val="2E8B57"/>
            </a:solidFill>
            <a:prstDash val="solid"/>
          </a:ln>
        </p:spPr>
      </p:sp>
      <p:sp>
        <p:nvSpPr>
          <p:cNvPr id="26" name="Text 24"/>
          <p:cNvSpPr txBox="1"/>
          <p:nvPr/>
        </p:nvSpPr>
        <p:spPr>
          <a:xfrm>
            <a:off x="4892040" y="363016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Crear</a:t>
            </a:r>
            <a:endParaRPr lang="en-US" sz="1000" dirty="0"/>
          </a:p>
        </p:txBody>
      </p:sp>
      <p:sp>
        <p:nvSpPr>
          <p:cNvPr id="27" name="Text 25"/>
          <p:cNvSpPr txBox="1"/>
          <p:nvPr/>
        </p:nvSpPr>
        <p:spPr>
          <a:xfrm>
            <a:off x="4892040" y="392277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Diseñar una arquitectura para un problema biomédico sencillo.</a:t>
            </a:r>
            <a:endParaRPr lang="en-US" sz="11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Resumen de la clase anterior</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Text 2"/>
          <p:cNvSpPr txBox="1"/>
          <p:nvPr/>
        </p:nvSpPr>
        <p:spPr>
          <a:xfrm>
            <a:off x="548640" y="1234440"/>
            <a:ext cx="8046720" cy="457200"/>
          </a:xfrm>
          <a:prstGeom prst="rect">
            <a:avLst/>
          </a:prstGeom>
          <a:noFill/>
          <a:ln/>
        </p:spPr>
        <p:txBody>
          <a:bodyPr wrap="square" lIns="0" tIns="0" rIns="0" bIns="0" rtlCol="0" anchor="ctr">
            <a:normAutofit/>
          </a:bodyPr>
          <a:lstStyle/>
          <a:p>
            <a:pPr indent="0" marL="0">
              <a:buNone/>
            </a:pPr>
            <a:r>
              <a:rPr lang="en-US" sz="1500" b="1" dirty="0">
                <a:solidFill>
                  <a:srgbClr val="1A7F8E"/>
                </a:solidFill>
                <a:latin typeface="Calibri" pitchFamily="34" charset="0"/>
                <a:ea typeface="Calibri" pitchFamily="34" charset="-122"/>
                <a:cs typeface="Calibri" pitchFamily="34" charset="-120"/>
              </a:rPr>
              <a:t>Semana 7: Imágenes médicas: rayos X, TAC, ecografía, resonancia magnética y PET</a:t>
            </a:r>
            <a:endParaRPr lang="en-US" sz="1500" dirty="0"/>
          </a:p>
        </p:txBody>
      </p:sp>
      <p:sp>
        <p:nvSpPr>
          <p:cNvPr id="5" name="Shape 3"/>
          <p:cNvSpPr/>
          <p:nvPr/>
        </p:nvSpPr>
        <p:spPr>
          <a:xfrm>
            <a:off x="548640" y="1828800"/>
            <a:ext cx="2560320" cy="26517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713232" y="1993392"/>
            <a:ext cx="384048" cy="384048"/>
          </a:xfrm>
          <a:prstGeom prst="ellipse">
            <a:avLst/>
          </a:prstGeom>
          <a:solidFill>
            <a:srgbClr val="1A7F8E"/>
          </a:solidFill>
          <a:ln w="12700">
            <a:solidFill>
              <a:srgbClr val="1A7F8E"/>
            </a:solidFill>
            <a:prstDash val="solid"/>
          </a:ln>
        </p:spPr>
      </p:sp>
      <p:sp>
        <p:nvSpPr>
          <p:cNvPr id="7" name="Text 5"/>
          <p:cNvSpPr txBox="1"/>
          <p:nvPr/>
        </p:nvSpPr>
        <p:spPr>
          <a:xfrm>
            <a:off x="713232"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731520" y="2514600"/>
            <a:ext cx="2194560" cy="18745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Cada modalidad mide algo distinto: atenuación, ecos, magnetismo o metabolismo.</a:t>
            </a:r>
            <a:endParaRPr lang="en-US" sz="1400" dirty="0"/>
          </a:p>
        </p:txBody>
      </p:sp>
      <p:sp>
        <p:nvSpPr>
          <p:cNvPr id="9" name="Shape 7"/>
          <p:cNvSpPr/>
          <p:nvPr/>
        </p:nvSpPr>
        <p:spPr>
          <a:xfrm>
            <a:off x="3291840" y="1828800"/>
            <a:ext cx="2560320" cy="26517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3456432" y="1993392"/>
            <a:ext cx="384048" cy="384048"/>
          </a:xfrm>
          <a:prstGeom prst="ellipse">
            <a:avLst/>
          </a:prstGeom>
          <a:solidFill>
            <a:srgbClr val="1A7F8E"/>
          </a:solidFill>
          <a:ln w="12700">
            <a:solidFill>
              <a:srgbClr val="1A7F8E"/>
            </a:solidFill>
            <a:prstDash val="solid"/>
          </a:ln>
        </p:spPr>
      </p:sp>
      <p:sp>
        <p:nvSpPr>
          <p:cNvPr id="11" name="Text 9"/>
          <p:cNvSpPr txBox="1"/>
          <p:nvPr/>
        </p:nvSpPr>
        <p:spPr>
          <a:xfrm>
            <a:off x="3456432"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474720" y="2514600"/>
            <a:ext cx="2194560" cy="18745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Las unidades Hounsfield y la ventana y nivel guían la lectura de una TAC.</a:t>
            </a:r>
            <a:endParaRPr lang="en-US" sz="1400" dirty="0"/>
          </a:p>
        </p:txBody>
      </p:sp>
      <p:sp>
        <p:nvSpPr>
          <p:cNvPr id="13" name="Shape 11"/>
          <p:cNvSpPr/>
          <p:nvPr/>
        </p:nvSpPr>
        <p:spPr>
          <a:xfrm>
            <a:off x="6035040" y="1828800"/>
            <a:ext cx="2560320" cy="26517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6199632" y="1993392"/>
            <a:ext cx="384048" cy="384048"/>
          </a:xfrm>
          <a:prstGeom prst="ellipse">
            <a:avLst/>
          </a:prstGeom>
          <a:solidFill>
            <a:srgbClr val="1A7F8E"/>
          </a:solidFill>
          <a:ln w="12700">
            <a:solidFill>
              <a:srgbClr val="1A7F8E"/>
            </a:solidFill>
            <a:prstDash val="solid"/>
          </a:ln>
        </p:spPr>
      </p:sp>
      <p:sp>
        <p:nvSpPr>
          <p:cNvPr id="15" name="Text 13"/>
          <p:cNvSpPr txBox="1"/>
          <p:nvPr/>
        </p:nvSpPr>
        <p:spPr>
          <a:xfrm>
            <a:off x="6199632"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6217920" y="2514600"/>
            <a:ext cx="2194560" cy="18745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Las imágenes se anonimizan, normalizan y se dividen por paciente antes de entrenar.</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Agenda de la sesión: 105 minutos</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2801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2801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0–10 min</a:t>
            </a:r>
            <a:endParaRPr lang="en-US" sz="1200" dirty="0"/>
          </a:p>
        </p:txBody>
      </p:sp>
      <p:sp>
        <p:nvSpPr>
          <p:cNvPr id="6" name="Text 4"/>
          <p:cNvSpPr txBox="1"/>
          <p:nvPr/>
        </p:nvSpPr>
        <p:spPr>
          <a:xfrm>
            <a:off x="2011680" y="12801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Apertura</a:t>
            </a:r>
            <a:endParaRPr lang="en-US" sz="1300" dirty="0"/>
          </a:p>
        </p:txBody>
      </p:sp>
      <p:sp>
        <p:nvSpPr>
          <p:cNvPr id="7" name="Shape 5"/>
          <p:cNvSpPr/>
          <p:nvPr/>
        </p:nvSpPr>
        <p:spPr>
          <a:xfrm>
            <a:off x="5760720" y="1353312"/>
            <a:ext cx="1280160" cy="256032"/>
          </a:xfrm>
          <a:prstGeom prst="roundRect">
            <a:avLst>
              <a:gd name="adj" fmla="val 50000"/>
            </a:avLst>
          </a:prstGeom>
          <a:solidFill>
            <a:srgbClr val="1A7F8E"/>
          </a:solidFill>
          <a:ln w="12700">
            <a:solidFill>
              <a:srgbClr val="1A7F8E"/>
            </a:solidFill>
            <a:prstDash val="solid"/>
          </a:ln>
        </p:spPr>
      </p:sp>
      <p:sp>
        <p:nvSpPr>
          <p:cNvPr id="8" name="Text 6"/>
          <p:cNvSpPr txBox="1"/>
          <p:nvPr/>
        </p:nvSpPr>
        <p:spPr>
          <a:xfrm>
            <a:off x="5760720" y="13533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Recordar</a:t>
            </a:r>
            <a:endParaRPr lang="en-US" sz="1000" dirty="0"/>
          </a:p>
        </p:txBody>
      </p:sp>
      <p:sp>
        <p:nvSpPr>
          <p:cNvPr id="9" name="Text 7"/>
          <p:cNvSpPr txBox="1"/>
          <p:nvPr/>
        </p:nvSpPr>
        <p:spPr>
          <a:xfrm>
            <a:off x="7315200" y="12801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10 min</a:t>
            </a:r>
            <a:endParaRPr lang="en-US" sz="1200" dirty="0"/>
          </a:p>
        </p:txBody>
      </p:sp>
      <p:sp>
        <p:nvSpPr>
          <p:cNvPr id="10" name="Shape 8"/>
          <p:cNvSpPr/>
          <p:nvPr/>
        </p:nvSpPr>
        <p:spPr>
          <a:xfrm>
            <a:off x="548640" y="17373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85800" y="17373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10–30 min</a:t>
            </a:r>
            <a:endParaRPr lang="en-US" sz="1200" dirty="0"/>
          </a:p>
        </p:txBody>
      </p:sp>
      <p:sp>
        <p:nvSpPr>
          <p:cNvPr id="12" name="Text 10"/>
          <p:cNvSpPr txBox="1"/>
          <p:nvPr/>
        </p:nvSpPr>
        <p:spPr>
          <a:xfrm>
            <a:off x="2011680" y="17373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Exposición</a:t>
            </a:r>
            <a:endParaRPr lang="en-US" sz="1300" dirty="0"/>
          </a:p>
        </p:txBody>
      </p:sp>
      <p:sp>
        <p:nvSpPr>
          <p:cNvPr id="13" name="Shape 11"/>
          <p:cNvSpPr/>
          <p:nvPr/>
        </p:nvSpPr>
        <p:spPr>
          <a:xfrm>
            <a:off x="5760720" y="1810512"/>
            <a:ext cx="1280160" cy="256032"/>
          </a:xfrm>
          <a:prstGeom prst="roundRect">
            <a:avLst>
              <a:gd name="adj" fmla="val 50000"/>
            </a:avLst>
          </a:prstGeom>
          <a:solidFill>
            <a:srgbClr val="2E6DA4"/>
          </a:solidFill>
          <a:ln w="12700">
            <a:solidFill>
              <a:srgbClr val="2E6DA4"/>
            </a:solidFill>
            <a:prstDash val="solid"/>
          </a:ln>
        </p:spPr>
      </p:sp>
      <p:sp>
        <p:nvSpPr>
          <p:cNvPr id="14" name="Text 12"/>
          <p:cNvSpPr txBox="1"/>
          <p:nvPr/>
        </p:nvSpPr>
        <p:spPr>
          <a:xfrm>
            <a:off x="5760720" y="18105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Comprender</a:t>
            </a:r>
            <a:endParaRPr lang="en-US" sz="1000" dirty="0"/>
          </a:p>
        </p:txBody>
      </p:sp>
      <p:sp>
        <p:nvSpPr>
          <p:cNvPr id="15" name="Text 13"/>
          <p:cNvSpPr txBox="1"/>
          <p:nvPr/>
        </p:nvSpPr>
        <p:spPr>
          <a:xfrm>
            <a:off x="7315200" y="17373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20 min</a:t>
            </a:r>
            <a:endParaRPr lang="en-US" sz="1200" dirty="0"/>
          </a:p>
        </p:txBody>
      </p:sp>
      <p:sp>
        <p:nvSpPr>
          <p:cNvPr id="16" name="Shape 14"/>
          <p:cNvSpPr/>
          <p:nvPr/>
        </p:nvSpPr>
        <p:spPr>
          <a:xfrm>
            <a:off x="548640" y="21945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685800" y="21945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30–50 min</a:t>
            </a:r>
            <a:endParaRPr lang="en-US" sz="1200" dirty="0"/>
          </a:p>
        </p:txBody>
      </p:sp>
      <p:sp>
        <p:nvSpPr>
          <p:cNvPr id="18" name="Text 16"/>
          <p:cNvSpPr txBox="1"/>
          <p:nvPr/>
        </p:nvSpPr>
        <p:spPr>
          <a:xfrm>
            <a:off x="2011680" y="21945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Demostración en vivo</a:t>
            </a:r>
            <a:endParaRPr lang="en-US" sz="1300" dirty="0"/>
          </a:p>
        </p:txBody>
      </p:sp>
      <p:sp>
        <p:nvSpPr>
          <p:cNvPr id="19" name="Shape 17"/>
          <p:cNvSpPr/>
          <p:nvPr/>
        </p:nvSpPr>
        <p:spPr>
          <a:xfrm>
            <a:off x="5760720" y="2267712"/>
            <a:ext cx="1280160" cy="256032"/>
          </a:xfrm>
          <a:prstGeom prst="roundRect">
            <a:avLst>
              <a:gd name="adj" fmla="val 50000"/>
            </a:avLst>
          </a:prstGeom>
          <a:solidFill>
            <a:srgbClr val="E8871E"/>
          </a:solidFill>
          <a:ln w="12700">
            <a:solidFill>
              <a:srgbClr val="E8871E"/>
            </a:solidFill>
            <a:prstDash val="solid"/>
          </a:ln>
        </p:spPr>
      </p:sp>
      <p:sp>
        <p:nvSpPr>
          <p:cNvPr id="20" name="Text 18"/>
          <p:cNvSpPr txBox="1"/>
          <p:nvPr/>
        </p:nvSpPr>
        <p:spPr>
          <a:xfrm>
            <a:off x="5760720" y="22677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Aplicar</a:t>
            </a:r>
            <a:endParaRPr lang="en-US" sz="1000" dirty="0"/>
          </a:p>
        </p:txBody>
      </p:sp>
      <p:sp>
        <p:nvSpPr>
          <p:cNvPr id="21" name="Text 19"/>
          <p:cNvSpPr txBox="1"/>
          <p:nvPr/>
        </p:nvSpPr>
        <p:spPr>
          <a:xfrm>
            <a:off x="7315200" y="21945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20 min</a:t>
            </a:r>
            <a:endParaRPr lang="en-US" sz="1200" dirty="0"/>
          </a:p>
        </p:txBody>
      </p:sp>
      <p:sp>
        <p:nvSpPr>
          <p:cNvPr id="22" name="Shape 20"/>
          <p:cNvSpPr/>
          <p:nvPr/>
        </p:nvSpPr>
        <p:spPr>
          <a:xfrm>
            <a:off x="548640" y="26517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685800" y="26517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50–55 min</a:t>
            </a:r>
            <a:endParaRPr lang="en-US" sz="1200" dirty="0"/>
          </a:p>
        </p:txBody>
      </p:sp>
      <p:sp>
        <p:nvSpPr>
          <p:cNvPr id="24" name="Text 22"/>
          <p:cNvSpPr txBox="1"/>
          <p:nvPr/>
        </p:nvSpPr>
        <p:spPr>
          <a:xfrm>
            <a:off x="2011680" y="26517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Pausa</a:t>
            </a:r>
            <a:endParaRPr lang="en-US" sz="1300" dirty="0"/>
          </a:p>
        </p:txBody>
      </p:sp>
      <p:sp>
        <p:nvSpPr>
          <p:cNvPr id="25" name="Text 23"/>
          <p:cNvSpPr txBox="1"/>
          <p:nvPr/>
        </p:nvSpPr>
        <p:spPr>
          <a:xfrm>
            <a:off x="5760720" y="2651760"/>
            <a:ext cx="1280160" cy="402336"/>
          </a:xfrm>
          <a:prstGeom prst="rect">
            <a:avLst/>
          </a:prstGeom>
          <a:noFill/>
          <a:ln/>
        </p:spPr>
        <p:txBody>
          <a:bodyPr wrap="square" lIns="0" tIns="0" rIns="0" bIns="0" rtlCol="0" anchor="ctr"/>
          <a:lstStyle/>
          <a:p>
            <a:pPr algn="ctr" indent="0" marL="0">
              <a:buNone/>
            </a:pPr>
            <a:r>
              <a:rPr lang="en-US" sz="1100" i="1" dirty="0">
                <a:solidFill>
                  <a:srgbClr val="4A5B6C"/>
                </a:solidFill>
                <a:latin typeface="Calibri" pitchFamily="34" charset="0"/>
                <a:ea typeface="Calibri" pitchFamily="34" charset="-122"/>
                <a:cs typeface="Calibri" pitchFamily="34" charset="-120"/>
              </a:rPr>
              <a:t>Descanso</a:t>
            </a:r>
            <a:endParaRPr lang="en-US" sz="1100" dirty="0"/>
          </a:p>
        </p:txBody>
      </p:sp>
      <p:sp>
        <p:nvSpPr>
          <p:cNvPr id="26" name="Text 24"/>
          <p:cNvSpPr txBox="1"/>
          <p:nvPr/>
        </p:nvSpPr>
        <p:spPr>
          <a:xfrm>
            <a:off x="7315200" y="26517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5 min</a:t>
            </a:r>
            <a:endParaRPr lang="en-US" sz="1200" dirty="0"/>
          </a:p>
        </p:txBody>
      </p:sp>
      <p:sp>
        <p:nvSpPr>
          <p:cNvPr id="27" name="Shape 25"/>
          <p:cNvSpPr/>
          <p:nvPr/>
        </p:nvSpPr>
        <p:spPr>
          <a:xfrm>
            <a:off x="548640" y="31089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8" name="Text 26"/>
          <p:cNvSpPr txBox="1"/>
          <p:nvPr/>
        </p:nvSpPr>
        <p:spPr>
          <a:xfrm>
            <a:off x="685800" y="31089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55–80 min</a:t>
            </a:r>
            <a:endParaRPr lang="en-US" sz="1200" dirty="0"/>
          </a:p>
        </p:txBody>
      </p:sp>
      <p:sp>
        <p:nvSpPr>
          <p:cNvPr id="29" name="Text 27"/>
          <p:cNvSpPr txBox="1"/>
          <p:nvPr/>
        </p:nvSpPr>
        <p:spPr>
          <a:xfrm>
            <a:off x="2011680" y="31089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Práctica en salas virtuales</a:t>
            </a:r>
            <a:endParaRPr lang="en-US" sz="1300" dirty="0"/>
          </a:p>
        </p:txBody>
      </p:sp>
      <p:sp>
        <p:nvSpPr>
          <p:cNvPr id="30" name="Shape 28"/>
          <p:cNvSpPr/>
          <p:nvPr/>
        </p:nvSpPr>
        <p:spPr>
          <a:xfrm>
            <a:off x="5760720" y="3182112"/>
            <a:ext cx="1280160" cy="256032"/>
          </a:xfrm>
          <a:prstGeom prst="roundRect">
            <a:avLst>
              <a:gd name="adj" fmla="val 50000"/>
            </a:avLst>
          </a:prstGeom>
          <a:solidFill>
            <a:srgbClr val="7A4E9C"/>
          </a:solidFill>
          <a:ln w="12700">
            <a:solidFill>
              <a:srgbClr val="7A4E9C"/>
            </a:solidFill>
            <a:prstDash val="solid"/>
          </a:ln>
        </p:spPr>
      </p:sp>
      <p:sp>
        <p:nvSpPr>
          <p:cNvPr id="31" name="Text 29"/>
          <p:cNvSpPr txBox="1"/>
          <p:nvPr/>
        </p:nvSpPr>
        <p:spPr>
          <a:xfrm>
            <a:off x="5760720" y="31821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Analizar</a:t>
            </a:r>
            <a:endParaRPr lang="en-US" sz="1000" dirty="0"/>
          </a:p>
        </p:txBody>
      </p:sp>
      <p:sp>
        <p:nvSpPr>
          <p:cNvPr id="32" name="Text 30"/>
          <p:cNvSpPr txBox="1"/>
          <p:nvPr/>
        </p:nvSpPr>
        <p:spPr>
          <a:xfrm>
            <a:off x="7315200" y="31089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25 min</a:t>
            </a:r>
            <a:endParaRPr lang="en-US" sz="1200" dirty="0"/>
          </a:p>
        </p:txBody>
      </p:sp>
      <p:sp>
        <p:nvSpPr>
          <p:cNvPr id="33" name="Shape 31"/>
          <p:cNvSpPr/>
          <p:nvPr/>
        </p:nvSpPr>
        <p:spPr>
          <a:xfrm>
            <a:off x="548640" y="35661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34" name="Text 32"/>
          <p:cNvSpPr txBox="1"/>
          <p:nvPr/>
        </p:nvSpPr>
        <p:spPr>
          <a:xfrm>
            <a:off x="685800" y="35661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80–95 min</a:t>
            </a:r>
            <a:endParaRPr lang="en-US" sz="1200" dirty="0"/>
          </a:p>
        </p:txBody>
      </p:sp>
      <p:sp>
        <p:nvSpPr>
          <p:cNvPr id="35" name="Text 33"/>
          <p:cNvSpPr txBox="1"/>
          <p:nvPr/>
        </p:nvSpPr>
        <p:spPr>
          <a:xfrm>
            <a:off x="2011680" y="35661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Plenaria y discusión</a:t>
            </a:r>
            <a:endParaRPr lang="en-US" sz="1300" dirty="0"/>
          </a:p>
        </p:txBody>
      </p:sp>
      <p:sp>
        <p:nvSpPr>
          <p:cNvPr id="36" name="Shape 34"/>
          <p:cNvSpPr/>
          <p:nvPr/>
        </p:nvSpPr>
        <p:spPr>
          <a:xfrm>
            <a:off x="5760720" y="3639312"/>
            <a:ext cx="1280160" cy="256032"/>
          </a:xfrm>
          <a:prstGeom prst="roundRect">
            <a:avLst>
              <a:gd name="adj" fmla="val 50000"/>
            </a:avLst>
          </a:prstGeom>
          <a:solidFill>
            <a:srgbClr val="C0392B"/>
          </a:solidFill>
          <a:ln w="12700">
            <a:solidFill>
              <a:srgbClr val="C0392B"/>
            </a:solidFill>
            <a:prstDash val="solid"/>
          </a:ln>
        </p:spPr>
      </p:sp>
      <p:sp>
        <p:nvSpPr>
          <p:cNvPr id="37" name="Text 35"/>
          <p:cNvSpPr txBox="1"/>
          <p:nvPr/>
        </p:nvSpPr>
        <p:spPr>
          <a:xfrm>
            <a:off x="5760720" y="36393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Evaluar</a:t>
            </a:r>
            <a:endParaRPr lang="en-US" sz="1000" dirty="0"/>
          </a:p>
        </p:txBody>
      </p:sp>
      <p:sp>
        <p:nvSpPr>
          <p:cNvPr id="38" name="Text 36"/>
          <p:cNvSpPr txBox="1"/>
          <p:nvPr/>
        </p:nvSpPr>
        <p:spPr>
          <a:xfrm>
            <a:off x="7315200" y="35661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15 min</a:t>
            </a:r>
            <a:endParaRPr lang="en-US" sz="1200" dirty="0"/>
          </a:p>
        </p:txBody>
      </p:sp>
      <p:sp>
        <p:nvSpPr>
          <p:cNvPr id="39" name="Shape 37"/>
          <p:cNvSpPr/>
          <p:nvPr/>
        </p:nvSpPr>
        <p:spPr>
          <a:xfrm>
            <a:off x="548640" y="40233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40" name="Text 38"/>
          <p:cNvSpPr txBox="1"/>
          <p:nvPr/>
        </p:nvSpPr>
        <p:spPr>
          <a:xfrm>
            <a:off x="685800" y="40233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95–105 min</a:t>
            </a:r>
            <a:endParaRPr lang="en-US" sz="1200" dirty="0"/>
          </a:p>
        </p:txBody>
      </p:sp>
      <p:sp>
        <p:nvSpPr>
          <p:cNvPr id="41" name="Text 39"/>
          <p:cNvSpPr txBox="1"/>
          <p:nvPr/>
        </p:nvSpPr>
        <p:spPr>
          <a:xfrm>
            <a:off x="2011680" y="40233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Cierre y evaluación</a:t>
            </a:r>
            <a:endParaRPr lang="en-US" sz="1300" dirty="0"/>
          </a:p>
        </p:txBody>
      </p:sp>
      <p:sp>
        <p:nvSpPr>
          <p:cNvPr id="42" name="Shape 40"/>
          <p:cNvSpPr/>
          <p:nvPr/>
        </p:nvSpPr>
        <p:spPr>
          <a:xfrm>
            <a:off x="5760720" y="4096512"/>
            <a:ext cx="1280160" cy="256032"/>
          </a:xfrm>
          <a:prstGeom prst="roundRect">
            <a:avLst>
              <a:gd name="adj" fmla="val 50000"/>
            </a:avLst>
          </a:prstGeom>
          <a:solidFill>
            <a:srgbClr val="2E8B57"/>
          </a:solidFill>
          <a:ln w="12700">
            <a:solidFill>
              <a:srgbClr val="2E8B57"/>
            </a:solidFill>
            <a:prstDash val="solid"/>
          </a:ln>
        </p:spPr>
      </p:sp>
      <p:sp>
        <p:nvSpPr>
          <p:cNvPr id="43" name="Text 41"/>
          <p:cNvSpPr txBox="1"/>
          <p:nvPr/>
        </p:nvSpPr>
        <p:spPr>
          <a:xfrm>
            <a:off x="5760720" y="40965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Crear</a:t>
            </a:r>
            <a:endParaRPr lang="en-US" sz="1000" dirty="0"/>
          </a:p>
        </p:txBody>
      </p:sp>
      <p:sp>
        <p:nvSpPr>
          <p:cNvPr id="44" name="Text 42"/>
          <p:cNvSpPr txBox="1"/>
          <p:nvPr/>
        </p:nvSpPr>
        <p:spPr>
          <a:xfrm>
            <a:off x="7315200" y="40233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10 min</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Cómo trabajaremos: niveles de Bloom en la clase</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25880"/>
            <a:ext cx="2743200" cy="457200"/>
          </a:xfrm>
          <a:prstGeom prst="roundRect">
            <a:avLst>
              <a:gd name="adj" fmla="val 20000"/>
            </a:avLst>
          </a:prstGeom>
          <a:solidFill>
            <a:srgbClr val="1A7F8E"/>
          </a:solidFill>
          <a:ln w="12700">
            <a:solidFill>
              <a:srgbClr val="1A7F8E"/>
            </a:solidFill>
            <a:prstDash val="solid"/>
          </a:ln>
        </p:spPr>
      </p:sp>
      <p:sp>
        <p:nvSpPr>
          <p:cNvPr id="5" name="Text 3"/>
          <p:cNvSpPr txBox="1"/>
          <p:nvPr/>
        </p:nvSpPr>
        <p:spPr>
          <a:xfrm>
            <a:off x="685800" y="1325880"/>
            <a:ext cx="24688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Recordar</a:t>
            </a:r>
            <a:endParaRPr lang="en-US" sz="1300" dirty="0"/>
          </a:p>
        </p:txBody>
      </p:sp>
      <p:sp>
        <p:nvSpPr>
          <p:cNvPr id="6" name="Text 4"/>
          <p:cNvSpPr txBox="1"/>
          <p:nvPr/>
        </p:nvSpPr>
        <p:spPr>
          <a:xfrm>
            <a:off x="3429000" y="1325880"/>
            <a:ext cx="521208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Apertura y repaso rápido</a:t>
            </a:r>
            <a:endParaRPr lang="en-US" sz="1250" dirty="0"/>
          </a:p>
        </p:txBody>
      </p:sp>
      <p:sp>
        <p:nvSpPr>
          <p:cNvPr id="7" name="Shape 5"/>
          <p:cNvSpPr/>
          <p:nvPr/>
        </p:nvSpPr>
        <p:spPr>
          <a:xfrm>
            <a:off x="548640" y="1856232"/>
            <a:ext cx="3611880" cy="457200"/>
          </a:xfrm>
          <a:prstGeom prst="roundRect">
            <a:avLst>
              <a:gd name="adj" fmla="val 20000"/>
            </a:avLst>
          </a:prstGeom>
          <a:solidFill>
            <a:srgbClr val="2E6DA4"/>
          </a:solidFill>
          <a:ln w="12700">
            <a:solidFill>
              <a:srgbClr val="2E6DA4"/>
            </a:solidFill>
            <a:prstDash val="solid"/>
          </a:ln>
        </p:spPr>
      </p:sp>
      <p:sp>
        <p:nvSpPr>
          <p:cNvPr id="8" name="Text 6"/>
          <p:cNvSpPr txBox="1"/>
          <p:nvPr/>
        </p:nvSpPr>
        <p:spPr>
          <a:xfrm>
            <a:off x="685800" y="1856232"/>
            <a:ext cx="33375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Comprender</a:t>
            </a:r>
            <a:endParaRPr lang="en-US" sz="1300" dirty="0"/>
          </a:p>
        </p:txBody>
      </p:sp>
      <p:sp>
        <p:nvSpPr>
          <p:cNvPr id="9" name="Text 7"/>
          <p:cNvSpPr txBox="1"/>
          <p:nvPr/>
        </p:nvSpPr>
        <p:spPr>
          <a:xfrm>
            <a:off x="4297680" y="1856232"/>
            <a:ext cx="434340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Exposición con ejemplos</a:t>
            </a:r>
            <a:endParaRPr lang="en-US" sz="1250" dirty="0"/>
          </a:p>
        </p:txBody>
      </p:sp>
      <p:sp>
        <p:nvSpPr>
          <p:cNvPr id="10" name="Shape 8"/>
          <p:cNvSpPr/>
          <p:nvPr/>
        </p:nvSpPr>
        <p:spPr>
          <a:xfrm>
            <a:off x="548640" y="2386584"/>
            <a:ext cx="4480560" cy="457200"/>
          </a:xfrm>
          <a:prstGeom prst="roundRect">
            <a:avLst>
              <a:gd name="adj" fmla="val 20000"/>
            </a:avLst>
          </a:prstGeom>
          <a:solidFill>
            <a:srgbClr val="E8871E"/>
          </a:solidFill>
          <a:ln w="12700">
            <a:solidFill>
              <a:srgbClr val="E8871E"/>
            </a:solidFill>
            <a:prstDash val="solid"/>
          </a:ln>
        </p:spPr>
      </p:sp>
      <p:sp>
        <p:nvSpPr>
          <p:cNvPr id="11" name="Text 9"/>
          <p:cNvSpPr txBox="1"/>
          <p:nvPr/>
        </p:nvSpPr>
        <p:spPr>
          <a:xfrm>
            <a:off x="685800" y="2386584"/>
            <a:ext cx="42062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Aplicar</a:t>
            </a:r>
            <a:endParaRPr lang="en-US" sz="1300" dirty="0"/>
          </a:p>
        </p:txBody>
      </p:sp>
      <p:sp>
        <p:nvSpPr>
          <p:cNvPr id="12" name="Text 10"/>
          <p:cNvSpPr txBox="1"/>
          <p:nvPr/>
        </p:nvSpPr>
        <p:spPr>
          <a:xfrm>
            <a:off x="5166360" y="2386584"/>
            <a:ext cx="347472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Demostración en vivo</a:t>
            </a:r>
            <a:endParaRPr lang="en-US" sz="1250" dirty="0"/>
          </a:p>
        </p:txBody>
      </p:sp>
      <p:sp>
        <p:nvSpPr>
          <p:cNvPr id="13" name="Shape 11"/>
          <p:cNvSpPr/>
          <p:nvPr/>
        </p:nvSpPr>
        <p:spPr>
          <a:xfrm>
            <a:off x="548640" y="2916936"/>
            <a:ext cx="5349240" cy="457200"/>
          </a:xfrm>
          <a:prstGeom prst="roundRect">
            <a:avLst>
              <a:gd name="adj" fmla="val 20000"/>
            </a:avLst>
          </a:prstGeom>
          <a:solidFill>
            <a:srgbClr val="7A4E9C"/>
          </a:solidFill>
          <a:ln w="12700">
            <a:solidFill>
              <a:srgbClr val="7A4E9C"/>
            </a:solidFill>
            <a:prstDash val="solid"/>
          </a:ln>
        </p:spPr>
      </p:sp>
      <p:sp>
        <p:nvSpPr>
          <p:cNvPr id="14" name="Text 12"/>
          <p:cNvSpPr txBox="1"/>
          <p:nvPr/>
        </p:nvSpPr>
        <p:spPr>
          <a:xfrm>
            <a:off x="685800" y="2916936"/>
            <a:ext cx="50749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4. Analizar</a:t>
            </a:r>
            <a:endParaRPr lang="en-US" sz="1300" dirty="0"/>
          </a:p>
        </p:txBody>
      </p:sp>
      <p:sp>
        <p:nvSpPr>
          <p:cNvPr id="15" name="Text 13"/>
          <p:cNvSpPr txBox="1"/>
          <p:nvPr/>
        </p:nvSpPr>
        <p:spPr>
          <a:xfrm>
            <a:off x="6035040" y="2916936"/>
            <a:ext cx="260604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Práctica en salas virtuales</a:t>
            </a:r>
            <a:endParaRPr lang="en-US" sz="1250" dirty="0"/>
          </a:p>
        </p:txBody>
      </p:sp>
      <p:sp>
        <p:nvSpPr>
          <p:cNvPr id="16" name="Shape 14"/>
          <p:cNvSpPr/>
          <p:nvPr/>
        </p:nvSpPr>
        <p:spPr>
          <a:xfrm>
            <a:off x="548640" y="3447288"/>
            <a:ext cx="6217920" cy="457200"/>
          </a:xfrm>
          <a:prstGeom prst="roundRect">
            <a:avLst>
              <a:gd name="adj" fmla="val 20000"/>
            </a:avLst>
          </a:prstGeom>
          <a:solidFill>
            <a:srgbClr val="C0392B"/>
          </a:solidFill>
          <a:ln w="12700">
            <a:solidFill>
              <a:srgbClr val="C0392B"/>
            </a:solidFill>
            <a:prstDash val="solid"/>
          </a:ln>
        </p:spPr>
      </p:sp>
      <p:sp>
        <p:nvSpPr>
          <p:cNvPr id="17" name="Text 15"/>
          <p:cNvSpPr txBox="1"/>
          <p:nvPr/>
        </p:nvSpPr>
        <p:spPr>
          <a:xfrm>
            <a:off x="685800" y="3447288"/>
            <a:ext cx="59436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 Evaluar</a:t>
            </a:r>
            <a:endParaRPr lang="en-US" sz="1300" dirty="0"/>
          </a:p>
        </p:txBody>
      </p:sp>
      <p:sp>
        <p:nvSpPr>
          <p:cNvPr id="18" name="Text 16"/>
          <p:cNvSpPr txBox="1"/>
          <p:nvPr/>
        </p:nvSpPr>
        <p:spPr>
          <a:xfrm>
            <a:off x="6903720" y="3447288"/>
            <a:ext cx="173736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Plenaria y rúbrica</a:t>
            </a:r>
            <a:endParaRPr lang="en-US" sz="1250" dirty="0"/>
          </a:p>
        </p:txBody>
      </p:sp>
      <p:sp>
        <p:nvSpPr>
          <p:cNvPr id="19" name="Shape 17"/>
          <p:cNvSpPr/>
          <p:nvPr/>
        </p:nvSpPr>
        <p:spPr>
          <a:xfrm>
            <a:off x="548640" y="3977640"/>
            <a:ext cx="7086600" cy="457200"/>
          </a:xfrm>
          <a:prstGeom prst="roundRect">
            <a:avLst>
              <a:gd name="adj" fmla="val 20000"/>
            </a:avLst>
          </a:prstGeom>
          <a:solidFill>
            <a:srgbClr val="2E8B57"/>
          </a:solidFill>
          <a:ln w="12700">
            <a:solidFill>
              <a:srgbClr val="2E8B57"/>
            </a:solidFill>
            <a:prstDash val="solid"/>
          </a:ln>
        </p:spPr>
      </p:sp>
      <p:sp>
        <p:nvSpPr>
          <p:cNvPr id="20" name="Text 18"/>
          <p:cNvSpPr txBox="1"/>
          <p:nvPr/>
        </p:nvSpPr>
        <p:spPr>
          <a:xfrm>
            <a:off x="685800" y="3977640"/>
            <a:ext cx="68122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 Crear</a:t>
            </a:r>
            <a:endParaRPr lang="en-US" sz="1300" dirty="0"/>
          </a:p>
        </p:txBody>
      </p:sp>
      <p:sp>
        <p:nvSpPr>
          <p:cNvPr id="21" name="Text 19"/>
          <p:cNvSpPr txBox="1"/>
          <p:nvPr/>
        </p:nvSpPr>
        <p:spPr>
          <a:xfrm>
            <a:off x="7772400" y="3977640"/>
            <a:ext cx="86868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Cierre, quiz y tarea</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Lo que preparaste antes de la clase</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508760"/>
            <a:ext cx="1051560" cy="256032"/>
          </a:xfrm>
          <a:prstGeom prst="roundRect">
            <a:avLst>
              <a:gd name="adj" fmla="val 50000"/>
            </a:avLst>
          </a:prstGeom>
          <a:solidFill>
            <a:srgbClr val="2E6DA4"/>
          </a:solidFill>
          <a:ln w="12700">
            <a:solidFill>
              <a:srgbClr val="2E6DA4"/>
            </a:solidFill>
            <a:prstDash val="solid"/>
          </a:ln>
        </p:spPr>
      </p:sp>
      <p:sp>
        <p:nvSpPr>
          <p:cNvPr id="6" name="Text 4"/>
          <p:cNvSpPr txBox="1"/>
          <p:nvPr/>
        </p:nvSpPr>
        <p:spPr>
          <a:xfrm>
            <a:off x="6858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Comprender</a:t>
            </a:r>
            <a:endParaRPr lang="en-US" sz="1000" dirty="0"/>
          </a:p>
        </p:txBody>
      </p:sp>
      <p:sp>
        <p:nvSpPr>
          <p:cNvPr id="7" name="Text 5"/>
          <p:cNvSpPr txBox="1"/>
          <p:nvPr/>
        </p:nvSpPr>
        <p:spPr>
          <a:xfrm>
            <a:off x="19202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40 min</a:t>
            </a:r>
            <a:endParaRPr lang="en-US" sz="1100" dirty="0"/>
          </a:p>
        </p:txBody>
      </p:sp>
      <p:sp>
        <p:nvSpPr>
          <p:cNvPr id="8" name="Text 6"/>
          <p:cNvSpPr txBox="1"/>
          <p:nvPr/>
        </p:nvSpPr>
        <p:spPr>
          <a:xfrm>
            <a:off x="7132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Cursar el módulo de redes neuronales del Machine Learning Crash Course</a:t>
            </a:r>
            <a:endParaRPr lang="en-US" sz="1300" dirty="0"/>
          </a:p>
        </p:txBody>
      </p:sp>
      <p:sp>
        <p:nvSpPr>
          <p:cNvPr id="9" name="Text 7"/>
          <p:cNvSpPr txBox="1"/>
          <p:nvPr/>
        </p:nvSpPr>
        <p:spPr>
          <a:xfrm>
            <a:off x="7132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Resumen de cinco líneas</a:t>
            </a:r>
            <a:endParaRPr lang="en-US" sz="1100" dirty="0"/>
          </a:p>
        </p:txBody>
      </p:sp>
      <p:sp>
        <p:nvSpPr>
          <p:cNvPr id="10" name="Shape 8"/>
          <p:cNvSpPr/>
          <p:nvPr/>
        </p:nvSpPr>
        <p:spPr>
          <a:xfrm>
            <a:off x="32918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3429000" y="1508760"/>
            <a:ext cx="1051560" cy="256032"/>
          </a:xfrm>
          <a:prstGeom prst="roundRect">
            <a:avLst>
              <a:gd name="adj" fmla="val 50000"/>
            </a:avLst>
          </a:prstGeom>
          <a:solidFill>
            <a:srgbClr val="E8871E"/>
          </a:solidFill>
          <a:ln w="12700">
            <a:solidFill>
              <a:srgbClr val="E8871E"/>
            </a:solidFill>
            <a:prstDash val="solid"/>
          </a:ln>
        </p:spPr>
      </p:sp>
      <p:sp>
        <p:nvSpPr>
          <p:cNvPr id="12" name="Text 10"/>
          <p:cNvSpPr txBox="1"/>
          <p:nvPr/>
        </p:nvSpPr>
        <p:spPr>
          <a:xfrm>
            <a:off x="34290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Aplicar</a:t>
            </a:r>
            <a:endParaRPr lang="en-US" sz="1000" dirty="0"/>
          </a:p>
        </p:txBody>
      </p:sp>
      <p:sp>
        <p:nvSpPr>
          <p:cNvPr id="13" name="Text 11"/>
          <p:cNvSpPr txBox="1"/>
          <p:nvPr/>
        </p:nvSpPr>
        <p:spPr>
          <a:xfrm>
            <a:off x="46634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20 min</a:t>
            </a:r>
            <a:endParaRPr lang="en-US" sz="1100" dirty="0"/>
          </a:p>
        </p:txBody>
      </p:sp>
      <p:sp>
        <p:nvSpPr>
          <p:cNvPr id="14" name="Text 12"/>
          <p:cNvSpPr txBox="1"/>
          <p:nvPr/>
        </p:nvSpPr>
        <p:spPr>
          <a:xfrm>
            <a:off x="34564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Jugar 15 minutos con TensorFlow Playground y anotar qué cambia al agregar capas</a:t>
            </a:r>
            <a:endParaRPr lang="en-US" sz="1300" dirty="0"/>
          </a:p>
        </p:txBody>
      </p:sp>
      <p:sp>
        <p:nvSpPr>
          <p:cNvPr id="15" name="Text 13"/>
          <p:cNvSpPr txBox="1"/>
          <p:nvPr/>
        </p:nvSpPr>
        <p:spPr>
          <a:xfrm>
            <a:off x="34564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Tres observaciones</a:t>
            </a:r>
            <a:endParaRPr lang="en-US" sz="1100" dirty="0"/>
          </a:p>
        </p:txBody>
      </p:sp>
      <p:sp>
        <p:nvSpPr>
          <p:cNvPr id="16" name="Shape 14"/>
          <p:cNvSpPr/>
          <p:nvPr/>
        </p:nvSpPr>
        <p:spPr>
          <a:xfrm>
            <a:off x="60350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172200" y="1508760"/>
            <a:ext cx="1051560" cy="256032"/>
          </a:xfrm>
          <a:prstGeom prst="roundRect">
            <a:avLst>
              <a:gd name="adj" fmla="val 50000"/>
            </a:avLst>
          </a:prstGeom>
          <a:solidFill>
            <a:srgbClr val="2E6DA4"/>
          </a:solidFill>
          <a:ln w="12700">
            <a:solidFill>
              <a:srgbClr val="2E6DA4"/>
            </a:solidFill>
            <a:prstDash val="solid"/>
          </a:ln>
        </p:spPr>
      </p:sp>
      <p:sp>
        <p:nvSpPr>
          <p:cNvPr id="18" name="Text 16"/>
          <p:cNvSpPr txBox="1"/>
          <p:nvPr/>
        </p:nvSpPr>
        <p:spPr>
          <a:xfrm>
            <a:off x="61722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Comprender</a:t>
            </a:r>
            <a:endParaRPr lang="en-US" sz="1000" dirty="0"/>
          </a:p>
        </p:txBody>
      </p:sp>
      <p:sp>
        <p:nvSpPr>
          <p:cNvPr id="19" name="Text 17"/>
          <p:cNvSpPr txBox="1"/>
          <p:nvPr/>
        </p:nvSpPr>
        <p:spPr>
          <a:xfrm>
            <a:off x="74066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20 min</a:t>
            </a:r>
            <a:endParaRPr lang="en-US" sz="1100" dirty="0"/>
          </a:p>
        </p:txBody>
      </p:sp>
      <p:sp>
        <p:nvSpPr>
          <p:cNvPr id="20" name="Text 18"/>
          <p:cNvSpPr txBox="1"/>
          <p:nvPr/>
        </p:nvSpPr>
        <p:spPr>
          <a:xfrm>
            <a:off x="61996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Leer la sección de perceptrón multicapa de scikit-learn</a:t>
            </a:r>
            <a:endParaRPr lang="en-US" sz="1300" dirty="0"/>
          </a:p>
        </p:txBody>
      </p:sp>
      <p:sp>
        <p:nvSpPr>
          <p:cNvPr id="21" name="Text 19"/>
          <p:cNvSpPr txBox="1"/>
          <p:nvPr/>
        </p:nvSpPr>
        <p:spPr>
          <a:xfrm>
            <a:off x="61996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Fórmula de la neurona escrita a mano</a:t>
            </a:r>
            <a:endParaRPr lang="en-US" sz="11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La neurona artificial</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8046720" cy="1188720"/>
          </a:xfrm>
          <a:prstGeom prst="roundRect">
            <a:avLst>
              <a:gd name="adj" fmla="val 9231"/>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31520" y="1371600"/>
            <a:ext cx="7680960" cy="1188720"/>
          </a:xfrm>
          <a:prstGeom prst="rect">
            <a:avLst/>
          </a:prstGeom>
          <a:noFill/>
          <a:ln/>
        </p:spPr>
        <p:txBody>
          <a:bodyPr wrap="square" lIns="0" tIns="0" rIns="0" bIns="0" rtlCol="0" anchor="ctr">
            <a:normAutofit/>
          </a:bodyPr>
          <a:lstStyle/>
          <a:p>
            <a:pPr algn="ctr" indent="0" marL="0">
              <a:buNone/>
            </a:pPr>
            <a:r>
              <a:rPr lang="en-US" sz="2800" i="1" dirty="0">
                <a:solidFill>
                  <a:srgbClr val="FFFFFF"/>
                </a:solidFill>
                <a:latin typeface="Cambria" pitchFamily="34" charset="0"/>
                <a:ea typeface="Cambria" pitchFamily="34" charset="-122"/>
                <a:cs typeface="Cambria" pitchFamily="34" charset="-120"/>
              </a:rPr>
              <a:t>y = f( Σ wᵢ xᵢ + b )</a:t>
            </a:r>
            <a:endParaRPr lang="en-US" sz="2800" dirty="0"/>
          </a:p>
        </p:txBody>
      </p:sp>
      <p:sp>
        <p:nvSpPr>
          <p:cNvPr id="6" name="Shape 4"/>
          <p:cNvSpPr/>
          <p:nvPr/>
        </p:nvSpPr>
        <p:spPr>
          <a:xfrm>
            <a:off x="548640" y="2834640"/>
            <a:ext cx="2560320" cy="1691640"/>
          </a:xfrm>
          <a:prstGeom prst="roundRect">
            <a:avLst>
              <a:gd name="adj" fmla="val 5405"/>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685800" y="2971800"/>
            <a:ext cx="329184" cy="329184"/>
          </a:xfrm>
          <a:prstGeom prst="ellipse">
            <a:avLst/>
          </a:prstGeom>
          <a:solidFill>
            <a:srgbClr val="E8871E"/>
          </a:solidFill>
          <a:ln w="12700">
            <a:solidFill>
              <a:srgbClr val="E8871E"/>
            </a:solidFill>
            <a:prstDash val="solid"/>
          </a:ln>
        </p:spPr>
      </p:sp>
      <p:sp>
        <p:nvSpPr>
          <p:cNvPr id="8" name="Text 6"/>
          <p:cNvSpPr txBox="1"/>
          <p:nvPr/>
        </p:nvSpPr>
        <p:spPr>
          <a:xfrm>
            <a:off x="685800" y="2971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97280" y="2971800"/>
            <a:ext cx="1920240" cy="329184"/>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Pesos</a:t>
            </a:r>
            <a:endParaRPr lang="en-US" sz="1300" dirty="0"/>
          </a:p>
        </p:txBody>
      </p:sp>
      <p:sp>
        <p:nvSpPr>
          <p:cNvPr id="10" name="Text 8"/>
          <p:cNvSpPr txBox="1"/>
          <p:nvPr/>
        </p:nvSpPr>
        <p:spPr>
          <a:xfrm>
            <a:off x="713232" y="3401568"/>
            <a:ext cx="2240280" cy="105156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Cada entrada se multiplica por un peso aprendido.</a:t>
            </a:r>
            <a:endParaRPr lang="en-US" sz="1200" dirty="0"/>
          </a:p>
        </p:txBody>
      </p:sp>
      <p:sp>
        <p:nvSpPr>
          <p:cNvPr id="11" name="Shape 9"/>
          <p:cNvSpPr/>
          <p:nvPr/>
        </p:nvSpPr>
        <p:spPr>
          <a:xfrm>
            <a:off x="3291840" y="2834640"/>
            <a:ext cx="2560320" cy="1691640"/>
          </a:xfrm>
          <a:prstGeom prst="roundRect">
            <a:avLst>
              <a:gd name="adj" fmla="val 5405"/>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429000" y="2971800"/>
            <a:ext cx="329184" cy="329184"/>
          </a:xfrm>
          <a:prstGeom prst="ellipse">
            <a:avLst/>
          </a:prstGeom>
          <a:solidFill>
            <a:srgbClr val="E8871E"/>
          </a:solidFill>
          <a:ln w="12700">
            <a:solidFill>
              <a:srgbClr val="E8871E"/>
            </a:solidFill>
            <a:prstDash val="solid"/>
          </a:ln>
        </p:spPr>
      </p:sp>
      <p:sp>
        <p:nvSpPr>
          <p:cNvPr id="13" name="Text 11"/>
          <p:cNvSpPr txBox="1"/>
          <p:nvPr/>
        </p:nvSpPr>
        <p:spPr>
          <a:xfrm>
            <a:off x="3429000" y="2971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840480" y="2971800"/>
            <a:ext cx="1920240" cy="329184"/>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Sesgo</a:t>
            </a:r>
            <a:endParaRPr lang="en-US" sz="1300" dirty="0"/>
          </a:p>
        </p:txBody>
      </p:sp>
      <p:sp>
        <p:nvSpPr>
          <p:cNvPr id="15" name="Text 13"/>
          <p:cNvSpPr txBox="1"/>
          <p:nvPr/>
        </p:nvSpPr>
        <p:spPr>
          <a:xfrm>
            <a:off x="3456432" y="3401568"/>
            <a:ext cx="2240280" cy="105156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Desplaza el punto de activación.</a:t>
            </a:r>
            <a:endParaRPr lang="en-US" sz="1200" dirty="0"/>
          </a:p>
        </p:txBody>
      </p:sp>
      <p:sp>
        <p:nvSpPr>
          <p:cNvPr id="16" name="Shape 14"/>
          <p:cNvSpPr/>
          <p:nvPr/>
        </p:nvSpPr>
        <p:spPr>
          <a:xfrm>
            <a:off x="6035040" y="2834640"/>
            <a:ext cx="2560320" cy="1691640"/>
          </a:xfrm>
          <a:prstGeom prst="roundRect">
            <a:avLst>
              <a:gd name="adj" fmla="val 5405"/>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172200" y="2971800"/>
            <a:ext cx="329184" cy="329184"/>
          </a:xfrm>
          <a:prstGeom prst="ellipse">
            <a:avLst/>
          </a:prstGeom>
          <a:solidFill>
            <a:srgbClr val="E8871E"/>
          </a:solidFill>
          <a:ln w="12700">
            <a:solidFill>
              <a:srgbClr val="E8871E"/>
            </a:solidFill>
            <a:prstDash val="solid"/>
          </a:ln>
        </p:spPr>
      </p:sp>
      <p:sp>
        <p:nvSpPr>
          <p:cNvPr id="18" name="Text 16"/>
          <p:cNvSpPr txBox="1"/>
          <p:nvPr/>
        </p:nvSpPr>
        <p:spPr>
          <a:xfrm>
            <a:off x="6172200" y="2971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583680" y="2971800"/>
            <a:ext cx="1920240" cy="329184"/>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Activación</a:t>
            </a:r>
            <a:endParaRPr lang="en-US" sz="1300" dirty="0"/>
          </a:p>
        </p:txBody>
      </p:sp>
      <p:sp>
        <p:nvSpPr>
          <p:cNvPr id="20" name="Text 18"/>
          <p:cNvSpPr txBox="1"/>
          <p:nvPr/>
        </p:nvSpPr>
        <p:spPr>
          <a:xfrm>
            <a:off x="6199632" y="3401568"/>
            <a:ext cx="2240280" cy="105156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La función f introduce no linealidad.</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Funciones de activación</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070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ReLU</a:t>
            </a:r>
            <a:endParaRPr lang="en-US" sz="1400" dirty="0"/>
          </a:p>
        </p:txBody>
      </p:sp>
      <p:sp>
        <p:nvSpPr>
          <p:cNvPr id="8" name="Text 6"/>
          <p:cNvSpPr txBox="1"/>
          <p:nvPr/>
        </p:nvSpPr>
        <p:spPr>
          <a:xfrm>
            <a:off x="7315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Devuelve 0 si la entrada es negativa y la entrada si es positiva.</a:t>
            </a:r>
            <a:endParaRPr lang="en-US" sz="1250" dirty="0"/>
          </a:p>
        </p:txBody>
      </p:sp>
      <p:sp>
        <p:nvSpPr>
          <p:cNvPr id="9" name="Shape 7"/>
          <p:cNvSpPr/>
          <p:nvPr/>
        </p:nvSpPr>
        <p:spPr>
          <a:xfrm>
            <a:off x="46634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828032" y="1536192"/>
            <a:ext cx="384048" cy="384048"/>
          </a:xfrm>
          <a:prstGeom prst="ellipse">
            <a:avLst/>
          </a:prstGeom>
          <a:solidFill>
            <a:srgbClr val="1A7F8E"/>
          </a:solidFill>
          <a:ln w="12700">
            <a:solidFill>
              <a:srgbClr val="1A7F8E"/>
            </a:solidFill>
            <a:prstDash val="solid"/>
          </a:ln>
        </p:spPr>
      </p:sp>
      <p:sp>
        <p:nvSpPr>
          <p:cNvPr id="11" name="Text 9"/>
          <p:cNvSpPr txBox="1"/>
          <p:nvPr/>
        </p:nvSpPr>
        <p:spPr>
          <a:xfrm>
            <a:off x="48280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3218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Sigmoide</a:t>
            </a:r>
            <a:endParaRPr lang="en-US" sz="1400" dirty="0"/>
          </a:p>
        </p:txBody>
      </p:sp>
      <p:sp>
        <p:nvSpPr>
          <p:cNvPr id="13" name="Text 11"/>
          <p:cNvSpPr txBox="1"/>
          <p:nvPr/>
        </p:nvSpPr>
        <p:spPr>
          <a:xfrm>
            <a:off x="48463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Comprime el valor entre 0 y 1; útil para probabilidades.</a:t>
            </a:r>
            <a:endParaRPr lang="en-US" sz="1250" dirty="0"/>
          </a:p>
        </p:txBody>
      </p:sp>
      <p:sp>
        <p:nvSpPr>
          <p:cNvPr id="14" name="Shape 12"/>
          <p:cNvSpPr/>
          <p:nvPr/>
        </p:nvSpPr>
        <p:spPr>
          <a:xfrm>
            <a:off x="5486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13639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070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Tanh</a:t>
            </a:r>
            <a:endParaRPr lang="en-US" sz="1400" dirty="0"/>
          </a:p>
        </p:txBody>
      </p:sp>
      <p:sp>
        <p:nvSpPr>
          <p:cNvPr id="18" name="Text 16"/>
          <p:cNvSpPr txBox="1"/>
          <p:nvPr/>
        </p:nvSpPr>
        <p:spPr>
          <a:xfrm>
            <a:off x="7315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Comprime entre −1 y 1, centrada en cero.</a:t>
            </a:r>
            <a:endParaRPr lang="en-US" sz="1250" dirty="0"/>
          </a:p>
        </p:txBody>
      </p:sp>
      <p:sp>
        <p:nvSpPr>
          <p:cNvPr id="19" name="Shape 17"/>
          <p:cNvSpPr/>
          <p:nvPr/>
        </p:nvSpPr>
        <p:spPr>
          <a:xfrm>
            <a:off x="46634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4828032" y="313639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48280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3218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Softmax</a:t>
            </a:r>
            <a:endParaRPr lang="en-US" sz="1400" dirty="0"/>
          </a:p>
        </p:txBody>
      </p:sp>
      <p:sp>
        <p:nvSpPr>
          <p:cNvPr id="23" name="Text 21"/>
          <p:cNvSpPr txBox="1"/>
          <p:nvPr/>
        </p:nvSpPr>
        <p:spPr>
          <a:xfrm>
            <a:off x="48463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Convierte la salida en probabilidades que suman 1.</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Red multicapa</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37160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Capa de entrada</a:t>
            </a:r>
            <a:endParaRPr lang="en-US" sz="1400" dirty="0"/>
          </a:p>
        </p:txBody>
      </p:sp>
      <p:sp>
        <p:nvSpPr>
          <p:cNvPr id="8" name="Text 6"/>
          <p:cNvSpPr txBox="1"/>
          <p:nvPr/>
        </p:nvSpPr>
        <p:spPr>
          <a:xfrm>
            <a:off x="3657600" y="137160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Recibe las características.</a:t>
            </a:r>
            <a:endParaRPr lang="en-US" sz="1250" dirty="0"/>
          </a:p>
        </p:txBody>
      </p:sp>
      <p:sp>
        <p:nvSpPr>
          <p:cNvPr id="9" name="Shape 7"/>
          <p:cNvSpPr/>
          <p:nvPr/>
        </p:nvSpPr>
        <p:spPr>
          <a:xfrm>
            <a:off x="548640" y="214884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713232" y="2313432"/>
            <a:ext cx="384048" cy="384048"/>
          </a:xfrm>
          <a:prstGeom prst="ellipse">
            <a:avLst/>
          </a:prstGeom>
          <a:solidFill>
            <a:srgbClr val="1A7F8E"/>
          </a:solidFill>
          <a:ln w="12700">
            <a:solidFill>
              <a:srgbClr val="1A7F8E"/>
            </a:solidFill>
            <a:prstDash val="solid"/>
          </a:ln>
        </p:spPr>
      </p:sp>
      <p:sp>
        <p:nvSpPr>
          <p:cNvPr id="11" name="Text 9"/>
          <p:cNvSpPr txBox="1"/>
          <p:nvPr/>
        </p:nvSpPr>
        <p:spPr>
          <a:xfrm>
            <a:off x="713232" y="2313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280160" y="214884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Capas ocultas</a:t>
            </a:r>
            <a:endParaRPr lang="en-US" sz="1400" dirty="0"/>
          </a:p>
        </p:txBody>
      </p:sp>
      <p:sp>
        <p:nvSpPr>
          <p:cNvPr id="13" name="Text 11"/>
          <p:cNvSpPr txBox="1"/>
          <p:nvPr/>
        </p:nvSpPr>
        <p:spPr>
          <a:xfrm>
            <a:off x="3657600" y="214884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Cada una transforma la salida de la anterior.</a:t>
            </a:r>
            <a:endParaRPr lang="en-US" sz="1250" dirty="0"/>
          </a:p>
        </p:txBody>
      </p:sp>
      <p:sp>
        <p:nvSpPr>
          <p:cNvPr id="14" name="Shape 12"/>
          <p:cNvSpPr/>
          <p:nvPr/>
        </p:nvSpPr>
        <p:spPr>
          <a:xfrm>
            <a:off x="548640" y="292608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09067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0906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80160" y="292608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Capa de salida</a:t>
            </a:r>
            <a:endParaRPr lang="en-US" sz="1400" dirty="0"/>
          </a:p>
        </p:txBody>
      </p:sp>
      <p:sp>
        <p:nvSpPr>
          <p:cNvPr id="18" name="Text 16"/>
          <p:cNvSpPr txBox="1"/>
          <p:nvPr/>
        </p:nvSpPr>
        <p:spPr>
          <a:xfrm>
            <a:off x="3657600" y="292608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Entrega la predicción.</a:t>
            </a:r>
            <a:endParaRPr lang="en-US" sz="1250" dirty="0"/>
          </a:p>
        </p:txBody>
      </p:sp>
      <p:sp>
        <p:nvSpPr>
          <p:cNvPr id="19" name="Shape 17"/>
          <p:cNvSpPr/>
          <p:nvPr/>
        </p:nvSpPr>
        <p:spPr>
          <a:xfrm>
            <a:off x="548640" y="370332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713232" y="386791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713232" y="3867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280160" y="370332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Profundidad</a:t>
            </a:r>
            <a:endParaRPr lang="en-US" sz="1400" dirty="0"/>
          </a:p>
        </p:txBody>
      </p:sp>
      <p:sp>
        <p:nvSpPr>
          <p:cNvPr id="23" name="Text 21"/>
          <p:cNvSpPr txBox="1"/>
          <p:nvPr/>
        </p:nvSpPr>
        <p:spPr>
          <a:xfrm>
            <a:off x="3657600" y="370332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Más capas permiten representaciones más abstractas.</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Paso hacia adelante: ejemplo numérico</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8046720" cy="1188720"/>
          </a:xfrm>
          <a:prstGeom prst="roundRect">
            <a:avLst>
              <a:gd name="adj" fmla="val 9231"/>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31520" y="1371600"/>
            <a:ext cx="7680960" cy="1188720"/>
          </a:xfrm>
          <a:prstGeom prst="rect">
            <a:avLst/>
          </a:prstGeom>
          <a:noFill/>
          <a:ln/>
        </p:spPr>
        <p:txBody>
          <a:bodyPr wrap="square" lIns="0" tIns="0" rIns="0" bIns="0" rtlCol="0" anchor="ctr">
            <a:normAutofit/>
          </a:bodyPr>
          <a:lstStyle/>
          <a:p>
            <a:pPr algn="ctr" indent="0" marL="0">
              <a:buNone/>
            </a:pPr>
            <a:r>
              <a:rPr lang="en-US" sz="2800" i="1" dirty="0">
                <a:solidFill>
                  <a:srgbClr val="FFFFFF"/>
                </a:solidFill>
                <a:latin typeface="Cambria" pitchFamily="34" charset="0"/>
                <a:ea typeface="Cambria" pitchFamily="34" charset="-122"/>
                <a:cs typeface="Cambria" pitchFamily="34" charset="-120"/>
              </a:rPr>
              <a:t>z = 0,5 · 2 − 0,5 = 0,5</a:t>
            </a:r>
            <a:endParaRPr lang="en-US" sz="2800" dirty="0"/>
          </a:p>
        </p:txBody>
      </p:sp>
      <p:sp>
        <p:nvSpPr>
          <p:cNvPr id="6" name="Shape 4"/>
          <p:cNvSpPr/>
          <p:nvPr/>
        </p:nvSpPr>
        <p:spPr>
          <a:xfrm>
            <a:off x="548640" y="2834640"/>
            <a:ext cx="2560320" cy="1691640"/>
          </a:xfrm>
          <a:prstGeom prst="roundRect">
            <a:avLst>
              <a:gd name="adj" fmla="val 5405"/>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685800" y="2971800"/>
            <a:ext cx="329184" cy="329184"/>
          </a:xfrm>
          <a:prstGeom prst="ellipse">
            <a:avLst/>
          </a:prstGeom>
          <a:solidFill>
            <a:srgbClr val="E8871E"/>
          </a:solidFill>
          <a:ln w="12700">
            <a:solidFill>
              <a:srgbClr val="E8871E"/>
            </a:solidFill>
            <a:prstDash val="solid"/>
          </a:ln>
        </p:spPr>
      </p:sp>
      <p:sp>
        <p:nvSpPr>
          <p:cNvPr id="8" name="Text 6"/>
          <p:cNvSpPr txBox="1"/>
          <p:nvPr/>
        </p:nvSpPr>
        <p:spPr>
          <a:xfrm>
            <a:off x="685800" y="2971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97280" y="2971800"/>
            <a:ext cx="1920240" cy="329184"/>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Datos</a:t>
            </a:r>
            <a:endParaRPr lang="en-US" sz="1300" dirty="0"/>
          </a:p>
        </p:txBody>
      </p:sp>
      <p:sp>
        <p:nvSpPr>
          <p:cNvPr id="10" name="Text 8"/>
          <p:cNvSpPr txBox="1"/>
          <p:nvPr/>
        </p:nvSpPr>
        <p:spPr>
          <a:xfrm>
            <a:off x="713232" y="3401568"/>
            <a:ext cx="2240280" cy="105156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Entrada x = 2, peso w = 0,5, sesgo b = −0,5.</a:t>
            </a:r>
            <a:endParaRPr lang="en-US" sz="1200" dirty="0"/>
          </a:p>
        </p:txBody>
      </p:sp>
      <p:sp>
        <p:nvSpPr>
          <p:cNvPr id="11" name="Shape 9"/>
          <p:cNvSpPr/>
          <p:nvPr/>
        </p:nvSpPr>
        <p:spPr>
          <a:xfrm>
            <a:off x="3291840" y="2834640"/>
            <a:ext cx="2560320" cy="1691640"/>
          </a:xfrm>
          <a:prstGeom prst="roundRect">
            <a:avLst>
              <a:gd name="adj" fmla="val 5405"/>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429000" y="2971800"/>
            <a:ext cx="329184" cy="329184"/>
          </a:xfrm>
          <a:prstGeom prst="ellipse">
            <a:avLst/>
          </a:prstGeom>
          <a:solidFill>
            <a:srgbClr val="E8871E"/>
          </a:solidFill>
          <a:ln w="12700">
            <a:solidFill>
              <a:srgbClr val="E8871E"/>
            </a:solidFill>
            <a:prstDash val="solid"/>
          </a:ln>
        </p:spPr>
      </p:sp>
      <p:sp>
        <p:nvSpPr>
          <p:cNvPr id="13" name="Text 11"/>
          <p:cNvSpPr txBox="1"/>
          <p:nvPr/>
        </p:nvSpPr>
        <p:spPr>
          <a:xfrm>
            <a:off x="3429000" y="2971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840480" y="2971800"/>
            <a:ext cx="1920240" cy="329184"/>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Activación</a:t>
            </a:r>
            <a:endParaRPr lang="en-US" sz="1300" dirty="0"/>
          </a:p>
        </p:txBody>
      </p:sp>
      <p:sp>
        <p:nvSpPr>
          <p:cNvPr id="15" name="Text 13"/>
          <p:cNvSpPr txBox="1"/>
          <p:nvPr/>
        </p:nvSpPr>
        <p:spPr>
          <a:xfrm>
            <a:off x="3456432" y="3401568"/>
            <a:ext cx="2240280" cy="105156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ReLU(0,5) = 0,5.</a:t>
            </a:r>
            <a:endParaRPr lang="en-US" sz="1200" dirty="0"/>
          </a:p>
        </p:txBody>
      </p:sp>
      <p:sp>
        <p:nvSpPr>
          <p:cNvPr id="16" name="Shape 14"/>
          <p:cNvSpPr/>
          <p:nvPr/>
        </p:nvSpPr>
        <p:spPr>
          <a:xfrm>
            <a:off x="6035040" y="2834640"/>
            <a:ext cx="2560320" cy="1691640"/>
          </a:xfrm>
          <a:prstGeom prst="roundRect">
            <a:avLst>
              <a:gd name="adj" fmla="val 5405"/>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172200" y="2971800"/>
            <a:ext cx="329184" cy="329184"/>
          </a:xfrm>
          <a:prstGeom prst="ellipse">
            <a:avLst/>
          </a:prstGeom>
          <a:solidFill>
            <a:srgbClr val="E8871E"/>
          </a:solidFill>
          <a:ln w="12700">
            <a:solidFill>
              <a:srgbClr val="E8871E"/>
            </a:solidFill>
            <a:prstDash val="solid"/>
          </a:ln>
        </p:spPr>
      </p:sp>
      <p:sp>
        <p:nvSpPr>
          <p:cNvPr id="18" name="Text 16"/>
          <p:cNvSpPr txBox="1"/>
          <p:nvPr/>
        </p:nvSpPr>
        <p:spPr>
          <a:xfrm>
            <a:off x="6172200" y="2971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583680" y="2971800"/>
            <a:ext cx="1920240" cy="329184"/>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Otro caso</a:t>
            </a:r>
            <a:endParaRPr lang="en-US" sz="1300" dirty="0"/>
          </a:p>
        </p:txBody>
      </p:sp>
      <p:sp>
        <p:nvSpPr>
          <p:cNvPr id="20" name="Text 18"/>
          <p:cNvSpPr txBox="1"/>
          <p:nvPr/>
        </p:nvSpPr>
        <p:spPr>
          <a:xfrm>
            <a:off x="6199632" y="3401568"/>
            <a:ext cx="2240280" cy="105156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Si z fuera −1, ReLU daría 0.</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Función de pérdida</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070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Error cuadrático medio</a:t>
            </a:r>
            <a:endParaRPr lang="en-US" sz="1400" dirty="0"/>
          </a:p>
        </p:txBody>
      </p:sp>
      <p:sp>
        <p:nvSpPr>
          <p:cNvPr id="8" name="Text 6"/>
          <p:cNvSpPr txBox="1"/>
          <p:nvPr/>
        </p:nvSpPr>
        <p:spPr>
          <a:xfrm>
            <a:off x="7315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Para regresión: promedio de errores al cuadrado.</a:t>
            </a:r>
            <a:endParaRPr lang="en-US" sz="1250" dirty="0"/>
          </a:p>
        </p:txBody>
      </p:sp>
      <p:sp>
        <p:nvSpPr>
          <p:cNvPr id="9" name="Shape 7"/>
          <p:cNvSpPr/>
          <p:nvPr/>
        </p:nvSpPr>
        <p:spPr>
          <a:xfrm>
            <a:off x="46634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828032" y="1536192"/>
            <a:ext cx="384048" cy="384048"/>
          </a:xfrm>
          <a:prstGeom prst="ellipse">
            <a:avLst/>
          </a:prstGeom>
          <a:solidFill>
            <a:srgbClr val="1A7F8E"/>
          </a:solidFill>
          <a:ln w="12700">
            <a:solidFill>
              <a:srgbClr val="1A7F8E"/>
            </a:solidFill>
            <a:prstDash val="solid"/>
          </a:ln>
        </p:spPr>
      </p:sp>
      <p:sp>
        <p:nvSpPr>
          <p:cNvPr id="11" name="Text 9"/>
          <p:cNvSpPr txBox="1"/>
          <p:nvPr/>
        </p:nvSpPr>
        <p:spPr>
          <a:xfrm>
            <a:off x="48280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3218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Entropía cruzada</a:t>
            </a:r>
            <a:endParaRPr lang="en-US" sz="1400" dirty="0"/>
          </a:p>
        </p:txBody>
      </p:sp>
      <p:sp>
        <p:nvSpPr>
          <p:cNvPr id="13" name="Text 11"/>
          <p:cNvSpPr txBox="1"/>
          <p:nvPr/>
        </p:nvSpPr>
        <p:spPr>
          <a:xfrm>
            <a:off x="48463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Para clasificación: penaliza probabilidades equivocadas.</a:t>
            </a:r>
            <a:endParaRPr lang="en-US" sz="1250" dirty="0"/>
          </a:p>
        </p:txBody>
      </p:sp>
      <p:sp>
        <p:nvSpPr>
          <p:cNvPr id="14" name="Shape 12"/>
          <p:cNvSpPr/>
          <p:nvPr/>
        </p:nvSpPr>
        <p:spPr>
          <a:xfrm>
            <a:off x="5486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13639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070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Objetivo</a:t>
            </a:r>
            <a:endParaRPr lang="en-US" sz="1400" dirty="0"/>
          </a:p>
        </p:txBody>
      </p:sp>
      <p:sp>
        <p:nvSpPr>
          <p:cNvPr id="18" name="Text 16"/>
          <p:cNvSpPr txBox="1"/>
          <p:nvPr/>
        </p:nvSpPr>
        <p:spPr>
          <a:xfrm>
            <a:off x="7315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Encontrar pesos que minimicen la pérdida.</a:t>
            </a:r>
            <a:endParaRPr lang="en-US" sz="1250" dirty="0"/>
          </a:p>
        </p:txBody>
      </p:sp>
      <p:sp>
        <p:nvSpPr>
          <p:cNvPr id="19" name="Shape 17"/>
          <p:cNvSpPr/>
          <p:nvPr/>
        </p:nvSpPr>
        <p:spPr>
          <a:xfrm>
            <a:off x="46634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4828032" y="313639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48280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3218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Evaluación</a:t>
            </a:r>
            <a:endParaRPr lang="en-US" sz="1400" dirty="0"/>
          </a:p>
        </p:txBody>
      </p:sp>
      <p:sp>
        <p:nvSpPr>
          <p:cNvPr id="23" name="Text 21"/>
          <p:cNvSpPr txBox="1"/>
          <p:nvPr/>
        </p:nvSpPr>
        <p:spPr>
          <a:xfrm>
            <a:off x="48463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Se sigue en entrenamiento y validación.</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Descenso del gradiente</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8046720" cy="1188720"/>
          </a:xfrm>
          <a:prstGeom prst="roundRect">
            <a:avLst>
              <a:gd name="adj" fmla="val 9231"/>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31520" y="1371600"/>
            <a:ext cx="7680960" cy="1188720"/>
          </a:xfrm>
          <a:prstGeom prst="rect">
            <a:avLst/>
          </a:prstGeom>
          <a:noFill/>
          <a:ln/>
        </p:spPr>
        <p:txBody>
          <a:bodyPr wrap="square" lIns="0" tIns="0" rIns="0" bIns="0" rtlCol="0" anchor="ctr">
            <a:normAutofit/>
          </a:bodyPr>
          <a:lstStyle/>
          <a:p>
            <a:pPr algn="ctr" indent="0" marL="0">
              <a:buNone/>
            </a:pPr>
            <a:r>
              <a:rPr lang="en-US" sz="2800" i="1" dirty="0">
                <a:solidFill>
                  <a:srgbClr val="FFFFFF"/>
                </a:solidFill>
                <a:latin typeface="Cambria" pitchFamily="34" charset="0"/>
                <a:ea typeface="Cambria" pitchFamily="34" charset="-122"/>
                <a:cs typeface="Cambria" pitchFamily="34" charset="-120"/>
              </a:rPr>
              <a:t>w ← w − η · ∂L/∂w</a:t>
            </a:r>
            <a:endParaRPr lang="en-US" sz="2800" dirty="0"/>
          </a:p>
        </p:txBody>
      </p:sp>
      <p:sp>
        <p:nvSpPr>
          <p:cNvPr id="6" name="Shape 4"/>
          <p:cNvSpPr/>
          <p:nvPr/>
        </p:nvSpPr>
        <p:spPr>
          <a:xfrm>
            <a:off x="548640" y="2834640"/>
            <a:ext cx="2560320" cy="1691640"/>
          </a:xfrm>
          <a:prstGeom prst="roundRect">
            <a:avLst>
              <a:gd name="adj" fmla="val 5405"/>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685800" y="2971800"/>
            <a:ext cx="329184" cy="329184"/>
          </a:xfrm>
          <a:prstGeom prst="ellipse">
            <a:avLst/>
          </a:prstGeom>
          <a:solidFill>
            <a:srgbClr val="E8871E"/>
          </a:solidFill>
          <a:ln w="12700">
            <a:solidFill>
              <a:srgbClr val="E8871E"/>
            </a:solidFill>
            <a:prstDash val="solid"/>
          </a:ln>
        </p:spPr>
      </p:sp>
      <p:sp>
        <p:nvSpPr>
          <p:cNvPr id="8" name="Text 6"/>
          <p:cNvSpPr txBox="1"/>
          <p:nvPr/>
        </p:nvSpPr>
        <p:spPr>
          <a:xfrm>
            <a:off x="685800" y="2971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97280" y="2971800"/>
            <a:ext cx="1920240" cy="329184"/>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η</a:t>
            </a:r>
            <a:endParaRPr lang="en-US" sz="1300" dirty="0"/>
          </a:p>
        </p:txBody>
      </p:sp>
      <p:sp>
        <p:nvSpPr>
          <p:cNvPr id="10" name="Text 8"/>
          <p:cNvSpPr txBox="1"/>
          <p:nvPr/>
        </p:nvSpPr>
        <p:spPr>
          <a:xfrm>
            <a:off x="713232" y="3401568"/>
            <a:ext cx="2240280" cy="105156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Tasa de aprendizaje: tamaño del paso.</a:t>
            </a:r>
            <a:endParaRPr lang="en-US" sz="1200" dirty="0"/>
          </a:p>
        </p:txBody>
      </p:sp>
      <p:sp>
        <p:nvSpPr>
          <p:cNvPr id="11" name="Shape 9"/>
          <p:cNvSpPr/>
          <p:nvPr/>
        </p:nvSpPr>
        <p:spPr>
          <a:xfrm>
            <a:off x="3291840" y="2834640"/>
            <a:ext cx="2560320" cy="1691640"/>
          </a:xfrm>
          <a:prstGeom prst="roundRect">
            <a:avLst>
              <a:gd name="adj" fmla="val 5405"/>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429000" y="2971800"/>
            <a:ext cx="329184" cy="329184"/>
          </a:xfrm>
          <a:prstGeom prst="ellipse">
            <a:avLst/>
          </a:prstGeom>
          <a:solidFill>
            <a:srgbClr val="E8871E"/>
          </a:solidFill>
          <a:ln w="12700">
            <a:solidFill>
              <a:srgbClr val="E8871E"/>
            </a:solidFill>
            <a:prstDash val="solid"/>
          </a:ln>
        </p:spPr>
      </p:sp>
      <p:sp>
        <p:nvSpPr>
          <p:cNvPr id="13" name="Text 11"/>
          <p:cNvSpPr txBox="1"/>
          <p:nvPr/>
        </p:nvSpPr>
        <p:spPr>
          <a:xfrm>
            <a:off x="3429000" y="2971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840480" y="2971800"/>
            <a:ext cx="1920240" cy="329184"/>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Muy alta</a:t>
            </a:r>
            <a:endParaRPr lang="en-US" sz="1300" dirty="0"/>
          </a:p>
        </p:txBody>
      </p:sp>
      <p:sp>
        <p:nvSpPr>
          <p:cNvPr id="15" name="Text 13"/>
          <p:cNvSpPr txBox="1"/>
          <p:nvPr/>
        </p:nvSpPr>
        <p:spPr>
          <a:xfrm>
            <a:off x="3456432" y="3401568"/>
            <a:ext cx="2240280" cy="105156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El entrenamiento oscila o diverge.</a:t>
            </a:r>
            <a:endParaRPr lang="en-US" sz="1200" dirty="0"/>
          </a:p>
        </p:txBody>
      </p:sp>
      <p:sp>
        <p:nvSpPr>
          <p:cNvPr id="16" name="Shape 14"/>
          <p:cNvSpPr/>
          <p:nvPr/>
        </p:nvSpPr>
        <p:spPr>
          <a:xfrm>
            <a:off x="6035040" y="2834640"/>
            <a:ext cx="2560320" cy="1691640"/>
          </a:xfrm>
          <a:prstGeom prst="roundRect">
            <a:avLst>
              <a:gd name="adj" fmla="val 5405"/>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172200" y="2971800"/>
            <a:ext cx="329184" cy="329184"/>
          </a:xfrm>
          <a:prstGeom prst="ellipse">
            <a:avLst/>
          </a:prstGeom>
          <a:solidFill>
            <a:srgbClr val="E8871E"/>
          </a:solidFill>
          <a:ln w="12700">
            <a:solidFill>
              <a:srgbClr val="E8871E"/>
            </a:solidFill>
            <a:prstDash val="solid"/>
          </a:ln>
        </p:spPr>
      </p:sp>
      <p:sp>
        <p:nvSpPr>
          <p:cNvPr id="18" name="Text 16"/>
          <p:cNvSpPr txBox="1"/>
          <p:nvPr/>
        </p:nvSpPr>
        <p:spPr>
          <a:xfrm>
            <a:off x="6172200" y="2971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583680" y="2971800"/>
            <a:ext cx="1920240" cy="329184"/>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Muy baja</a:t>
            </a:r>
            <a:endParaRPr lang="en-US" sz="1300" dirty="0"/>
          </a:p>
        </p:txBody>
      </p:sp>
      <p:sp>
        <p:nvSpPr>
          <p:cNvPr id="20" name="Text 18"/>
          <p:cNvSpPr txBox="1"/>
          <p:nvPr/>
        </p:nvSpPr>
        <p:spPr>
          <a:xfrm>
            <a:off x="6199632" y="3401568"/>
            <a:ext cx="2240280" cy="105156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Converge, pero con lentitud.</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Retropropagación</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37160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Hacia adelante</a:t>
            </a:r>
            <a:endParaRPr lang="en-US" sz="1400" dirty="0"/>
          </a:p>
        </p:txBody>
      </p:sp>
      <p:sp>
        <p:nvSpPr>
          <p:cNvPr id="8" name="Text 6"/>
          <p:cNvSpPr txBox="1"/>
          <p:nvPr/>
        </p:nvSpPr>
        <p:spPr>
          <a:xfrm>
            <a:off x="3657600" y="137160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Calcular la salida con los pesos actuales.</a:t>
            </a:r>
            <a:endParaRPr lang="en-US" sz="1250" dirty="0"/>
          </a:p>
        </p:txBody>
      </p:sp>
      <p:sp>
        <p:nvSpPr>
          <p:cNvPr id="9" name="Shape 7"/>
          <p:cNvSpPr/>
          <p:nvPr/>
        </p:nvSpPr>
        <p:spPr>
          <a:xfrm>
            <a:off x="548640" y="214884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713232" y="2313432"/>
            <a:ext cx="384048" cy="384048"/>
          </a:xfrm>
          <a:prstGeom prst="ellipse">
            <a:avLst/>
          </a:prstGeom>
          <a:solidFill>
            <a:srgbClr val="1A7F8E"/>
          </a:solidFill>
          <a:ln w="12700">
            <a:solidFill>
              <a:srgbClr val="1A7F8E"/>
            </a:solidFill>
            <a:prstDash val="solid"/>
          </a:ln>
        </p:spPr>
      </p:sp>
      <p:sp>
        <p:nvSpPr>
          <p:cNvPr id="11" name="Text 9"/>
          <p:cNvSpPr txBox="1"/>
          <p:nvPr/>
        </p:nvSpPr>
        <p:spPr>
          <a:xfrm>
            <a:off x="713232" y="2313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280160" y="214884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Pérdida</a:t>
            </a:r>
            <a:endParaRPr lang="en-US" sz="1400" dirty="0"/>
          </a:p>
        </p:txBody>
      </p:sp>
      <p:sp>
        <p:nvSpPr>
          <p:cNvPr id="13" name="Text 11"/>
          <p:cNvSpPr txBox="1"/>
          <p:nvPr/>
        </p:nvSpPr>
        <p:spPr>
          <a:xfrm>
            <a:off x="3657600" y="214884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Medir el error contra la etiqueta.</a:t>
            </a:r>
            <a:endParaRPr lang="en-US" sz="1250" dirty="0"/>
          </a:p>
        </p:txBody>
      </p:sp>
      <p:sp>
        <p:nvSpPr>
          <p:cNvPr id="14" name="Shape 12"/>
          <p:cNvSpPr/>
          <p:nvPr/>
        </p:nvSpPr>
        <p:spPr>
          <a:xfrm>
            <a:off x="548640" y="292608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09067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0906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80160" y="292608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Hacia atrás</a:t>
            </a:r>
            <a:endParaRPr lang="en-US" sz="1400" dirty="0"/>
          </a:p>
        </p:txBody>
      </p:sp>
      <p:sp>
        <p:nvSpPr>
          <p:cNvPr id="18" name="Text 16"/>
          <p:cNvSpPr txBox="1"/>
          <p:nvPr/>
        </p:nvSpPr>
        <p:spPr>
          <a:xfrm>
            <a:off x="3657600" y="292608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Aplicar la regla de la cadena capa por capa.</a:t>
            </a:r>
            <a:endParaRPr lang="en-US" sz="1250" dirty="0"/>
          </a:p>
        </p:txBody>
      </p:sp>
      <p:sp>
        <p:nvSpPr>
          <p:cNvPr id="19" name="Shape 17"/>
          <p:cNvSpPr/>
          <p:nvPr/>
        </p:nvSpPr>
        <p:spPr>
          <a:xfrm>
            <a:off x="548640" y="370332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713232" y="386791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713232" y="3867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280160" y="370332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Actualizar</a:t>
            </a:r>
            <a:endParaRPr lang="en-US" sz="1400" dirty="0"/>
          </a:p>
        </p:txBody>
      </p:sp>
      <p:sp>
        <p:nvSpPr>
          <p:cNvPr id="23" name="Text 21"/>
          <p:cNvSpPr txBox="1"/>
          <p:nvPr/>
        </p:nvSpPr>
        <p:spPr>
          <a:xfrm>
            <a:off x="3657600" y="370332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Mover cada peso contra su gradiente.</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Hiperparámetros</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070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Tasa de aprendizaje</a:t>
            </a:r>
            <a:endParaRPr lang="en-US" sz="1400" dirty="0"/>
          </a:p>
        </p:txBody>
      </p:sp>
      <p:sp>
        <p:nvSpPr>
          <p:cNvPr id="8" name="Text 6"/>
          <p:cNvSpPr txBox="1"/>
          <p:nvPr/>
        </p:nvSpPr>
        <p:spPr>
          <a:xfrm>
            <a:off x="7315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El más sensible; se prueba en escala logarítmica.</a:t>
            </a:r>
            <a:endParaRPr lang="en-US" sz="1250" dirty="0"/>
          </a:p>
        </p:txBody>
      </p:sp>
      <p:sp>
        <p:nvSpPr>
          <p:cNvPr id="9" name="Shape 7"/>
          <p:cNvSpPr/>
          <p:nvPr/>
        </p:nvSpPr>
        <p:spPr>
          <a:xfrm>
            <a:off x="46634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828032" y="1536192"/>
            <a:ext cx="384048" cy="384048"/>
          </a:xfrm>
          <a:prstGeom prst="ellipse">
            <a:avLst/>
          </a:prstGeom>
          <a:solidFill>
            <a:srgbClr val="1A7F8E"/>
          </a:solidFill>
          <a:ln w="12700">
            <a:solidFill>
              <a:srgbClr val="1A7F8E"/>
            </a:solidFill>
            <a:prstDash val="solid"/>
          </a:ln>
        </p:spPr>
      </p:sp>
      <p:sp>
        <p:nvSpPr>
          <p:cNvPr id="11" name="Text 9"/>
          <p:cNvSpPr txBox="1"/>
          <p:nvPr/>
        </p:nvSpPr>
        <p:spPr>
          <a:xfrm>
            <a:off x="48280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3218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Capas y neuronas</a:t>
            </a:r>
            <a:endParaRPr lang="en-US" sz="1400" dirty="0"/>
          </a:p>
        </p:txBody>
      </p:sp>
      <p:sp>
        <p:nvSpPr>
          <p:cNvPr id="13" name="Text 11"/>
          <p:cNvSpPr txBox="1"/>
          <p:nvPr/>
        </p:nvSpPr>
        <p:spPr>
          <a:xfrm>
            <a:off x="48463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Definen la capacidad del modelo.</a:t>
            </a:r>
            <a:endParaRPr lang="en-US" sz="1250" dirty="0"/>
          </a:p>
        </p:txBody>
      </p:sp>
      <p:sp>
        <p:nvSpPr>
          <p:cNvPr id="14" name="Shape 12"/>
          <p:cNvSpPr/>
          <p:nvPr/>
        </p:nvSpPr>
        <p:spPr>
          <a:xfrm>
            <a:off x="5486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13639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070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Épocas</a:t>
            </a:r>
            <a:endParaRPr lang="en-US" sz="1400" dirty="0"/>
          </a:p>
        </p:txBody>
      </p:sp>
      <p:sp>
        <p:nvSpPr>
          <p:cNvPr id="18" name="Text 16"/>
          <p:cNvSpPr txBox="1"/>
          <p:nvPr/>
        </p:nvSpPr>
        <p:spPr>
          <a:xfrm>
            <a:off x="7315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Pasadas completas por los datos de entrenamiento.</a:t>
            </a:r>
            <a:endParaRPr lang="en-US" sz="1250" dirty="0"/>
          </a:p>
        </p:txBody>
      </p:sp>
      <p:sp>
        <p:nvSpPr>
          <p:cNvPr id="19" name="Shape 17"/>
          <p:cNvSpPr/>
          <p:nvPr/>
        </p:nvSpPr>
        <p:spPr>
          <a:xfrm>
            <a:off x="46634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4828032" y="313639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48280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3218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Tamaño de lote</a:t>
            </a:r>
            <a:endParaRPr lang="en-US" sz="1400" dirty="0"/>
          </a:p>
        </p:txBody>
      </p:sp>
      <p:sp>
        <p:nvSpPr>
          <p:cNvPr id="23" name="Text 21"/>
          <p:cNvSpPr txBox="1"/>
          <p:nvPr/>
        </p:nvSpPr>
        <p:spPr>
          <a:xfrm>
            <a:off x="48463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Ejemplos por actualización de pesos.</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¿Cuándo usar deep learning?</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3840480" cy="3154680"/>
          </a:xfrm>
          <a:prstGeom prst="roundRect">
            <a:avLst>
              <a:gd name="adj" fmla="val 289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554480"/>
            <a:ext cx="3474720" cy="457200"/>
          </a:xfrm>
          <a:prstGeom prst="roundRect">
            <a:avLst>
              <a:gd name="adj" fmla="val 20000"/>
            </a:avLst>
          </a:prstGeom>
          <a:solidFill>
            <a:srgbClr val="0B2545"/>
          </a:solidFill>
          <a:ln w="12700">
            <a:solidFill>
              <a:srgbClr val="0B2545"/>
            </a:solidFill>
            <a:prstDash val="solid"/>
          </a:ln>
        </p:spPr>
      </p:sp>
      <p:sp>
        <p:nvSpPr>
          <p:cNvPr id="6" name="Text 4"/>
          <p:cNvSpPr txBox="1"/>
          <p:nvPr/>
        </p:nvSpPr>
        <p:spPr>
          <a:xfrm>
            <a:off x="731520" y="1554480"/>
            <a:ext cx="34747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Deep learning</a:t>
            </a:r>
            <a:endParaRPr lang="en-US" sz="1500" dirty="0"/>
          </a:p>
        </p:txBody>
      </p:sp>
      <p:sp>
        <p:nvSpPr>
          <p:cNvPr id="7" name="Text 5"/>
          <p:cNvSpPr txBox="1"/>
          <p:nvPr/>
        </p:nvSpPr>
        <p:spPr>
          <a:xfrm>
            <a:off x="777240" y="2194560"/>
            <a:ext cx="338328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Muchos datos disponibles</a:t>
            </a:r>
            <a:endParaRPr lang="en-US" sz="1300" dirty="0"/>
          </a:p>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Imágenes y señales crudas</a:t>
            </a:r>
            <a:endParaRPr lang="en-US" sz="1300" dirty="0"/>
          </a:p>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Aprende las características por sí mismo</a:t>
            </a:r>
            <a:endParaRPr lang="en-US" sz="1300" dirty="0"/>
          </a:p>
        </p:txBody>
      </p:sp>
      <p:sp>
        <p:nvSpPr>
          <p:cNvPr id="8" name="Shape 6"/>
          <p:cNvSpPr/>
          <p:nvPr/>
        </p:nvSpPr>
        <p:spPr>
          <a:xfrm>
            <a:off x="4754880" y="1371600"/>
            <a:ext cx="3840480" cy="3154680"/>
          </a:xfrm>
          <a:prstGeom prst="roundRect">
            <a:avLst>
              <a:gd name="adj" fmla="val 289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937760" y="1554480"/>
            <a:ext cx="3474720" cy="457200"/>
          </a:xfrm>
          <a:prstGeom prst="roundRect">
            <a:avLst>
              <a:gd name="adj" fmla="val 20000"/>
            </a:avLst>
          </a:prstGeom>
          <a:solidFill>
            <a:srgbClr val="1A7F8E"/>
          </a:solidFill>
          <a:ln w="12700">
            <a:solidFill>
              <a:srgbClr val="1A7F8E"/>
            </a:solidFill>
            <a:prstDash val="solid"/>
          </a:ln>
        </p:spPr>
      </p:sp>
      <p:sp>
        <p:nvSpPr>
          <p:cNvPr id="10" name="Text 8"/>
          <p:cNvSpPr txBox="1"/>
          <p:nvPr/>
        </p:nvSpPr>
        <p:spPr>
          <a:xfrm>
            <a:off x="4937760" y="1554480"/>
            <a:ext cx="34747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Modelos clásicos</a:t>
            </a:r>
            <a:endParaRPr lang="en-US" sz="1500" dirty="0"/>
          </a:p>
        </p:txBody>
      </p:sp>
      <p:sp>
        <p:nvSpPr>
          <p:cNvPr id="11" name="Text 9"/>
          <p:cNvSpPr txBox="1"/>
          <p:nvPr/>
        </p:nvSpPr>
        <p:spPr>
          <a:xfrm>
            <a:off x="4983480" y="2194560"/>
            <a:ext cx="338328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Pocos datos tabulares</a:t>
            </a:r>
            <a:endParaRPr lang="en-US" sz="1300" dirty="0"/>
          </a:p>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Se necesita interpretabilidad</a:t>
            </a:r>
            <a:endParaRPr lang="en-US" sz="1300" dirty="0"/>
          </a:p>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Entrenan rápido con poco cómputo</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Demostración en vivo</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4754880" cy="3108960"/>
          </a:xfrm>
          <a:prstGeom prst="roundRect">
            <a:avLst>
              <a:gd name="adj" fmla="val 3529"/>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508760"/>
            <a:ext cx="4297680" cy="365760"/>
          </a:xfrm>
          <a:prstGeom prst="rect">
            <a:avLst/>
          </a:prstGeom>
          <a:noFill/>
          <a:ln/>
        </p:spPr>
        <p:txBody>
          <a:bodyPr wrap="square" lIns="0" tIns="0" rIns="0" bIns="0" rtlCol="0" anchor="ctr"/>
          <a:lstStyle/>
          <a:p>
            <a:pPr indent="0" marL="0">
              <a:buNone/>
            </a:pPr>
            <a:r>
              <a:rPr lang="en-US" sz="1500" b="1" dirty="0">
                <a:solidFill>
                  <a:srgbClr val="CFE8EC"/>
                </a:solidFill>
                <a:latin typeface="Cambria" pitchFamily="34" charset="0"/>
                <a:ea typeface="Cambria" pitchFamily="34" charset="-122"/>
                <a:cs typeface="Cambria" pitchFamily="34" charset="-120"/>
              </a:rPr>
              <a:t>Qué haremos (20 min)</a:t>
            </a:r>
            <a:endParaRPr lang="en-US" sz="1500" dirty="0"/>
          </a:p>
        </p:txBody>
      </p:sp>
      <p:sp>
        <p:nvSpPr>
          <p:cNvPr id="6" name="Text 4"/>
          <p:cNvSpPr txBox="1"/>
          <p:nvPr/>
        </p:nvSpPr>
        <p:spPr>
          <a:xfrm>
            <a:off x="777240" y="1965960"/>
            <a:ext cx="4297680" cy="237744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Calibri" pitchFamily="34" charset="0"/>
                <a:ea typeface="Calibri" pitchFamily="34" charset="-122"/>
                <a:cs typeface="Calibri" pitchFamily="34" charset="-120"/>
              </a:rPr>
              <a:t>Demostración en TensorFlow Playground: clasificar un conjunto de espirales cambiando capas, neuronas y tasa de aprendizaje.</a:t>
            </a:r>
            <a:endParaRPr lang="en-US" sz="1500" dirty="0"/>
          </a:p>
        </p:txBody>
      </p:sp>
      <p:sp>
        <p:nvSpPr>
          <p:cNvPr id="7" name="Shape 5"/>
          <p:cNvSpPr/>
          <p:nvPr/>
        </p:nvSpPr>
        <p:spPr>
          <a:xfrm>
            <a:off x="5486400" y="1371600"/>
            <a:ext cx="3108960" cy="960120"/>
          </a:xfrm>
          <a:prstGeom prst="roundRect">
            <a:avLst>
              <a:gd name="adj" fmla="val 9524"/>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5623560" y="1645920"/>
            <a:ext cx="384048" cy="384048"/>
          </a:xfrm>
          <a:prstGeom prst="ellipse">
            <a:avLst/>
          </a:prstGeom>
          <a:solidFill>
            <a:srgbClr val="E8871E"/>
          </a:solidFill>
          <a:ln w="12700">
            <a:solidFill>
              <a:srgbClr val="E8871E"/>
            </a:solidFill>
            <a:prstDash val="solid"/>
          </a:ln>
        </p:spPr>
      </p:sp>
      <p:sp>
        <p:nvSpPr>
          <p:cNvPr id="9" name="Text 7"/>
          <p:cNvSpPr txBox="1"/>
          <p:nvPr/>
        </p:nvSpPr>
        <p:spPr>
          <a:xfrm>
            <a:off x="562356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126480" y="1371600"/>
            <a:ext cx="2377440" cy="960120"/>
          </a:xfrm>
          <a:prstGeom prst="rect">
            <a:avLst/>
          </a:prstGeom>
          <a:noFill/>
          <a:ln/>
        </p:spPr>
        <p:txBody>
          <a:bodyPr wrap="square" lIns="0" tIns="0" rIns="0" bIns="0" rtlCol="0" anchor="ctr"/>
          <a:lstStyle/>
          <a:p>
            <a:pPr indent="0" marL="0">
              <a:buNone/>
            </a:pPr>
            <a:r>
              <a:rPr lang="en-US" sz="1250" dirty="0">
                <a:solidFill>
                  <a:srgbClr val="1F2D3D"/>
                </a:solidFill>
                <a:latin typeface="Calibri" pitchFamily="34" charset="0"/>
                <a:ea typeface="Calibri" pitchFamily="34" charset="-122"/>
                <a:cs typeface="Calibri" pitchFamily="34" charset="-120"/>
              </a:rPr>
              <a:t>Sigue en tu propio Colab o software mientras se muestra</a:t>
            </a:r>
            <a:endParaRPr lang="en-US" sz="1250" dirty="0"/>
          </a:p>
        </p:txBody>
      </p:sp>
      <p:sp>
        <p:nvSpPr>
          <p:cNvPr id="11" name="Shape 9"/>
          <p:cNvSpPr/>
          <p:nvPr/>
        </p:nvSpPr>
        <p:spPr>
          <a:xfrm>
            <a:off x="5486400" y="2423160"/>
            <a:ext cx="3108960" cy="960120"/>
          </a:xfrm>
          <a:prstGeom prst="roundRect">
            <a:avLst>
              <a:gd name="adj" fmla="val 9524"/>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5623560" y="2697480"/>
            <a:ext cx="384048" cy="384048"/>
          </a:xfrm>
          <a:prstGeom prst="ellipse">
            <a:avLst/>
          </a:prstGeom>
          <a:solidFill>
            <a:srgbClr val="E8871E"/>
          </a:solidFill>
          <a:ln w="12700">
            <a:solidFill>
              <a:srgbClr val="E8871E"/>
            </a:solidFill>
            <a:prstDash val="solid"/>
          </a:ln>
        </p:spPr>
      </p:sp>
      <p:sp>
        <p:nvSpPr>
          <p:cNvPr id="13" name="Text 11"/>
          <p:cNvSpPr txBox="1"/>
          <p:nvPr/>
        </p:nvSpPr>
        <p:spPr>
          <a:xfrm>
            <a:off x="5623560" y="2697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126480" y="2423160"/>
            <a:ext cx="2377440" cy="960120"/>
          </a:xfrm>
          <a:prstGeom prst="rect">
            <a:avLst/>
          </a:prstGeom>
          <a:noFill/>
          <a:ln/>
        </p:spPr>
        <p:txBody>
          <a:bodyPr wrap="square" lIns="0" tIns="0" rIns="0" bIns="0" rtlCol="0" anchor="ctr"/>
          <a:lstStyle/>
          <a:p>
            <a:pPr indent="0" marL="0">
              <a:buNone/>
            </a:pPr>
            <a:r>
              <a:rPr lang="en-US" sz="1250" dirty="0">
                <a:solidFill>
                  <a:srgbClr val="1F2D3D"/>
                </a:solidFill>
                <a:latin typeface="Calibri" pitchFamily="34" charset="0"/>
                <a:ea typeface="Calibri" pitchFamily="34" charset="-122"/>
                <a:cs typeface="Calibri" pitchFamily="34" charset="-120"/>
              </a:rPr>
              <a:t>Anota tus dudas en el chat con el número de paso</a:t>
            </a:r>
            <a:endParaRPr lang="en-US" sz="1250" dirty="0"/>
          </a:p>
        </p:txBody>
      </p:sp>
      <p:sp>
        <p:nvSpPr>
          <p:cNvPr id="15" name="Shape 13"/>
          <p:cNvSpPr/>
          <p:nvPr/>
        </p:nvSpPr>
        <p:spPr>
          <a:xfrm>
            <a:off x="5486400" y="3474720"/>
            <a:ext cx="3108960" cy="960120"/>
          </a:xfrm>
          <a:prstGeom prst="roundRect">
            <a:avLst>
              <a:gd name="adj" fmla="val 9524"/>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5623560" y="3749040"/>
            <a:ext cx="384048" cy="384048"/>
          </a:xfrm>
          <a:prstGeom prst="ellipse">
            <a:avLst/>
          </a:prstGeom>
          <a:solidFill>
            <a:srgbClr val="E8871E"/>
          </a:solidFill>
          <a:ln w="12700">
            <a:solidFill>
              <a:srgbClr val="E8871E"/>
            </a:solidFill>
            <a:prstDash val="solid"/>
          </a:ln>
        </p:spPr>
      </p:sp>
      <p:sp>
        <p:nvSpPr>
          <p:cNvPr id="17" name="Text 15"/>
          <p:cNvSpPr txBox="1"/>
          <p:nvPr/>
        </p:nvSpPr>
        <p:spPr>
          <a:xfrm>
            <a:off x="5623560" y="3749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126480" y="3474720"/>
            <a:ext cx="2377440" cy="960120"/>
          </a:xfrm>
          <a:prstGeom prst="rect">
            <a:avLst/>
          </a:prstGeom>
          <a:noFill/>
          <a:ln/>
        </p:spPr>
        <p:txBody>
          <a:bodyPr wrap="square" lIns="0" tIns="0" rIns="0" bIns="0" rtlCol="0" anchor="ctr"/>
          <a:lstStyle/>
          <a:p>
            <a:pPr indent="0" marL="0">
              <a:buNone/>
            </a:pPr>
            <a:r>
              <a:rPr lang="en-US" sz="1250" dirty="0">
                <a:solidFill>
                  <a:srgbClr val="1F2D3D"/>
                </a:solidFill>
                <a:latin typeface="Calibri" pitchFamily="34" charset="0"/>
                <a:ea typeface="Calibri" pitchFamily="34" charset="-122"/>
                <a:cs typeface="Calibri" pitchFamily="34" charset="-120"/>
              </a:rPr>
              <a:t>Guarda capturas para tu entregable</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Práctica en salas virtuales</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2194560" cy="3108960"/>
          </a:xfrm>
          <a:prstGeom prst="roundRect">
            <a:avLst>
              <a:gd name="adj" fmla="val 5000"/>
            </a:avLst>
          </a:prstGeom>
          <a:solidFill>
            <a:srgbClr val="1A7F8E"/>
          </a:solidFill>
          <a:ln w="12700">
            <a:solidFill>
              <a:srgbClr val="1A7F8E"/>
            </a:solidFill>
            <a:prstDash val="solid"/>
          </a:ln>
        </p:spPr>
      </p:sp>
      <p:sp>
        <p:nvSpPr>
          <p:cNvPr id="5" name="Text 3"/>
          <p:cNvSpPr txBox="1"/>
          <p:nvPr/>
        </p:nvSpPr>
        <p:spPr>
          <a:xfrm>
            <a:off x="548640" y="1645920"/>
            <a:ext cx="2194560" cy="118872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25</a:t>
            </a:r>
            <a:endParaRPr lang="en-US" sz="6000" dirty="0"/>
          </a:p>
        </p:txBody>
      </p:sp>
      <p:sp>
        <p:nvSpPr>
          <p:cNvPr id="6" name="Text 4"/>
          <p:cNvSpPr txBox="1"/>
          <p:nvPr/>
        </p:nvSpPr>
        <p:spPr>
          <a:xfrm>
            <a:off x="548640" y="2834640"/>
            <a:ext cx="2194560" cy="91440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minutos</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salas de 4 personas</a:t>
            </a:r>
            <a:endParaRPr lang="en-US" sz="1400" dirty="0"/>
          </a:p>
        </p:txBody>
      </p:sp>
      <p:sp>
        <p:nvSpPr>
          <p:cNvPr id="7" name="Text 5"/>
          <p:cNvSpPr txBox="1"/>
          <p:nvPr/>
        </p:nvSpPr>
        <p:spPr>
          <a:xfrm>
            <a:off x="2926080" y="1371600"/>
            <a:ext cx="5669280" cy="1188720"/>
          </a:xfrm>
          <a:prstGeom prst="rect">
            <a:avLst/>
          </a:prstGeom>
          <a:noFill/>
          <a:ln/>
        </p:spPr>
        <p:txBody>
          <a:bodyPr wrap="square" lIns="0" tIns="0" rIns="0" bIns="0" rtlCol="0" anchor="t">
            <a:normAutofit/>
          </a:bodyPr>
          <a:lstStyle/>
          <a:p>
            <a:pPr indent="0" marL="0">
              <a:buNone/>
            </a:pPr>
            <a:r>
              <a:rPr lang="en-US" sz="1450" dirty="0">
                <a:solidFill>
                  <a:srgbClr val="1F2D3D"/>
                </a:solidFill>
                <a:latin typeface="Calibri" pitchFamily="34" charset="0"/>
                <a:ea typeface="Calibri" pitchFamily="34" charset="-122"/>
                <a:cs typeface="Calibri" pitchFamily="34" charset="-120"/>
              </a:rPr>
              <a:t>Salas de 4 personas: en Playground, encontrar la red mínima que clasifique el conjunto de espirales y explicar por qué funciona.</a:t>
            </a:r>
            <a:endParaRPr lang="en-US" sz="1450" dirty="0"/>
          </a:p>
        </p:txBody>
      </p:sp>
      <p:sp>
        <p:nvSpPr>
          <p:cNvPr id="8" name="Shape 6"/>
          <p:cNvSpPr/>
          <p:nvPr/>
        </p:nvSpPr>
        <p:spPr>
          <a:xfrm>
            <a:off x="2926080" y="2651760"/>
            <a:ext cx="2788920" cy="868680"/>
          </a:xfrm>
          <a:prstGeom prst="roundRect">
            <a:avLst>
              <a:gd name="adj" fmla="val 10526"/>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063240" y="2706624"/>
            <a:ext cx="2560320" cy="32004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Moderador/a</a:t>
            </a:r>
            <a:endParaRPr lang="en-US" sz="1300" dirty="0"/>
          </a:p>
        </p:txBody>
      </p:sp>
      <p:sp>
        <p:nvSpPr>
          <p:cNvPr id="10" name="Text 8"/>
          <p:cNvSpPr txBox="1"/>
          <p:nvPr/>
        </p:nvSpPr>
        <p:spPr>
          <a:xfrm>
            <a:off x="3063240" y="3035808"/>
            <a:ext cx="2560320" cy="438912"/>
          </a:xfrm>
          <a:prstGeom prst="rect">
            <a:avLst/>
          </a:prstGeom>
          <a:noFill/>
          <a:ln/>
        </p:spPr>
        <p:txBody>
          <a:bodyPr wrap="square" lIns="0" tIns="0" rIns="0" bIns="0" rtlCol="0" anchor="t"/>
          <a:lstStyle/>
          <a:p>
            <a:pPr indent="0" marL="0">
              <a:buNone/>
            </a:pPr>
            <a:r>
              <a:rPr lang="en-US" sz="1150" dirty="0">
                <a:solidFill>
                  <a:srgbClr val="4A5B6C"/>
                </a:solidFill>
                <a:latin typeface="Calibri" pitchFamily="34" charset="0"/>
                <a:ea typeface="Calibri" pitchFamily="34" charset="-122"/>
                <a:cs typeface="Calibri" pitchFamily="34" charset="-120"/>
              </a:rPr>
              <a:t>Cuida el tiempo y da la palabra.</a:t>
            </a:r>
            <a:endParaRPr lang="en-US" sz="1150" dirty="0"/>
          </a:p>
        </p:txBody>
      </p:sp>
      <p:sp>
        <p:nvSpPr>
          <p:cNvPr id="11" name="Shape 9"/>
          <p:cNvSpPr/>
          <p:nvPr/>
        </p:nvSpPr>
        <p:spPr>
          <a:xfrm>
            <a:off x="5806440" y="2651760"/>
            <a:ext cx="2788920" cy="868680"/>
          </a:xfrm>
          <a:prstGeom prst="roundRect">
            <a:avLst>
              <a:gd name="adj" fmla="val 10526"/>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5943600" y="2706624"/>
            <a:ext cx="2560320" cy="32004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Ejecutor/a</a:t>
            </a:r>
            <a:endParaRPr lang="en-US" sz="1300" dirty="0"/>
          </a:p>
        </p:txBody>
      </p:sp>
      <p:sp>
        <p:nvSpPr>
          <p:cNvPr id="13" name="Text 11"/>
          <p:cNvSpPr txBox="1"/>
          <p:nvPr/>
        </p:nvSpPr>
        <p:spPr>
          <a:xfrm>
            <a:off x="5943600" y="3035808"/>
            <a:ext cx="2560320" cy="438912"/>
          </a:xfrm>
          <a:prstGeom prst="rect">
            <a:avLst/>
          </a:prstGeom>
          <a:noFill/>
          <a:ln/>
        </p:spPr>
        <p:txBody>
          <a:bodyPr wrap="square" lIns="0" tIns="0" rIns="0" bIns="0" rtlCol="0" anchor="t"/>
          <a:lstStyle/>
          <a:p>
            <a:pPr indent="0" marL="0">
              <a:buNone/>
            </a:pPr>
            <a:r>
              <a:rPr lang="en-US" sz="1150" dirty="0">
                <a:solidFill>
                  <a:srgbClr val="4A5B6C"/>
                </a:solidFill>
                <a:latin typeface="Calibri" pitchFamily="34" charset="0"/>
                <a:ea typeface="Calibri" pitchFamily="34" charset="-122"/>
                <a:cs typeface="Calibri" pitchFamily="34" charset="-120"/>
              </a:rPr>
              <a:t>Comparte pantalla y corre el ejercicio.</a:t>
            </a:r>
            <a:endParaRPr lang="en-US" sz="1150" dirty="0"/>
          </a:p>
        </p:txBody>
      </p:sp>
      <p:sp>
        <p:nvSpPr>
          <p:cNvPr id="14" name="Shape 12"/>
          <p:cNvSpPr/>
          <p:nvPr/>
        </p:nvSpPr>
        <p:spPr>
          <a:xfrm>
            <a:off x="2926080" y="3611880"/>
            <a:ext cx="2788920" cy="868680"/>
          </a:xfrm>
          <a:prstGeom prst="roundRect">
            <a:avLst>
              <a:gd name="adj" fmla="val 10526"/>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3063240" y="3666744"/>
            <a:ext cx="2560320" cy="32004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Verificador/a</a:t>
            </a:r>
            <a:endParaRPr lang="en-US" sz="1300" dirty="0"/>
          </a:p>
        </p:txBody>
      </p:sp>
      <p:sp>
        <p:nvSpPr>
          <p:cNvPr id="16" name="Text 14"/>
          <p:cNvSpPr txBox="1"/>
          <p:nvPr/>
        </p:nvSpPr>
        <p:spPr>
          <a:xfrm>
            <a:off x="3063240" y="3995928"/>
            <a:ext cx="2560320" cy="438912"/>
          </a:xfrm>
          <a:prstGeom prst="rect">
            <a:avLst/>
          </a:prstGeom>
          <a:noFill/>
          <a:ln/>
        </p:spPr>
        <p:txBody>
          <a:bodyPr wrap="square" lIns="0" tIns="0" rIns="0" bIns="0" rtlCol="0" anchor="t"/>
          <a:lstStyle/>
          <a:p>
            <a:pPr indent="0" marL="0">
              <a:buNone/>
            </a:pPr>
            <a:r>
              <a:rPr lang="en-US" sz="1150" dirty="0">
                <a:solidFill>
                  <a:srgbClr val="4A5B6C"/>
                </a:solidFill>
                <a:latin typeface="Calibri" pitchFamily="34" charset="0"/>
                <a:ea typeface="Calibri" pitchFamily="34" charset="-122"/>
                <a:cs typeface="Calibri" pitchFamily="34" charset="-120"/>
              </a:rPr>
              <a:t>Revisa resultados y unidades.</a:t>
            </a:r>
            <a:endParaRPr lang="en-US" sz="1150" dirty="0"/>
          </a:p>
        </p:txBody>
      </p:sp>
      <p:sp>
        <p:nvSpPr>
          <p:cNvPr id="17" name="Shape 15"/>
          <p:cNvSpPr/>
          <p:nvPr/>
        </p:nvSpPr>
        <p:spPr>
          <a:xfrm>
            <a:off x="5806440" y="3611880"/>
            <a:ext cx="2788920" cy="868680"/>
          </a:xfrm>
          <a:prstGeom prst="roundRect">
            <a:avLst>
              <a:gd name="adj" fmla="val 10526"/>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5943600" y="3666744"/>
            <a:ext cx="2560320" cy="32004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Relator/a</a:t>
            </a:r>
            <a:endParaRPr lang="en-US" sz="1300" dirty="0"/>
          </a:p>
        </p:txBody>
      </p:sp>
      <p:sp>
        <p:nvSpPr>
          <p:cNvPr id="19" name="Text 17"/>
          <p:cNvSpPr txBox="1"/>
          <p:nvPr/>
        </p:nvSpPr>
        <p:spPr>
          <a:xfrm>
            <a:off x="5943600" y="3995928"/>
            <a:ext cx="2560320" cy="438912"/>
          </a:xfrm>
          <a:prstGeom prst="rect">
            <a:avLst/>
          </a:prstGeom>
          <a:noFill/>
          <a:ln/>
        </p:spPr>
        <p:txBody>
          <a:bodyPr wrap="square" lIns="0" tIns="0" rIns="0" bIns="0" rtlCol="0" anchor="t"/>
          <a:lstStyle/>
          <a:p>
            <a:pPr indent="0" marL="0">
              <a:buNone/>
            </a:pPr>
            <a:r>
              <a:rPr lang="en-US" sz="1150" dirty="0">
                <a:solidFill>
                  <a:srgbClr val="4A5B6C"/>
                </a:solidFill>
                <a:latin typeface="Calibri" pitchFamily="34" charset="0"/>
                <a:ea typeface="Calibri" pitchFamily="34" charset="-122"/>
                <a:cs typeface="Calibri" pitchFamily="34" charset="-120"/>
              </a:rPr>
              <a:t>Resume hallazgos en el documento.</a:t>
            </a:r>
            <a:endParaRPr lang="en-US" sz="11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Plenaria y discusión</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8046720" cy="1325880"/>
          </a:xfrm>
          <a:prstGeom prst="roundRect">
            <a:avLst>
              <a:gd name="adj" fmla="val 689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417320"/>
            <a:ext cx="7589520" cy="1234440"/>
          </a:xfrm>
          <a:prstGeom prst="rect">
            <a:avLst/>
          </a:prstGeom>
          <a:noFill/>
          <a:ln/>
        </p:spPr>
        <p:txBody>
          <a:bodyPr wrap="square" lIns="0" tIns="0" rIns="0" bIns="0" rtlCol="0" anchor="ctr">
            <a:normAutofit/>
          </a:bodyPr>
          <a:lstStyle/>
          <a:p>
            <a:pPr indent="0" marL="0">
              <a:buNone/>
            </a:pPr>
            <a:r>
              <a:rPr lang="en-US" sz="1500" dirty="0">
                <a:solidFill>
                  <a:srgbClr val="1F2D3D"/>
                </a:solidFill>
                <a:latin typeface="Calibri" pitchFamily="34" charset="0"/>
                <a:ea typeface="Calibri" pitchFamily="34" charset="-122"/>
                <a:cs typeface="Calibri" pitchFamily="34" charset="-120"/>
              </a:rPr>
              <a:t>Plenaria: cada sala muestra su arquitectura. Discusión sobre sobreajuste y sobre el costo de datos y cómputo.</a:t>
            </a:r>
            <a:endParaRPr lang="en-US" sz="1500" dirty="0"/>
          </a:p>
        </p:txBody>
      </p:sp>
      <p:sp>
        <p:nvSpPr>
          <p:cNvPr id="6" name="Shape 4"/>
          <p:cNvSpPr/>
          <p:nvPr/>
        </p:nvSpPr>
        <p:spPr>
          <a:xfrm>
            <a:off x="548640" y="2926080"/>
            <a:ext cx="2560320" cy="1554480"/>
          </a:xfrm>
          <a:prstGeom prst="roundRect">
            <a:avLst>
              <a:gd name="adj" fmla="val 588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685800" y="3063240"/>
            <a:ext cx="347472" cy="347472"/>
          </a:xfrm>
          <a:prstGeom prst="ellipse">
            <a:avLst/>
          </a:prstGeom>
          <a:solidFill>
            <a:srgbClr val="E8871E"/>
          </a:solidFill>
          <a:ln w="12700">
            <a:solidFill>
              <a:srgbClr val="E8871E"/>
            </a:solidFill>
            <a:prstDash val="solid"/>
          </a:ln>
        </p:spPr>
      </p:sp>
      <p:sp>
        <p:nvSpPr>
          <p:cNvPr id="8" name="Text 6"/>
          <p:cNvSpPr txBox="1"/>
          <p:nvPr/>
        </p:nvSpPr>
        <p:spPr>
          <a:xfrm>
            <a:off x="68580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43000" y="3063240"/>
            <a:ext cx="1874520" cy="347472"/>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Claridad</a:t>
            </a:r>
            <a:endParaRPr lang="en-US" sz="1300" dirty="0"/>
          </a:p>
        </p:txBody>
      </p:sp>
      <p:sp>
        <p:nvSpPr>
          <p:cNvPr id="10" name="Text 8"/>
          <p:cNvSpPr txBox="1"/>
          <p:nvPr/>
        </p:nvSpPr>
        <p:spPr>
          <a:xfrm>
            <a:off x="713232" y="3520440"/>
            <a:ext cx="2240280" cy="86868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La explicación se entiende sin ver el código.</a:t>
            </a:r>
            <a:endParaRPr lang="en-US" sz="1200" dirty="0"/>
          </a:p>
        </p:txBody>
      </p:sp>
      <p:sp>
        <p:nvSpPr>
          <p:cNvPr id="11" name="Shape 9"/>
          <p:cNvSpPr/>
          <p:nvPr/>
        </p:nvSpPr>
        <p:spPr>
          <a:xfrm>
            <a:off x="3291840" y="2926080"/>
            <a:ext cx="2560320" cy="1554480"/>
          </a:xfrm>
          <a:prstGeom prst="roundRect">
            <a:avLst>
              <a:gd name="adj" fmla="val 588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429000" y="3063240"/>
            <a:ext cx="347472" cy="347472"/>
          </a:xfrm>
          <a:prstGeom prst="ellipse">
            <a:avLst/>
          </a:prstGeom>
          <a:solidFill>
            <a:srgbClr val="E8871E"/>
          </a:solidFill>
          <a:ln w="12700">
            <a:solidFill>
              <a:srgbClr val="E8871E"/>
            </a:solidFill>
            <a:prstDash val="solid"/>
          </a:ln>
        </p:spPr>
      </p:sp>
      <p:sp>
        <p:nvSpPr>
          <p:cNvPr id="13" name="Text 11"/>
          <p:cNvSpPr txBox="1"/>
          <p:nvPr/>
        </p:nvSpPr>
        <p:spPr>
          <a:xfrm>
            <a:off x="342900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886200" y="3063240"/>
            <a:ext cx="1874520" cy="347472"/>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Evidencia</a:t>
            </a:r>
            <a:endParaRPr lang="en-US" sz="1300" dirty="0"/>
          </a:p>
        </p:txBody>
      </p:sp>
      <p:sp>
        <p:nvSpPr>
          <p:cNvPr id="15" name="Text 13"/>
          <p:cNvSpPr txBox="1"/>
          <p:nvPr/>
        </p:nvSpPr>
        <p:spPr>
          <a:xfrm>
            <a:off x="3456432" y="3520440"/>
            <a:ext cx="2240280" cy="86868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Respalda con datos, métricas o cálculos.</a:t>
            </a:r>
            <a:endParaRPr lang="en-US" sz="1200" dirty="0"/>
          </a:p>
        </p:txBody>
      </p:sp>
      <p:sp>
        <p:nvSpPr>
          <p:cNvPr id="16" name="Shape 14"/>
          <p:cNvSpPr/>
          <p:nvPr/>
        </p:nvSpPr>
        <p:spPr>
          <a:xfrm>
            <a:off x="6035040" y="2926080"/>
            <a:ext cx="2560320" cy="1554480"/>
          </a:xfrm>
          <a:prstGeom prst="roundRect">
            <a:avLst>
              <a:gd name="adj" fmla="val 588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172200" y="3063240"/>
            <a:ext cx="347472" cy="347472"/>
          </a:xfrm>
          <a:prstGeom prst="ellipse">
            <a:avLst/>
          </a:prstGeom>
          <a:solidFill>
            <a:srgbClr val="E8871E"/>
          </a:solidFill>
          <a:ln w="12700">
            <a:solidFill>
              <a:srgbClr val="E8871E"/>
            </a:solidFill>
            <a:prstDash val="solid"/>
          </a:ln>
        </p:spPr>
      </p:sp>
      <p:sp>
        <p:nvSpPr>
          <p:cNvPr id="18" name="Text 16"/>
          <p:cNvSpPr txBox="1"/>
          <p:nvPr/>
        </p:nvSpPr>
        <p:spPr>
          <a:xfrm>
            <a:off x="617220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629400" y="3063240"/>
            <a:ext cx="1874520" cy="347472"/>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Seguridad del paciente</a:t>
            </a:r>
            <a:endParaRPr lang="en-US" sz="1300" dirty="0"/>
          </a:p>
        </p:txBody>
      </p:sp>
      <p:sp>
        <p:nvSpPr>
          <p:cNvPr id="20" name="Text 18"/>
          <p:cNvSpPr txBox="1"/>
          <p:nvPr/>
        </p:nvSpPr>
        <p:spPr>
          <a:xfrm>
            <a:off x="6199632" y="3520440"/>
            <a:ext cx="2240280" cy="86868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Considera el riesgo de equivocarse.</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Quiz de cierre (Google Forms)</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25880"/>
            <a:ext cx="8046720" cy="566928"/>
          </a:xfrm>
          <a:prstGeom prst="roundRect">
            <a:avLst>
              <a:gd name="adj" fmla="val 1612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426464"/>
            <a:ext cx="365760" cy="365760"/>
          </a:xfrm>
          <a:prstGeom prst="ellipse">
            <a:avLst/>
          </a:prstGeom>
          <a:solidFill>
            <a:srgbClr val="1A7F8E"/>
          </a:solidFill>
          <a:ln w="12700">
            <a:solidFill>
              <a:srgbClr val="1A7F8E"/>
            </a:solidFill>
            <a:prstDash val="solid"/>
          </a:ln>
        </p:spPr>
      </p:sp>
      <p:sp>
        <p:nvSpPr>
          <p:cNvPr id="6" name="Text 4"/>
          <p:cNvSpPr txBox="1"/>
          <p:nvPr/>
        </p:nvSpPr>
        <p:spPr>
          <a:xfrm>
            <a:off x="685800" y="14264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88720" y="1325880"/>
            <a:ext cx="7315200" cy="566928"/>
          </a:xfrm>
          <a:prstGeom prst="rect">
            <a:avLst/>
          </a:prstGeom>
          <a:noFill/>
          <a:ln/>
        </p:spPr>
        <p:txBody>
          <a:bodyPr wrap="square" lIns="0" tIns="0" rIns="0" bIns="0" rtlCol="0" anchor="ctr">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¿Qué calcula una neurona artificial?</a:t>
            </a:r>
            <a:endParaRPr lang="en-US" sz="1300" dirty="0"/>
          </a:p>
        </p:txBody>
      </p:sp>
      <p:sp>
        <p:nvSpPr>
          <p:cNvPr id="8" name="Shape 6"/>
          <p:cNvSpPr/>
          <p:nvPr/>
        </p:nvSpPr>
        <p:spPr>
          <a:xfrm>
            <a:off x="548640" y="1965960"/>
            <a:ext cx="8046720" cy="566928"/>
          </a:xfrm>
          <a:prstGeom prst="roundRect">
            <a:avLst>
              <a:gd name="adj" fmla="val 1612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685800" y="2066544"/>
            <a:ext cx="365760" cy="365760"/>
          </a:xfrm>
          <a:prstGeom prst="ellipse">
            <a:avLst/>
          </a:prstGeom>
          <a:solidFill>
            <a:srgbClr val="2E6DA4"/>
          </a:solidFill>
          <a:ln w="12700">
            <a:solidFill>
              <a:srgbClr val="2E6DA4"/>
            </a:solidFill>
            <a:prstDash val="solid"/>
          </a:ln>
        </p:spPr>
      </p:sp>
      <p:sp>
        <p:nvSpPr>
          <p:cNvPr id="10" name="Text 8"/>
          <p:cNvSpPr txBox="1"/>
          <p:nvPr/>
        </p:nvSpPr>
        <p:spPr>
          <a:xfrm>
            <a:off x="685800" y="2066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88720" y="1965960"/>
            <a:ext cx="7315200" cy="566928"/>
          </a:xfrm>
          <a:prstGeom prst="rect">
            <a:avLst/>
          </a:prstGeom>
          <a:noFill/>
          <a:ln/>
        </p:spPr>
        <p:txBody>
          <a:bodyPr wrap="square" lIns="0" tIns="0" rIns="0" bIns="0" rtlCol="0" anchor="ctr">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¿Qué hace ReLU con un valor negativo?</a:t>
            </a:r>
            <a:endParaRPr lang="en-US" sz="1300" dirty="0"/>
          </a:p>
        </p:txBody>
      </p:sp>
      <p:sp>
        <p:nvSpPr>
          <p:cNvPr id="12" name="Shape 10"/>
          <p:cNvSpPr/>
          <p:nvPr/>
        </p:nvSpPr>
        <p:spPr>
          <a:xfrm>
            <a:off x="548640" y="2606040"/>
            <a:ext cx="8046720" cy="566928"/>
          </a:xfrm>
          <a:prstGeom prst="roundRect">
            <a:avLst>
              <a:gd name="adj" fmla="val 1612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685800" y="2706624"/>
            <a:ext cx="365760" cy="365760"/>
          </a:xfrm>
          <a:prstGeom prst="ellipse">
            <a:avLst/>
          </a:prstGeom>
          <a:solidFill>
            <a:srgbClr val="E8871E"/>
          </a:solidFill>
          <a:ln w="12700">
            <a:solidFill>
              <a:srgbClr val="E8871E"/>
            </a:solidFill>
            <a:prstDash val="solid"/>
          </a:ln>
        </p:spPr>
      </p:sp>
      <p:sp>
        <p:nvSpPr>
          <p:cNvPr id="14" name="Text 12"/>
          <p:cNvSpPr txBox="1"/>
          <p:nvPr/>
        </p:nvSpPr>
        <p:spPr>
          <a:xfrm>
            <a:off x="685800" y="27066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88720" y="2606040"/>
            <a:ext cx="7315200" cy="566928"/>
          </a:xfrm>
          <a:prstGeom prst="rect">
            <a:avLst/>
          </a:prstGeom>
          <a:noFill/>
          <a:ln/>
        </p:spPr>
        <p:txBody>
          <a:bodyPr wrap="square" lIns="0" tIns="0" rIns="0" bIns="0" rtlCol="0" anchor="ctr">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¿Qué significa η en el descenso del gradiente?</a:t>
            </a:r>
            <a:endParaRPr lang="en-US" sz="1300" dirty="0"/>
          </a:p>
        </p:txBody>
      </p:sp>
      <p:sp>
        <p:nvSpPr>
          <p:cNvPr id="16" name="Shape 14"/>
          <p:cNvSpPr/>
          <p:nvPr/>
        </p:nvSpPr>
        <p:spPr>
          <a:xfrm>
            <a:off x="548640" y="3246120"/>
            <a:ext cx="8046720" cy="566928"/>
          </a:xfrm>
          <a:prstGeom prst="roundRect">
            <a:avLst>
              <a:gd name="adj" fmla="val 1612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85800" y="3346704"/>
            <a:ext cx="365760" cy="365760"/>
          </a:xfrm>
          <a:prstGeom prst="ellipse">
            <a:avLst/>
          </a:prstGeom>
          <a:solidFill>
            <a:srgbClr val="7A4E9C"/>
          </a:solidFill>
          <a:ln w="12700">
            <a:solidFill>
              <a:srgbClr val="7A4E9C"/>
            </a:solidFill>
            <a:prstDash val="solid"/>
          </a:ln>
        </p:spPr>
      </p:sp>
      <p:sp>
        <p:nvSpPr>
          <p:cNvPr id="18" name="Text 16"/>
          <p:cNvSpPr txBox="1"/>
          <p:nvPr/>
        </p:nvSpPr>
        <p:spPr>
          <a:xfrm>
            <a:off x="685800" y="33467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188720" y="3246120"/>
            <a:ext cx="7315200" cy="566928"/>
          </a:xfrm>
          <a:prstGeom prst="rect">
            <a:avLst/>
          </a:prstGeom>
          <a:noFill/>
          <a:ln/>
        </p:spPr>
        <p:txBody>
          <a:bodyPr wrap="square" lIns="0" tIns="0" rIns="0" bIns="0" rtlCol="0" anchor="ctr">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¿Para qué sirve la retropropagación?</a:t>
            </a:r>
            <a:endParaRPr lang="en-US" sz="1300" dirty="0"/>
          </a:p>
        </p:txBody>
      </p:sp>
      <p:sp>
        <p:nvSpPr>
          <p:cNvPr id="20" name="Shape 18"/>
          <p:cNvSpPr/>
          <p:nvPr/>
        </p:nvSpPr>
        <p:spPr>
          <a:xfrm>
            <a:off x="548640" y="3886200"/>
            <a:ext cx="8046720" cy="566928"/>
          </a:xfrm>
          <a:prstGeom prst="roundRect">
            <a:avLst>
              <a:gd name="adj" fmla="val 1612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685800" y="3986784"/>
            <a:ext cx="365760" cy="365760"/>
          </a:xfrm>
          <a:prstGeom prst="ellipse">
            <a:avLst/>
          </a:prstGeom>
          <a:solidFill>
            <a:srgbClr val="C0392B"/>
          </a:solidFill>
          <a:ln w="12700">
            <a:solidFill>
              <a:srgbClr val="C0392B"/>
            </a:solidFill>
            <a:prstDash val="solid"/>
          </a:ln>
        </p:spPr>
      </p:sp>
      <p:sp>
        <p:nvSpPr>
          <p:cNvPr id="22" name="Text 20"/>
          <p:cNvSpPr txBox="1"/>
          <p:nvPr/>
        </p:nvSpPr>
        <p:spPr>
          <a:xfrm>
            <a:off x="685800" y="39867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188720" y="3886200"/>
            <a:ext cx="7315200" cy="566928"/>
          </a:xfrm>
          <a:prstGeom prst="rect">
            <a:avLst/>
          </a:prstGeom>
          <a:noFill/>
          <a:ln/>
        </p:spPr>
        <p:txBody>
          <a:bodyPr wrap="square" lIns="0" tIns="0" rIns="0" bIns="0" rtlCol="0" anchor="ctr">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Da un caso donde un modelo clásico es mejor que deep learning.</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Resumen de la clase de hoy</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E8871E"/>
          </a:solidFill>
          <a:ln w="12700">
            <a:solidFill>
              <a:srgbClr val="E8871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31520" y="2103120"/>
            <a:ext cx="2194560" cy="2286000"/>
          </a:xfrm>
          <a:prstGeom prst="rect">
            <a:avLst/>
          </a:prstGeom>
          <a:noFill/>
          <a:ln/>
        </p:spPr>
        <p:txBody>
          <a:bodyPr wrap="square" lIns="0" tIns="0" rIns="0" bIns="0" rtlCol="0" anchor="t"/>
          <a:lstStyle/>
          <a:p>
            <a:pPr indent="0" marL="0">
              <a:buNone/>
            </a:pPr>
            <a:r>
              <a:rPr lang="en-US" sz="1450" dirty="0">
                <a:solidFill>
                  <a:srgbClr val="1F2D3D"/>
                </a:solidFill>
                <a:latin typeface="Calibri" pitchFamily="34" charset="0"/>
                <a:ea typeface="Calibri" pitchFamily="34" charset="-122"/>
                <a:cs typeface="Calibri" pitchFamily="34" charset="-120"/>
              </a:rPr>
              <a:t>Una neurona calcula una suma ponderada y aplica una función de activación.</a:t>
            </a:r>
            <a:endParaRPr lang="en-US" sz="1450" dirty="0"/>
          </a:p>
        </p:txBody>
      </p:sp>
      <p:sp>
        <p:nvSpPr>
          <p:cNvPr id="8" name="Shape 6"/>
          <p:cNvSpPr/>
          <p:nvPr/>
        </p:nvSpPr>
        <p:spPr>
          <a:xfrm>
            <a:off x="32918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3456432" y="1536192"/>
            <a:ext cx="384048" cy="384048"/>
          </a:xfrm>
          <a:prstGeom prst="ellipse">
            <a:avLst/>
          </a:prstGeom>
          <a:solidFill>
            <a:srgbClr val="E8871E"/>
          </a:solidFill>
          <a:ln w="12700">
            <a:solidFill>
              <a:srgbClr val="E8871E"/>
            </a:solidFill>
            <a:prstDash val="solid"/>
          </a:ln>
        </p:spPr>
      </p:sp>
      <p:sp>
        <p:nvSpPr>
          <p:cNvPr id="10" name="Text 8"/>
          <p:cNvSpPr txBox="1"/>
          <p:nvPr/>
        </p:nvSpPr>
        <p:spPr>
          <a:xfrm>
            <a:off x="34564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3474720" y="2103120"/>
            <a:ext cx="2194560" cy="2286000"/>
          </a:xfrm>
          <a:prstGeom prst="rect">
            <a:avLst/>
          </a:prstGeom>
          <a:noFill/>
          <a:ln/>
        </p:spPr>
        <p:txBody>
          <a:bodyPr wrap="square" lIns="0" tIns="0" rIns="0" bIns="0" rtlCol="0" anchor="t"/>
          <a:lstStyle/>
          <a:p>
            <a:pPr indent="0" marL="0">
              <a:buNone/>
            </a:pPr>
            <a:r>
              <a:rPr lang="en-US" sz="1450" dirty="0">
                <a:solidFill>
                  <a:srgbClr val="1F2D3D"/>
                </a:solidFill>
                <a:latin typeface="Calibri" pitchFamily="34" charset="0"/>
                <a:ea typeface="Calibri" pitchFamily="34" charset="-122"/>
                <a:cs typeface="Calibri" pitchFamily="34" charset="-120"/>
              </a:rPr>
              <a:t>La red aprende al reducir la pérdida con descenso del gradiente y retropropagación.</a:t>
            </a:r>
            <a:endParaRPr lang="en-US" sz="1450" dirty="0"/>
          </a:p>
        </p:txBody>
      </p:sp>
      <p:sp>
        <p:nvSpPr>
          <p:cNvPr id="12" name="Shape 10"/>
          <p:cNvSpPr/>
          <p:nvPr/>
        </p:nvSpPr>
        <p:spPr>
          <a:xfrm>
            <a:off x="60350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6199632" y="1536192"/>
            <a:ext cx="384048" cy="384048"/>
          </a:xfrm>
          <a:prstGeom prst="ellipse">
            <a:avLst/>
          </a:prstGeom>
          <a:solidFill>
            <a:srgbClr val="E8871E"/>
          </a:solidFill>
          <a:ln w="12700">
            <a:solidFill>
              <a:srgbClr val="E8871E"/>
            </a:solidFill>
            <a:prstDash val="solid"/>
          </a:ln>
        </p:spPr>
      </p:sp>
      <p:sp>
        <p:nvSpPr>
          <p:cNvPr id="14" name="Text 12"/>
          <p:cNvSpPr txBox="1"/>
          <p:nvPr/>
        </p:nvSpPr>
        <p:spPr>
          <a:xfrm>
            <a:off x="61996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6217920" y="2103120"/>
            <a:ext cx="2194560" cy="2286000"/>
          </a:xfrm>
          <a:prstGeom prst="rect">
            <a:avLst/>
          </a:prstGeom>
          <a:noFill/>
          <a:ln/>
        </p:spPr>
        <p:txBody>
          <a:bodyPr wrap="square" lIns="0" tIns="0" rIns="0" bIns="0" rtlCol="0" anchor="t"/>
          <a:lstStyle/>
          <a:p>
            <a:pPr indent="0" marL="0">
              <a:buNone/>
            </a:pPr>
            <a:r>
              <a:rPr lang="en-US" sz="1450" dirty="0">
                <a:solidFill>
                  <a:srgbClr val="1F2D3D"/>
                </a:solidFill>
                <a:latin typeface="Calibri" pitchFamily="34" charset="0"/>
                <a:ea typeface="Calibri" pitchFamily="34" charset="-122"/>
                <a:cs typeface="Calibri" pitchFamily="34" charset="-120"/>
              </a:rPr>
              <a:t>Tasa de aprendizaje, capas y épocas son hiperparámetros que se ajustan con validación.</a:t>
            </a:r>
            <a:endParaRPr lang="en-US" sz="14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Después de la clase: tarea</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508760"/>
            <a:ext cx="1051560" cy="256032"/>
          </a:xfrm>
          <a:prstGeom prst="roundRect">
            <a:avLst>
              <a:gd name="adj" fmla="val 50000"/>
            </a:avLst>
          </a:prstGeom>
          <a:solidFill>
            <a:srgbClr val="E8871E"/>
          </a:solidFill>
          <a:ln w="12700">
            <a:solidFill>
              <a:srgbClr val="E8871E"/>
            </a:solidFill>
            <a:prstDash val="solid"/>
          </a:ln>
        </p:spPr>
      </p:sp>
      <p:sp>
        <p:nvSpPr>
          <p:cNvPr id="6" name="Text 4"/>
          <p:cNvSpPr txBox="1"/>
          <p:nvPr/>
        </p:nvSpPr>
        <p:spPr>
          <a:xfrm>
            <a:off x="6858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Aplicar</a:t>
            </a:r>
            <a:endParaRPr lang="en-US" sz="1000" dirty="0"/>
          </a:p>
        </p:txBody>
      </p:sp>
      <p:sp>
        <p:nvSpPr>
          <p:cNvPr id="7" name="Text 5"/>
          <p:cNvSpPr txBox="1"/>
          <p:nvPr/>
        </p:nvSpPr>
        <p:spPr>
          <a:xfrm>
            <a:off x="19202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45 min</a:t>
            </a:r>
            <a:endParaRPr lang="en-US" sz="1100" dirty="0"/>
          </a:p>
        </p:txBody>
      </p:sp>
      <p:sp>
        <p:nvSpPr>
          <p:cNvPr id="8" name="Text 6"/>
          <p:cNvSpPr txBox="1"/>
          <p:nvPr/>
        </p:nvSpPr>
        <p:spPr>
          <a:xfrm>
            <a:off x="7132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Entrenar una red multicapa de scikit-learn en un conjunto tabular y comparar con k-vecinos</a:t>
            </a:r>
            <a:endParaRPr lang="en-US" sz="1300" dirty="0"/>
          </a:p>
        </p:txBody>
      </p:sp>
      <p:sp>
        <p:nvSpPr>
          <p:cNvPr id="9" name="Text 7"/>
          <p:cNvSpPr txBox="1"/>
          <p:nvPr/>
        </p:nvSpPr>
        <p:spPr>
          <a:xfrm>
            <a:off x="7132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Cuaderno con tabla de comparación</a:t>
            </a:r>
            <a:endParaRPr lang="en-US" sz="1100" dirty="0"/>
          </a:p>
        </p:txBody>
      </p:sp>
      <p:sp>
        <p:nvSpPr>
          <p:cNvPr id="10" name="Shape 8"/>
          <p:cNvSpPr/>
          <p:nvPr/>
        </p:nvSpPr>
        <p:spPr>
          <a:xfrm>
            <a:off x="32918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3429000" y="1508760"/>
            <a:ext cx="1051560" cy="256032"/>
          </a:xfrm>
          <a:prstGeom prst="roundRect">
            <a:avLst>
              <a:gd name="adj" fmla="val 50000"/>
            </a:avLst>
          </a:prstGeom>
          <a:solidFill>
            <a:srgbClr val="C0392B"/>
          </a:solidFill>
          <a:ln w="12700">
            <a:solidFill>
              <a:srgbClr val="C0392B"/>
            </a:solidFill>
            <a:prstDash val="solid"/>
          </a:ln>
        </p:spPr>
      </p:sp>
      <p:sp>
        <p:nvSpPr>
          <p:cNvPr id="12" name="Text 10"/>
          <p:cNvSpPr txBox="1"/>
          <p:nvPr/>
        </p:nvSpPr>
        <p:spPr>
          <a:xfrm>
            <a:off x="34290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Evaluar</a:t>
            </a:r>
            <a:endParaRPr lang="en-US" sz="1000" dirty="0"/>
          </a:p>
        </p:txBody>
      </p:sp>
      <p:sp>
        <p:nvSpPr>
          <p:cNvPr id="13" name="Text 11"/>
          <p:cNvSpPr txBox="1"/>
          <p:nvPr/>
        </p:nvSpPr>
        <p:spPr>
          <a:xfrm>
            <a:off x="46634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25 min</a:t>
            </a:r>
            <a:endParaRPr lang="en-US" sz="1100" dirty="0"/>
          </a:p>
        </p:txBody>
      </p:sp>
      <p:sp>
        <p:nvSpPr>
          <p:cNvPr id="14" name="Text 12"/>
          <p:cNvSpPr txBox="1"/>
          <p:nvPr/>
        </p:nvSpPr>
        <p:spPr>
          <a:xfrm>
            <a:off x="34564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Escribir cuándo usarías una red profunda y cuándo un modelo clásico</a:t>
            </a:r>
            <a:endParaRPr lang="en-US" sz="1300" dirty="0"/>
          </a:p>
        </p:txBody>
      </p:sp>
      <p:sp>
        <p:nvSpPr>
          <p:cNvPr id="15" name="Text 13"/>
          <p:cNvSpPr txBox="1"/>
          <p:nvPr/>
        </p:nvSpPr>
        <p:spPr>
          <a:xfrm>
            <a:off x="34564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Texto de media página</a:t>
            </a:r>
            <a:endParaRPr lang="en-US" sz="1100" dirty="0"/>
          </a:p>
        </p:txBody>
      </p:sp>
      <p:sp>
        <p:nvSpPr>
          <p:cNvPr id="16" name="Shape 14"/>
          <p:cNvSpPr/>
          <p:nvPr/>
        </p:nvSpPr>
        <p:spPr>
          <a:xfrm>
            <a:off x="60350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172200" y="1508760"/>
            <a:ext cx="1051560" cy="256032"/>
          </a:xfrm>
          <a:prstGeom prst="roundRect">
            <a:avLst>
              <a:gd name="adj" fmla="val 50000"/>
            </a:avLst>
          </a:prstGeom>
          <a:solidFill>
            <a:srgbClr val="2E8B57"/>
          </a:solidFill>
          <a:ln w="12700">
            <a:solidFill>
              <a:srgbClr val="2E8B57"/>
            </a:solidFill>
            <a:prstDash val="solid"/>
          </a:ln>
        </p:spPr>
      </p:sp>
      <p:sp>
        <p:nvSpPr>
          <p:cNvPr id="18" name="Text 16"/>
          <p:cNvSpPr txBox="1"/>
          <p:nvPr/>
        </p:nvSpPr>
        <p:spPr>
          <a:xfrm>
            <a:off x="61722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Crear</a:t>
            </a:r>
            <a:endParaRPr lang="en-US" sz="1000" dirty="0"/>
          </a:p>
        </p:txBody>
      </p:sp>
      <p:sp>
        <p:nvSpPr>
          <p:cNvPr id="19" name="Text 17"/>
          <p:cNvSpPr txBox="1"/>
          <p:nvPr/>
        </p:nvSpPr>
        <p:spPr>
          <a:xfrm>
            <a:off x="74066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20 min</a:t>
            </a:r>
            <a:endParaRPr lang="en-US" sz="1100" dirty="0"/>
          </a:p>
        </p:txBody>
      </p:sp>
      <p:sp>
        <p:nvSpPr>
          <p:cNvPr id="20" name="Text 18"/>
          <p:cNvSpPr txBox="1"/>
          <p:nvPr/>
        </p:nvSpPr>
        <p:spPr>
          <a:xfrm>
            <a:off x="61996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Dibujar una arquitectura de red para clasificar latidos de ECG</a:t>
            </a:r>
            <a:endParaRPr lang="en-US" sz="1300" dirty="0"/>
          </a:p>
        </p:txBody>
      </p:sp>
      <p:sp>
        <p:nvSpPr>
          <p:cNvPr id="21" name="Text 19"/>
          <p:cNvSpPr txBox="1"/>
          <p:nvPr/>
        </p:nvSpPr>
        <p:spPr>
          <a:xfrm>
            <a:off x="61996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Diagrama con dimensiones de cada capa</a:t>
            </a:r>
            <a:endParaRPr lang="en-US" sz="11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Recursos y enlaces de la sesión</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548640" y="1280160"/>
            <a:ext cx="8046720" cy="512064"/>
          </a:xfrm>
          <a:prstGeom prst="roundRect">
            <a:avLst>
              <a:gd name="adj" fmla="val 1785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280160"/>
            <a:ext cx="7772400" cy="512064"/>
          </a:xfrm>
          <a:prstGeom prst="rect">
            <a:avLst/>
          </a:prstGeom>
          <a:noFill/>
          <a:ln/>
        </p:spPr>
        <p:txBody>
          <a:bodyPr wrap="square" lIns="0" tIns="0" rIns="0" bIns="0" rtlCol="0" anchor="ctr">
            <a:normAutofit/>
          </a:bodyPr>
          <a:lstStyle/>
          <a:p>
            <a:pPr indent="0" marL="0">
              <a:buNone/>
            </a:pPr>
            <a:r>
              <a:rPr lang="en-US" sz="1100" b="1" dirty="0">
                <a:solidFill>
                  <a:srgbClr val="0B2545"/>
                </a:solidFill>
                <a:latin typeface="Calibri" pitchFamily="34" charset="0"/>
                <a:ea typeface="Calibri" pitchFamily="34" charset="-122"/>
                <a:cs typeface="Calibri" pitchFamily="34" charset="-120"/>
              </a:rPr>
              <a:t>Machine Learning Crash Course (Google)</a:t>
            </a:r>
            <a:endParaRPr lang="en-US" sz="1100" dirty="0"/>
          </a:p>
          <a:p>
            <a:pPr indent="0" marL="0">
              <a:buNone/>
            </a:pPr>
            <a:r>
              <a:rPr lang="en-US" sz="9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https://developers.google.com/machine-learning/crash-course</a:t>
            </a:r>
            <a:endParaRPr lang="en-US" sz="1100" dirty="0"/>
          </a:p>
        </p:txBody>
      </p:sp>
      <p:sp>
        <p:nvSpPr>
          <p:cNvPr id="6" name="Shape 4"/>
          <p:cNvSpPr/>
          <p:nvPr/>
        </p:nvSpPr>
        <p:spPr>
          <a:xfrm>
            <a:off x="548640" y="1883664"/>
            <a:ext cx="8046720" cy="512064"/>
          </a:xfrm>
          <a:prstGeom prst="roundRect">
            <a:avLst>
              <a:gd name="adj" fmla="val 1785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685800" y="1883664"/>
            <a:ext cx="7772400" cy="512064"/>
          </a:xfrm>
          <a:prstGeom prst="rect">
            <a:avLst/>
          </a:prstGeom>
          <a:noFill/>
          <a:ln/>
        </p:spPr>
        <p:txBody>
          <a:bodyPr wrap="square" lIns="0" tIns="0" rIns="0" bIns="0" rtlCol="0" anchor="ctr">
            <a:normAutofit/>
          </a:bodyPr>
          <a:lstStyle/>
          <a:p>
            <a:pPr indent="0" marL="0">
              <a:buNone/>
            </a:pPr>
            <a:r>
              <a:rPr lang="en-US" sz="1100" b="1" dirty="0">
                <a:solidFill>
                  <a:srgbClr val="0B2545"/>
                </a:solidFill>
                <a:latin typeface="Calibri" pitchFamily="34" charset="0"/>
                <a:ea typeface="Calibri" pitchFamily="34" charset="-122"/>
                <a:cs typeface="Calibri" pitchFamily="34" charset="-120"/>
              </a:rPr>
              <a:t>TensorFlow Playground</a:t>
            </a:r>
            <a:endParaRPr lang="en-US" sz="1100" dirty="0"/>
          </a:p>
          <a:p>
            <a:pPr indent="0" marL="0">
              <a:buNone/>
            </a:pPr>
            <a:r>
              <a:rPr lang="en-US" sz="9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https://playground.tensorflow.org/</a:t>
            </a:r>
            <a:endParaRPr lang="en-US" sz="1100" dirty="0"/>
          </a:p>
        </p:txBody>
      </p:sp>
      <p:sp>
        <p:nvSpPr>
          <p:cNvPr id="8" name="Shape 6"/>
          <p:cNvSpPr/>
          <p:nvPr/>
        </p:nvSpPr>
        <p:spPr>
          <a:xfrm>
            <a:off x="548640" y="2487168"/>
            <a:ext cx="8046720" cy="512064"/>
          </a:xfrm>
          <a:prstGeom prst="roundRect">
            <a:avLst>
              <a:gd name="adj" fmla="val 1785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685800" y="2487168"/>
            <a:ext cx="7772400" cy="512064"/>
          </a:xfrm>
          <a:prstGeom prst="rect">
            <a:avLst/>
          </a:prstGeom>
          <a:noFill/>
          <a:ln/>
        </p:spPr>
        <p:txBody>
          <a:bodyPr wrap="square" lIns="0" tIns="0" rIns="0" bIns="0" rtlCol="0" anchor="ctr">
            <a:normAutofit/>
          </a:bodyPr>
          <a:lstStyle/>
          <a:p>
            <a:pPr indent="0" marL="0">
              <a:buNone/>
            </a:pPr>
            <a:r>
              <a:rPr lang="en-US" sz="1100" b="1" dirty="0">
                <a:solidFill>
                  <a:srgbClr val="0B2545"/>
                </a:solidFill>
                <a:latin typeface="Calibri" pitchFamily="34" charset="0"/>
                <a:ea typeface="Calibri" pitchFamily="34" charset="-122"/>
                <a:cs typeface="Calibri" pitchFamily="34" charset="-120"/>
              </a:rPr>
              <a:t>scikit-learn: Redes neuronales supervisadas</a:t>
            </a:r>
            <a:endParaRPr lang="en-US" sz="1100" dirty="0"/>
          </a:p>
          <a:p>
            <a:pPr indent="0" marL="0">
              <a:buNone/>
            </a:pPr>
            <a:r>
              <a:rPr lang="en-US" sz="9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https://scikit-learn.org/stable/modules/neural_networks_supervised.html</a:t>
            </a:r>
            <a:endParaRPr lang="en-US" sz="1100" dirty="0"/>
          </a:p>
        </p:txBody>
      </p:sp>
      <p:sp>
        <p:nvSpPr>
          <p:cNvPr id="10" name="Shape 8"/>
          <p:cNvSpPr/>
          <p:nvPr/>
        </p:nvSpPr>
        <p:spPr>
          <a:xfrm>
            <a:off x="548640" y="3090672"/>
            <a:ext cx="8046720" cy="512064"/>
          </a:xfrm>
          <a:prstGeom prst="roundRect">
            <a:avLst>
              <a:gd name="adj" fmla="val 1785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85800" y="3090672"/>
            <a:ext cx="7772400" cy="512064"/>
          </a:xfrm>
          <a:prstGeom prst="rect">
            <a:avLst/>
          </a:prstGeom>
          <a:noFill/>
          <a:ln/>
        </p:spPr>
        <p:txBody>
          <a:bodyPr wrap="square" lIns="0" tIns="0" rIns="0" bIns="0" rtlCol="0" anchor="ctr">
            <a:normAutofit/>
          </a:bodyPr>
          <a:lstStyle/>
          <a:p>
            <a:pPr indent="0" marL="0">
              <a:buNone/>
            </a:pPr>
            <a:r>
              <a:rPr lang="en-US" sz="1100" b="1" dirty="0">
                <a:solidFill>
                  <a:srgbClr val="0B2545"/>
                </a:solidFill>
                <a:latin typeface="Calibri" pitchFamily="34" charset="0"/>
                <a:ea typeface="Calibri" pitchFamily="34" charset="-122"/>
                <a:cs typeface="Calibri" pitchFamily="34" charset="-120"/>
              </a:rPr>
              <a:t>Google Colab</a:t>
            </a:r>
            <a:endParaRPr lang="en-US" sz="1100" dirty="0"/>
          </a:p>
          <a:p>
            <a:pPr indent="0" marL="0">
              <a:buNone/>
            </a:pPr>
            <a:r>
              <a:rPr lang="en-US" sz="90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https://colab.research.google.com/</a:t>
            </a:r>
            <a:endParaRPr lang="en-US" sz="1100" dirty="0"/>
          </a:p>
        </p:txBody>
      </p:sp>
      <p:sp>
        <p:nvSpPr>
          <p:cNvPr id="12" name="Text 10"/>
          <p:cNvSpPr txBox="1"/>
          <p:nvPr/>
        </p:nvSpPr>
        <p:spPr>
          <a:xfrm>
            <a:off x="548640" y="4526280"/>
            <a:ext cx="8046720" cy="201168"/>
          </a:xfrm>
          <a:prstGeom prst="rect">
            <a:avLst/>
          </a:prstGeom>
          <a:noFill/>
          <a:ln/>
        </p:spPr>
        <p:txBody>
          <a:bodyPr wrap="square" lIns="0" tIns="0" rIns="0" bIns="0" rtlCol="0" anchor="ctr"/>
          <a:lstStyle/>
          <a:p>
            <a:pPr indent="0" marL="0">
              <a:buNone/>
            </a:pPr>
            <a:r>
              <a:rPr lang="en-US" sz="900" i="1" dirty="0">
                <a:solidFill>
                  <a:srgbClr val="7A8B9C"/>
                </a:solidFill>
                <a:latin typeface="Calibri" pitchFamily="34" charset="0"/>
                <a:ea typeface="Calibri" pitchFamily="34" charset="-122"/>
                <a:cs typeface="Calibri" pitchFamily="34" charset="-120"/>
              </a:rPr>
              <a:t>Enlaces confirmados por búsqueda web el 30/09/2026; ábrelos una vez antes de la clase.</a:t>
            </a:r>
            <a:endParaRPr lang="en-US" sz="9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Cambria" pitchFamily="34" charset="0"/>
                <a:ea typeface="Cambria" pitchFamily="34" charset="-122"/>
                <a:cs typeface="Cambria" pitchFamily="34" charset="-120"/>
              </a:rPr>
              <a:t>Próxima clase: Semana 9</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SISTEMAS BIOMECATRONICOS  ·  Semana 8</a:t>
            </a:r>
            <a:endParaRPr lang="en-US" sz="900" dirty="0"/>
          </a:p>
        </p:txBody>
      </p:sp>
      <p:sp>
        <p:nvSpPr>
          <p:cNvPr id="4" name="Shape 2"/>
          <p:cNvSpPr/>
          <p:nvPr/>
        </p:nvSpPr>
        <p:spPr>
          <a:xfrm>
            <a:off x="6949440" y="-914400"/>
            <a:ext cx="3291840" cy="3291840"/>
          </a:xfrm>
          <a:prstGeom prst="ellipse">
            <a:avLst/>
          </a:prstGeom>
          <a:solidFill>
            <a:srgbClr val="13334F"/>
          </a:solidFill>
          <a:ln w="12700">
            <a:solidFill>
              <a:srgbClr val="13334F"/>
            </a:solidFill>
            <a:prstDash val="solid"/>
          </a:ln>
        </p:spPr>
      </p:sp>
      <p:sp>
        <p:nvSpPr>
          <p:cNvPr id="5" name="Shape 3"/>
          <p:cNvSpPr/>
          <p:nvPr/>
        </p:nvSpPr>
        <p:spPr>
          <a:xfrm>
            <a:off x="7498080" y="3017520"/>
            <a:ext cx="2194560" cy="2194560"/>
          </a:xfrm>
          <a:prstGeom prst="ellipse">
            <a:avLst/>
          </a:prstGeom>
          <a:solidFill>
            <a:srgbClr val="1A7F8E">
              <a:alpha val="45000"/>
            </a:srgbClr>
          </a:solidFill>
          <a:ln w="12700">
            <a:solidFill>
              <a:srgbClr val="1A7F8E"/>
            </a:solidFill>
            <a:prstDash val="solid"/>
          </a:ln>
        </p:spPr>
      </p:sp>
      <p:sp>
        <p:nvSpPr>
          <p:cNvPr id="6" name="Text 4"/>
          <p:cNvSpPr txBox="1"/>
          <p:nvPr/>
        </p:nvSpPr>
        <p:spPr>
          <a:xfrm>
            <a:off x="548640" y="1280160"/>
            <a:ext cx="6583680" cy="731520"/>
          </a:xfrm>
          <a:prstGeom prst="rect">
            <a:avLst/>
          </a:prstGeom>
          <a:noFill/>
          <a:ln/>
        </p:spPr>
        <p:txBody>
          <a:bodyPr wrap="square" lIns="0" tIns="0" rIns="0" bIns="0" rtlCol="0" anchor="ctr">
            <a:normAutofit/>
          </a:bodyPr>
          <a:lstStyle/>
          <a:p>
            <a:pPr indent="0" marL="0">
              <a:buNone/>
            </a:pPr>
            <a:r>
              <a:rPr lang="en-US" sz="2000" b="1" dirty="0">
                <a:solidFill>
                  <a:srgbClr val="CFE8EC"/>
                </a:solidFill>
                <a:latin typeface="Calibri" pitchFamily="34" charset="0"/>
                <a:ea typeface="Calibri" pitchFamily="34" charset="-122"/>
                <a:cs typeface="Calibri" pitchFamily="34" charset="-120"/>
              </a:rPr>
              <a:t>Redes neuronales aplicadas a señales biomédicas</a:t>
            </a:r>
            <a:endParaRPr lang="en-US" sz="2000" dirty="0"/>
          </a:p>
        </p:txBody>
      </p:sp>
      <p:sp>
        <p:nvSpPr>
          <p:cNvPr id="7" name="Text 5"/>
          <p:cNvSpPr txBox="1"/>
          <p:nvPr/>
        </p:nvSpPr>
        <p:spPr>
          <a:xfrm>
            <a:off x="548640" y="2057400"/>
            <a:ext cx="6583680" cy="914400"/>
          </a:xfrm>
          <a:prstGeom prst="rect">
            <a:avLst/>
          </a:prstGeom>
          <a:noFill/>
          <a:ln/>
        </p:spPr>
        <p:txBody>
          <a:bodyPr wrap="square" lIns="0" tIns="0" rIns="0" bIns="0" rtlCol="0" anchor="t">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Entrena y evalúa una red neuronal multicapa para clasificar latidos de ECG o gestos de EMG, controlando el sobreajuste.</a:t>
            </a:r>
            <a:endParaRPr lang="en-US" sz="1350" dirty="0"/>
          </a:p>
        </p:txBody>
      </p:sp>
      <p:sp>
        <p:nvSpPr>
          <p:cNvPr id="8" name="Text 6"/>
          <p:cNvSpPr txBox="1"/>
          <p:nvPr/>
        </p:nvSpPr>
        <p:spPr>
          <a:xfrm>
            <a:off x="548640" y="3063240"/>
            <a:ext cx="6583680" cy="320040"/>
          </a:xfrm>
          <a:prstGeom prst="rect">
            <a:avLst/>
          </a:prstGeom>
          <a:noFill/>
          <a:ln/>
        </p:spPr>
        <p:txBody>
          <a:bodyPr wrap="square" lIns="0" tIns="0" rIns="0" bIns="0" rtlCol="0" anchor="ctr"/>
          <a:lstStyle/>
          <a:p>
            <a:pPr indent="0" marL="0">
              <a:buNone/>
            </a:pPr>
            <a:r>
              <a:rPr lang="en-US" sz="1400" b="1" dirty="0">
                <a:solidFill>
                  <a:srgbClr val="E8871E"/>
                </a:solidFill>
                <a:latin typeface="Cambria" pitchFamily="34" charset="0"/>
                <a:ea typeface="Cambria" pitchFamily="34" charset="-122"/>
                <a:cs typeface="Cambria" pitchFamily="34" charset="-120"/>
              </a:rPr>
              <a:t>Antes de esa clase</a:t>
            </a:r>
            <a:endParaRPr lang="en-US" sz="1400" dirty="0"/>
          </a:p>
        </p:txBody>
      </p:sp>
      <p:sp>
        <p:nvSpPr>
          <p:cNvPr id="9" name="Text 7"/>
          <p:cNvSpPr txBox="1"/>
          <p:nvPr/>
        </p:nvSpPr>
        <p:spPr>
          <a:xfrm>
            <a:off x="548640" y="3401568"/>
            <a:ext cx="658368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Repasar el cuaderno de ECG o EMG y preparar la matriz de características</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Leer la sección de redes neuronales de scikit-learn sobre regularización</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Revisar el conjunto MIT-BIH y decidir cuáles clases de latido usar</a:t>
            </a:r>
            <a:endParaRPr lang="en-US" sz="11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FB3C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8: Introducción al deep learning y a las redes neuronales</dc:title>
  <dc:subject>PptxGenJS Presentation</dc:subject>
  <dc:creator>Sistemas Biomecatrónicos, ESPOL</dc:creator>
  <cp:lastModifiedBy>Sistemas Biomecatrónicos, ESPOL</cp:lastModifiedBy>
  <cp:revision>1</cp:revision>
  <dcterms:created xsi:type="dcterms:W3CDTF">2026-09-30T16:49:19Z</dcterms:created>
  <dcterms:modified xsi:type="dcterms:W3CDTF">2026-09-30T16:49:19Z</dcterms:modified>
</cp:coreProperties>
</file>