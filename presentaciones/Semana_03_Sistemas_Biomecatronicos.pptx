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la sesión 3 de 14. Dar la bienvenida, verificar audio y video, y recordar las reglas de participación.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los seis objetivos, uno por cada nivel de la taxonomía de Bloom revisada. Al final de la clase el quiz verifica los primeros niveles y la tarea cubre los superiores.
Resultado de aprendizaje: Distingue el aprendizaje supervisado del no supervisado y selecciona el tipo de algoritmo adecuado según el problema y los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 de la semana 2. Pedir a dos estudiantes que expliquen una idea con sus palabras antes de avanzar. Resultado previo: Explica qué es machine learning, sus tipos y el flujo de trabajo (datos, entrenamiento, validación y prueba) con ejemplos biomédicos.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a paso de la clase:
0–10 min · Apertura: Repaso de la semana 2, resolución de dudas de la tarea y agenda de la sesión.
10–30 min · Exposición: Exposición: aprendizaje supervisado (clasificación y regresión) frente a no supervisado (agrupamiento y reducción de dimensión). Métricas de cada uno.
30–50 min · Demostración en vivo: Demostración en Colab: entrenar k-vecinos y k-means con el mismo conjunto de datos y visualizar fronteras y grupos.
50–55 min · Pausa: Pausa de 5 minutos.
55–80 min · Práctica en salas virtuales: Salas de 4 personas: modificar el número de vecinos y de grupos, registrar cómo cambian las métricas y explicar la causa.
80–95 min · Plenaria y discusión: Plenaria: cada sala expone un hallazgo. Discusión sobre cuándo no hay etiquetas disponibles en un hospital.
95–105 min · Cierre y evaluación: Quiz en Google Forms, publicación de la tarea y adelanto de la semana 4 (algoritmos aplicados a biomedicina).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sesión recorre los seis niveles de la taxonomía de Bloom revisada, de recordar a crear, con una actividad para cada 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 al grupo quién completó cada actividad previa y qué dudas surgieron. Usar sus respuestas para ajustar el ritmo de la exposición.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(20 min): Demostración en Colab: entrenar k-vecinos y k-means con el mismo conjunto de datos y visualizar fronteras y grupos.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las salas en Zoom y asignar roles. Pasar por cada sala durante el trabajo. Actividad: Salas de 4 personas: modificar el número de vecinos y de grupos, registrar cómo cambian las métricas y explicar la causa.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Plenaria (15 min). Criterios de la rúbrica de coevaluación: claridad, evidencia y seguridad del paciente. Plenaria: cada sala expone un hallazgo. Discusión sobre cuándo no hay etiquetas disponibles en un hospital.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 esperadas:
1. Cuando la salida es un valor continuo, como un ángulo o una presión.
2. Toma los 5 ejemplos más cercanos y vota o promedia.
3. Inicializar centroides, asignar puntos, recalcular centroides y repetir.
4. Grupos bien separados y compactos.
5. Son interpretables: se puede leer la ruta de decisión.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las tres ideas clave. Pedir a un estudiante que las resuma en una frase.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cada entregable y su fecha en el aula virtual.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Compartir este enlace en el chat al final de la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Adelanto de la semana 4. Recordar las actividades previas y su duración.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scikit-learn.org/stable/user_guide.html" TargetMode="External"/><Relationship Id="rId2" Type="http://schemas.openxmlformats.org/officeDocument/2006/relationships/hyperlink" Target="https://scikit-learn.org/stable/modules/clustering.html" TargetMode="External"/><Relationship Id="rId3" Type="http://schemas.openxmlformats.org/officeDocument/2006/relationships/hyperlink" Target="https://colab.research.google.com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097280"/>
            <a:ext cx="4572000" cy="4572000"/>
          </a:xfrm>
          <a:prstGeom prst="ellipse">
            <a:avLst/>
          </a:prstGeom>
          <a:solidFill>
            <a:srgbClr val="13334F"/>
          </a:solidFill>
          <a:ln w="12700">
            <a:solidFill>
              <a:srgbClr val="1333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377440"/>
            <a:ext cx="3108960" cy="3108960"/>
          </a:xfrm>
          <a:prstGeom prst="ellipse">
            <a:avLst/>
          </a:prstGeom>
          <a:solidFill>
            <a:srgbClr val="1A7F8E">
              <a:alpha val="45000"/>
            </a:srgbClr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0" y="3291840"/>
            <a:ext cx="1645920" cy="1645920"/>
          </a:xfrm>
          <a:prstGeom prst="ellipse">
            <a:avLst/>
          </a:prstGeom>
          <a:solidFill>
            <a:srgbClr val="E8871E">
              <a:alpha val="45000"/>
            </a:srgbClr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BIOMECATRONICOS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CF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3: Machine learning supervisado y no supervisado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ESPOL  ·  Clase virtual de 1 h 45 min  ·  Taxonomía de Bloom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clase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3560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356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2821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Nombrar los algoritmos supervisados y no supervisados más usados (regresión lineal, k-vecinos, árboles, k-means).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43560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356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72821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cuándo se usa clasificación, regresión y agrupamiento.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53288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5328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28254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en Colab un clasificador supervisado y un modelo k-means sobre el mismo conjunto de datos.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253288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92040" y="25328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28254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resultados de ambos enfoques con métricas apropiadas (exactitud, inercia, silueta).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63016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6301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39227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Justificar la elección de un algoritmo para un caso biomédico dado.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52044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363016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92040" y="36301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39227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 experimento que combine un paso no supervisado y uno supervisado.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la clase anterior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2: Introducción a machine learning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993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1460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aprende reglas a partir de datos y respuestas conocidas.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56432" y="1993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643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51460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divide el conjunto en entrenamiento, validación y prueba para medir con honestidad.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82880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99632" y="1993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9963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51460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sobreajuste ocurre cuando el modelo memoriza en vez de generalizar.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sesión: 105 minutos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 min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2801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Apertura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60720" y="13533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0" y="1353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12801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85800" y="17373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10–30 min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17373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Exposición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60720" y="18105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0720" y="1810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17373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1945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5800" y="21945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 min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21945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en vivo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60720" y="22677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0" y="22677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21945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26517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85800" y="26517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50–55 min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011680" y="26517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Pausa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760720" y="26517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26517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1089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85800" y="31089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55–80 min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011680" y="31089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en salas virtuales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760720" y="31821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760720" y="31821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0" y="31089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35661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85800" y="35661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80–95 min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2011680" y="35661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Plenaria y discusión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760720" y="36393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760720" y="3639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315200" y="35661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40233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685800" y="40233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95–105 min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2011680" y="40233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y evaluación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760720" y="40965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760720" y="4096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7315200" y="40233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trabajaremos: niveles de Bloom en la clase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Recordar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13258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y repaso rápido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56232"/>
            <a:ext cx="3611880" cy="457200"/>
          </a:xfrm>
          <a:prstGeom prst="roundRect">
            <a:avLst>
              <a:gd name="adj" fmla="val 2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85623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Comprender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185623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con ejemplos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4480560" cy="45720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3865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Aplicar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238658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vivo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916936"/>
            <a:ext cx="5349240" cy="457200"/>
          </a:xfrm>
          <a:prstGeom prst="roundRect">
            <a:avLst>
              <a:gd name="adj" fmla="val 2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91693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Analizar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9169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en salas virtuales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447288"/>
            <a:ext cx="6217920" cy="45720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44728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Evaluar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34472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Plenaria y rúbrica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7086600" cy="45720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977640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Crear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39776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Cierre, quiz y tarea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preparaste antes de la clase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la sección de aprendizaje supervisado de la guía de scikit-learn (regresión lineal y k-vecinos)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Tabla de dos algoritmos con ventajas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564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la sección de clustering y ubicar k-means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Definición propia de k-means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el cuaderno de la semana 2 con un conjunto de datos distinto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1996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Cuaderno ejecutado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Aprendizaje supervisado: aprender con etiquetas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salida es una categoría, por ejemplo arritmia sí o no.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Regresión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salida es un valor continuo, por ejemplo el ángulo de la rodilla.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necesarios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ejemplo trae características y su etiqueta conocida.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compara la predicción con la etiqueta real en datos no vistos.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Regresión lineal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1188720"/>
          </a:xfrm>
          <a:prstGeom prst="roundRect">
            <a:avLst>
              <a:gd name="adj" fmla="val 923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ŷ = w · x + b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una recta que minimiza el error cuadrático medio.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simple e interpretable: cada peso indica un efecto.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Límite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Supone una relación lineal entre variables.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k-vecinos más cercanos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Elegir k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37160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vecinos que votan, por ejemplo 5.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80467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31343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14884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Medir distancia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14884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Normalmente distancia euclidiana entre características.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80467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09067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92608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Tomar los k vecinos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292608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ejemplos de entrenamiento más cercanos.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80467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386791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70332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Votar o promediar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370332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mayoritaria o promedio de sus valores.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Árboles de decisión y bosques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 si-entonces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nodo divide los datos con una pregunta sobre una característica.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Interpretables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leer el camino que llevó a una decisión.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árbol muy profundo sobreajusta los datos de entrenamiento.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Bosque aleatorio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muchos árboles y reduce la varianza.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Aprendizaje no supervisado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Agrupamiento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grupos de ejemplos parecidos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subtipos de pacientes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Algoritmos: k-means, jerárquico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84048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55448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Reducción de dimensión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21945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muchas variables en pocas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visualizar señales en 2D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Algoritmos: PCA, t-SNE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paso a paso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481328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Elegir k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37160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grupos a encontrar.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039112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148840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Inicializar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039112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 k centroides, por ejemplo con k-means++.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706624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281635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706624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Asignar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2706624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punto va al centroide más cercano.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348386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374136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Recalcular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337413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centroide pasa a ser el promedio de su grupo.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041648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4151376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404164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Repetir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657600" y="404164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que las asignaciones ya no cambien.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de cada enfoque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Exactitud, precisión, sensibilidad y especificidad.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Regresión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absoluto medio y raíz del error cuadrático medio.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Agrupamiento: inercia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de distancias al centroide; menor es más compacto.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Agrupamiento: silueta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−1 y 1; valores altos indican grupos bien separados.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algoritmo elijo?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¿Hay etiquetas?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Sí: supervisado. No: no supervisado.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¿Salida categórica o numérica?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Categoría: clasificación. Número: regresión.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¿Cuántos datos hay?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pocos datos, modelos simples y validación cruzada.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¿Se debe explicar la decisión?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clínica conviene árboles o modelos lineales.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Combinar ambos enfoques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Agrupar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37160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etiquetas, buscar grupos naturales en los datos.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80467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31343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14884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Revisar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14884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especialista examina una muestra de cada grupo.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80467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09067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92608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Etiquetar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292608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asignan etiquetas a los grupos confirmados.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80467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386791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70332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370332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clasificador aprende con esas etiquetas.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en vivo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754880" cy="3108960"/>
          </a:xfrm>
          <a:prstGeom prst="roundRect">
            <a:avLst>
              <a:gd name="adj" fmla="val 3529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E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haremos (20 min)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Colab: entrenar k-vecinos y k-means con el mismo conjunto de datos y visualizar fronteras y grupos.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0" y="1371600"/>
            <a:ext cx="3108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23560" y="164592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2356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13716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en tu propio Colab o software mientras se muestra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0" y="2423160"/>
            <a:ext cx="3108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23560" y="269748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2356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4231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tus dudas en el chat con el número de paso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0" y="3474720"/>
            <a:ext cx="3108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23560" y="374904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2356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34747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capturas para tu entregable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en salas virtuales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194560" cy="3108960"/>
          </a:xfrm>
          <a:prstGeom prst="roundRect">
            <a:avLst>
              <a:gd name="adj" fmla="val 5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 de 4 personas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13716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 de 4 personas: modificar el número de vecinos y de grupos, registrar cómo cambian las métricas y explicar la causa.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926080" y="265176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063240" y="27066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Moderador/a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30358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 el tiempo y da la palabra.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06440" y="265176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943600" y="27066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Ejecutor/a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30358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 pantalla y corre el ejercicio.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926080" y="361188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063240" y="36667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Verificador/a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39959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resultados y unidades.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06440" y="361188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943600" y="36667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Relator/a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39959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hallazgos en el documento.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Plenaria y discusión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7589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Plenaria: cada sala expone un hallazgo. Discusión sobre cuándo no hay etiquetas disponibles en un hospital.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3063240"/>
            <a:ext cx="347472" cy="347472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063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Claridad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explicación se entiende sin ver el código.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3063240"/>
            <a:ext cx="347472" cy="347472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3063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Respalda con datos, métricas o cálculos.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063240"/>
            <a:ext cx="347472" cy="347472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3063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del paciente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 el riesgo de equivocarse.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de cierre (Google Forms)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26464"/>
            <a:ext cx="365760" cy="36576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325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usarías regresión en lugar de clasificación?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066544"/>
            <a:ext cx="365760" cy="36576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066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96596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 k-vecinos con k = 5?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706624"/>
            <a:ext cx="365760" cy="365760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6060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Nombra los pasos principales de k-means.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346704"/>
            <a:ext cx="365760" cy="365760"/>
          </a:xfrm>
          <a:prstGeom prst="ellipse">
            <a:avLst/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346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2461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indica una silueta cercana a 1?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986784"/>
            <a:ext cx="365760" cy="365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8862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los árboles gustan en clínica?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la clase de hoy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etiquetas se clasifica o se hace regresión; sin etiquetas se agrupa o se reduce dimensión.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56432" y="1536192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64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k-vecinos, árboles y regresión lineal son los algoritmos supervisados base.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99632" y="1536192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996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agrupa por cercanía a centroides y se evalúa con inercia y silueta.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Después de la clase: tarea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Elaborar una tabla comparativa de cuatro algoritmos (tipo, entrada, salida, métrica, riesgo)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Tabla completa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564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 el diseño de un experimento con un paso no supervisado seguido de uno supervisado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Diseño de una página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 con el formulario de la unidad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1996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Puntaje registrado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y enlaces de la sesión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usuario de scikit-learn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https://scikit-learn.org/stable/user_guide.html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883664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scikit-learn: Clustering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https://scikit-learn.org/stable/modules/clustering.html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5800" y="2487168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https://colab.research.google.com/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52628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Enlaces confirmados por búsqueda web el 30/09/2026; ábrelos una vez antes de la clase.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Próxima clase: Semana 4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949440" y="-914400"/>
            <a:ext cx="3291840" cy="3291840"/>
          </a:xfrm>
          <a:prstGeom prst="ellipse">
            <a:avLst/>
          </a:prstGeom>
          <a:solidFill>
            <a:srgbClr val="13334F"/>
          </a:solidFill>
          <a:ln w="12700">
            <a:solidFill>
              <a:srgbClr val="1333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3017520"/>
            <a:ext cx="2194560" cy="2194560"/>
          </a:xfrm>
          <a:prstGeom prst="ellipse">
            <a:avLst/>
          </a:prstGeom>
          <a:solidFill>
            <a:srgbClr val="1A7F8E">
              <a:alpha val="45000"/>
            </a:srgbClr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CF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de ML en biomedicina: clasificación, regresión y modelos no supervisados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574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algoritmos de clasificación, regresión y agrupamiento a un conjunto de datos biomédico y evalúa su desempeño.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632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esa clase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401568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la descripción del conjunto de EMG de miembro inferior y anotar las variables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la sección de evaluación de modelos de la guía de scikit-learn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el conjunto de datos y cargarlo en Colab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3: Machine learning supervisado y no supervisado</dc:title>
  <dc:subject>PptxGenJS Presentation</dc:subject>
  <dc:creator>Sistemas Biomecatrónicos, ESPOL</dc:creator>
  <cp:lastModifiedBy>Sistemas Biomecatrónicos, ESPOL</cp:lastModifiedBy>
  <cp:revision>1</cp:revision>
  <dcterms:created xsi:type="dcterms:W3CDTF">2026-09-30T16:49:19Z</dcterms:created>
  <dcterms:modified xsi:type="dcterms:W3CDTF">2026-09-30T16:49:19Z</dcterms:modified>
</cp:coreProperties>
</file>