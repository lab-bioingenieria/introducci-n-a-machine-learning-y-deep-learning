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sesión 11 de 14. Dar la bienvenida, verificar audio y video, y recordar las reglas de participación.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seis objetivos, uno por cada nivel de la taxonomía de Bloom revisada. Al final de la clase el quiz verifica los primeros niveles y la tarea cubre los superiores.
Resultado de aprendizaje: Entrena y evalúa una CNN para clasificar imágenes médicas (radiografía de tórax) y explica su desempeño con métricas clínicas.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de la semana 10. Pedir a dos estudiantes que expliquen una idea con sus palabras antes de avanzar. Resultado previo: Explica las capas de una CNN (convolución, activación, pooling, capa densa) y entrena una CNN pequeña sobre imágenes.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a paso de la clase:
0–10 min · Apertura: Repaso de CNN y de la tarea. Objetivo: llevar una CNN a un problema clínico real.
10–30 min · Exposición: Exposición: clasificación de imágenes médicas, aprendizaje por transferencia, aumento de datos, desbalance de clases, métricas clínicas y curva ROC.
30–50 min · Demostración en vivo: Demostración en Colab: cargar las radiografías, entrenar una CNN y calcular matriz de confusión y AUC.
50–55 min · Pausa: Pausa de 5 minutos.
55–80 min · Práctica en salas virtuales: Salas de 4 personas: analizar los falsos negativos del modelo y proponer un ajuste (pesos de clase o aumento de datos).
80–95 min · Plenaria y discusión: Plenaria: cada sala argumenta si el modelo sería seguro en una consulta real. Discusión sobre sesgo de los datos y regulación.
95–105 min · Cierre y evaluación: Quiz en Google Forms, publicación de la tarea y adelanto de la semana 12 (segmentación con U-Net).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sesión recorre los seis niveles de la taxonomía de Bloom revisada, de recordar a crear, con una actividad para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al grupo quién completó cada actividad previa y qué dudas surgieron. Usar sus respuestas para ajustar el ritmo de la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de exposición aproximado: 2 minutos. Pedir un ejemplo del grupo antes de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(20 min): Demostración en Colab: cargar las radiografías, entrenar una CNN y calcular matriz de confusión y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las salas en Zoom y asignar roles. Pasar por cada sala durante el trabajo. Actividad: Salas de 4 personas: analizar los falsos negativos del modelo y proponer un ajuste (pesos de clase o aumento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Plenaria (15 min). Criterios de la rúbrica de coevaluación: claridad, evidencia y seguridad del paciente. Plenaria: cada sala argumenta si el modelo sería seguro en una consulta real. Discusión sobre sesgo de los datos y regulación.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esperadas:
1. Reutilizar una red preentrenada y adaptarla a un problema nuevo.
2. La sensibilidad.
3. Desempeño equivalente al azar.
4. Para ver qué regiones de la imagen influyen en la predicción.
5. Para comprobar que el modelo funciona en otros hospitales y equipos.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las tres ideas clave. Pedir a un estudiante que las resuma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cada entregable y su fecha en el aula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Compartir este enlace en el chat al final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Adelanto de la semana 12. Recordar las actividades previas y su duración.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B3C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B3C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kaggle.com/datasets/paultimothymooney/chest-xray-pneumonia" TargetMode="External"/><Relationship Id="rId2" Type="http://schemas.openxmlformats.org/officeDocument/2006/relationships/hyperlink" Target="https://www.tensorflow.org/tutorials/images/cnn" TargetMode="External"/><Relationship Id="rId3" Type="http://schemas.openxmlformats.org/officeDocument/2006/relationships/hyperlink" Target="https://scikit-learn.org/stable/user_guide.html" TargetMode="External"/><Relationship Id="rId4" Type="http://schemas.openxmlformats.org/officeDocument/2006/relationships/hyperlink" Target="https://wiki.cancerimagingarchive.net/display/Public/Collections" TargetMode="External"/><Relationship Id="rId5" Type="http://schemas.openxmlformats.org/officeDocument/2006/relationships/hyperlink" Target="https://www.nature.com/articles/sdata2017124" TargetMode="External"/><Relationship Id="rId6" Type="http://schemas.openxmlformats.org/officeDocument/2006/relationships/hyperlink" Target="https://colab.research.google.com/" TargetMode="External"/><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852160" y="-1097280"/>
            <a:ext cx="4572000" cy="4572000"/>
          </a:xfrm>
          <a:prstGeom prst="ellipse">
            <a:avLst/>
          </a:prstGeom>
          <a:solidFill>
            <a:srgbClr val="13334F"/>
          </a:solidFill>
          <a:ln w="12700">
            <a:solidFill>
              <a:srgbClr val="13334F"/>
            </a:solidFill>
            <a:prstDash val="solid"/>
          </a:ln>
        </p:spPr>
      </p:sp>
      <p:sp>
        <p:nvSpPr>
          <p:cNvPr id="3" name="Shape 1"/>
          <p:cNvSpPr/>
          <p:nvPr/>
        </p:nvSpPr>
        <p:spPr>
          <a:xfrm>
            <a:off x="6949440" y="2377440"/>
            <a:ext cx="3108960" cy="3108960"/>
          </a:xfrm>
          <a:prstGeom prst="ellipse">
            <a:avLst/>
          </a:prstGeom>
          <a:solidFill>
            <a:srgbClr val="1A7F8E">
              <a:alpha val="45000"/>
            </a:srgbClr>
          </a:solidFill>
          <a:ln w="12700">
            <a:solidFill>
              <a:srgbClr val="1A7F8E"/>
            </a:solidFill>
            <a:prstDash val="solid"/>
          </a:ln>
        </p:spPr>
      </p:sp>
      <p:sp>
        <p:nvSpPr>
          <p:cNvPr id="4" name="Shape 2"/>
          <p:cNvSpPr/>
          <p:nvPr/>
        </p:nvSpPr>
        <p:spPr>
          <a:xfrm>
            <a:off x="5120640" y="3291840"/>
            <a:ext cx="1645920" cy="1645920"/>
          </a:xfrm>
          <a:prstGeom prst="ellipse">
            <a:avLst/>
          </a:prstGeom>
          <a:solidFill>
            <a:srgbClr val="E8871E">
              <a:alpha val="45000"/>
            </a:srgbClr>
          </a:solidFill>
          <a:ln w="12700">
            <a:solidFill>
              <a:srgbClr val="E8871E"/>
            </a:solidFill>
            <a:prstDash val="solid"/>
          </a:ln>
        </p:spPr>
      </p:sp>
      <p:sp>
        <p:nvSpPr>
          <p:cNvPr id="5" name="Text 3"/>
          <p:cNvSpPr txBox="1"/>
          <p:nvPr/>
        </p:nvSpPr>
        <p:spPr>
          <a:xfrm>
            <a:off x="548640" y="1005840"/>
            <a:ext cx="6766560" cy="160020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Cambria" pitchFamily="34" charset="0"/>
                <a:ea typeface="Cambria" pitchFamily="34" charset="-122"/>
                <a:cs typeface="Cambria" pitchFamily="34" charset="-120"/>
              </a:rPr>
              <a:t>SISTEMAS BIOMECATRONICOS</a:t>
            </a:r>
            <a:endParaRPr lang="en-US" sz="4400" dirty="0"/>
          </a:p>
        </p:txBody>
      </p:sp>
      <p:sp>
        <p:nvSpPr>
          <p:cNvPr id="6" name="Text 4"/>
          <p:cNvSpPr txBox="1"/>
          <p:nvPr/>
        </p:nvSpPr>
        <p:spPr>
          <a:xfrm>
            <a:off x="548640" y="2743200"/>
            <a:ext cx="6035040" cy="1005840"/>
          </a:xfrm>
          <a:prstGeom prst="rect">
            <a:avLst/>
          </a:prstGeom>
          <a:noFill/>
          <a:ln/>
        </p:spPr>
        <p:txBody>
          <a:bodyPr wrap="square" lIns="0" tIns="0" rIns="0" bIns="0" rtlCol="0" anchor="t">
            <a:normAutofit/>
          </a:bodyPr>
          <a:lstStyle/>
          <a:p>
            <a:pPr indent="0" marL="0">
              <a:buNone/>
            </a:pPr>
            <a:r>
              <a:rPr lang="en-US" sz="2200" dirty="0">
                <a:solidFill>
                  <a:srgbClr val="CFE8EC"/>
                </a:solidFill>
                <a:latin typeface="Calibri" pitchFamily="34" charset="0"/>
                <a:ea typeface="Calibri" pitchFamily="34" charset="-122"/>
                <a:cs typeface="Calibri" pitchFamily="34" charset="-120"/>
              </a:rPr>
              <a:t>Semana 11: Clasificación de tumores y patologías con redes convolucionales</a:t>
            </a:r>
            <a:endParaRPr lang="en-US" sz="2200" dirty="0"/>
          </a:p>
        </p:txBody>
      </p:sp>
      <p:sp>
        <p:nvSpPr>
          <p:cNvPr id="7" name="Text 5"/>
          <p:cNvSpPr txBox="1"/>
          <p:nvPr/>
        </p:nvSpPr>
        <p:spPr>
          <a:xfrm>
            <a:off x="548640" y="4343400"/>
            <a:ext cx="6035040" cy="27432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ESPOL  ·  Clase virtual de 1 h 45 min  ·  Taxonomía de Bloom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Objetivos de clase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2588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435608"/>
            <a:ext cx="1051560" cy="256032"/>
          </a:xfrm>
          <a:prstGeom prst="roundRect">
            <a:avLst>
              <a:gd name="adj" fmla="val 50000"/>
            </a:avLst>
          </a:prstGeom>
          <a:solidFill>
            <a:srgbClr val="1A7F8E"/>
          </a:solidFill>
          <a:ln w="12700">
            <a:solidFill>
              <a:srgbClr val="1A7F8E"/>
            </a:solidFill>
            <a:prstDash val="solid"/>
          </a:ln>
        </p:spPr>
      </p:sp>
      <p:sp>
        <p:nvSpPr>
          <p:cNvPr id="6" name="Text 4"/>
          <p:cNvSpPr txBox="1"/>
          <p:nvPr/>
        </p:nvSpPr>
        <p:spPr>
          <a:xfrm>
            <a:off x="685800" y="143560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Recordar</a:t>
            </a:r>
            <a:endParaRPr lang="en-US" sz="1000" dirty="0"/>
          </a:p>
        </p:txBody>
      </p:sp>
      <p:sp>
        <p:nvSpPr>
          <p:cNvPr id="7" name="Text 5"/>
          <p:cNvSpPr txBox="1"/>
          <p:nvPr/>
        </p:nvSpPr>
        <p:spPr>
          <a:xfrm>
            <a:off x="685800" y="172821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Recordar la matriz de confusión, sensibilidad, especificidad y curva ROC.</a:t>
            </a:r>
            <a:endParaRPr lang="en-US" sz="1100" dirty="0"/>
          </a:p>
        </p:txBody>
      </p:sp>
      <p:sp>
        <p:nvSpPr>
          <p:cNvPr id="8" name="Shape 6"/>
          <p:cNvSpPr/>
          <p:nvPr/>
        </p:nvSpPr>
        <p:spPr>
          <a:xfrm>
            <a:off x="4754880" y="132588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892040" y="1435608"/>
            <a:ext cx="1051560" cy="256032"/>
          </a:xfrm>
          <a:prstGeom prst="roundRect">
            <a:avLst>
              <a:gd name="adj" fmla="val 50000"/>
            </a:avLst>
          </a:prstGeom>
          <a:solidFill>
            <a:srgbClr val="2E6DA4"/>
          </a:solidFill>
          <a:ln w="12700">
            <a:solidFill>
              <a:srgbClr val="2E6DA4"/>
            </a:solidFill>
            <a:prstDash val="solid"/>
          </a:ln>
        </p:spPr>
      </p:sp>
      <p:sp>
        <p:nvSpPr>
          <p:cNvPr id="10" name="Text 8"/>
          <p:cNvSpPr txBox="1"/>
          <p:nvPr/>
        </p:nvSpPr>
        <p:spPr>
          <a:xfrm>
            <a:off x="4892040" y="143560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11" name="Text 9"/>
          <p:cNvSpPr txBox="1"/>
          <p:nvPr/>
        </p:nvSpPr>
        <p:spPr>
          <a:xfrm>
            <a:off x="4892040" y="172821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Explicar qué es aprendizaje por transferencia y por qué se usa en medicina.</a:t>
            </a:r>
            <a:endParaRPr lang="en-US" sz="1100" dirty="0"/>
          </a:p>
        </p:txBody>
      </p:sp>
      <p:sp>
        <p:nvSpPr>
          <p:cNvPr id="12" name="Shape 10"/>
          <p:cNvSpPr/>
          <p:nvPr/>
        </p:nvSpPr>
        <p:spPr>
          <a:xfrm>
            <a:off x="548640" y="242316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85800" y="2532888"/>
            <a:ext cx="1051560" cy="256032"/>
          </a:xfrm>
          <a:prstGeom prst="roundRect">
            <a:avLst>
              <a:gd name="adj" fmla="val 50000"/>
            </a:avLst>
          </a:prstGeom>
          <a:solidFill>
            <a:srgbClr val="E8871E"/>
          </a:solidFill>
          <a:ln w="12700">
            <a:solidFill>
              <a:srgbClr val="E8871E"/>
            </a:solidFill>
            <a:prstDash val="solid"/>
          </a:ln>
        </p:spPr>
      </p:sp>
      <p:sp>
        <p:nvSpPr>
          <p:cNvPr id="14" name="Text 12"/>
          <p:cNvSpPr txBox="1"/>
          <p:nvPr/>
        </p:nvSpPr>
        <p:spPr>
          <a:xfrm>
            <a:off x="685800" y="253288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15" name="Text 13"/>
          <p:cNvSpPr txBox="1"/>
          <p:nvPr/>
        </p:nvSpPr>
        <p:spPr>
          <a:xfrm>
            <a:off x="685800" y="282549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Entrenar una CNN para distinguir radiografías normales de neumonía.</a:t>
            </a:r>
            <a:endParaRPr lang="en-US" sz="1100" dirty="0"/>
          </a:p>
        </p:txBody>
      </p:sp>
      <p:sp>
        <p:nvSpPr>
          <p:cNvPr id="16" name="Shape 14"/>
          <p:cNvSpPr/>
          <p:nvPr/>
        </p:nvSpPr>
        <p:spPr>
          <a:xfrm>
            <a:off x="4754880" y="242316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4892040" y="2532888"/>
            <a:ext cx="1051560" cy="256032"/>
          </a:xfrm>
          <a:prstGeom prst="roundRect">
            <a:avLst>
              <a:gd name="adj" fmla="val 50000"/>
            </a:avLst>
          </a:prstGeom>
          <a:solidFill>
            <a:srgbClr val="7A4E9C"/>
          </a:solidFill>
          <a:ln w="12700">
            <a:solidFill>
              <a:srgbClr val="7A4E9C"/>
            </a:solidFill>
            <a:prstDash val="solid"/>
          </a:ln>
        </p:spPr>
      </p:sp>
      <p:sp>
        <p:nvSpPr>
          <p:cNvPr id="18" name="Text 16"/>
          <p:cNvSpPr txBox="1"/>
          <p:nvPr/>
        </p:nvSpPr>
        <p:spPr>
          <a:xfrm>
            <a:off x="4892040" y="253288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Analizar</a:t>
            </a:r>
            <a:endParaRPr lang="en-US" sz="1000" dirty="0"/>
          </a:p>
        </p:txBody>
      </p:sp>
      <p:sp>
        <p:nvSpPr>
          <p:cNvPr id="19" name="Text 17"/>
          <p:cNvSpPr txBox="1"/>
          <p:nvPr/>
        </p:nvSpPr>
        <p:spPr>
          <a:xfrm>
            <a:off x="4892040" y="282549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Analizar los falsos negativos y el efecto del desbalance de clases.</a:t>
            </a:r>
            <a:endParaRPr lang="en-US" sz="1100" dirty="0"/>
          </a:p>
        </p:txBody>
      </p:sp>
      <p:sp>
        <p:nvSpPr>
          <p:cNvPr id="20" name="Shape 18"/>
          <p:cNvSpPr/>
          <p:nvPr/>
        </p:nvSpPr>
        <p:spPr>
          <a:xfrm>
            <a:off x="548640" y="352044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85800" y="3630168"/>
            <a:ext cx="1051560" cy="256032"/>
          </a:xfrm>
          <a:prstGeom prst="roundRect">
            <a:avLst>
              <a:gd name="adj" fmla="val 50000"/>
            </a:avLst>
          </a:prstGeom>
          <a:solidFill>
            <a:srgbClr val="C0392B"/>
          </a:solidFill>
          <a:ln w="12700">
            <a:solidFill>
              <a:srgbClr val="C0392B"/>
            </a:solidFill>
            <a:prstDash val="solid"/>
          </a:ln>
        </p:spPr>
      </p:sp>
      <p:sp>
        <p:nvSpPr>
          <p:cNvPr id="22" name="Text 20"/>
          <p:cNvSpPr txBox="1"/>
          <p:nvPr/>
        </p:nvSpPr>
        <p:spPr>
          <a:xfrm>
            <a:off x="685800" y="363016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Evaluar</a:t>
            </a:r>
            <a:endParaRPr lang="en-US" sz="1000" dirty="0"/>
          </a:p>
        </p:txBody>
      </p:sp>
      <p:sp>
        <p:nvSpPr>
          <p:cNvPr id="23" name="Text 21"/>
          <p:cNvSpPr txBox="1"/>
          <p:nvPr/>
        </p:nvSpPr>
        <p:spPr>
          <a:xfrm>
            <a:off x="685800" y="392277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Evaluar si el modelo es seguro para uso clínico y qué validaciones faltan.</a:t>
            </a:r>
            <a:endParaRPr lang="en-US" sz="1100" dirty="0"/>
          </a:p>
        </p:txBody>
      </p:sp>
      <p:sp>
        <p:nvSpPr>
          <p:cNvPr id="24" name="Shape 22"/>
          <p:cNvSpPr/>
          <p:nvPr/>
        </p:nvSpPr>
        <p:spPr>
          <a:xfrm>
            <a:off x="4754880" y="3520440"/>
            <a:ext cx="3931920" cy="1005840"/>
          </a:xfrm>
          <a:prstGeom prst="roundRect">
            <a:avLst>
              <a:gd name="adj" fmla="val 909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4892040" y="3630168"/>
            <a:ext cx="1051560" cy="256032"/>
          </a:xfrm>
          <a:prstGeom prst="roundRect">
            <a:avLst>
              <a:gd name="adj" fmla="val 50000"/>
            </a:avLst>
          </a:prstGeom>
          <a:solidFill>
            <a:srgbClr val="2E8B57"/>
          </a:solidFill>
          <a:ln w="12700">
            <a:solidFill>
              <a:srgbClr val="2E8B57"/>
            </a:solidFill>
            <a:prstDash val="solid"/>
          </a:ln>
        </p:spPr>
      </p:sp>
      <p:sp>
        <p:nvSpPr>
          <p:cNvPr id="26" name="Text 24"/>
          <p:cNvSpPr txBox="1"/>
          <p:nvPr/>
        </p:nvSpPr>
        <p:spPr>
          <a:xfrm>
            <a:off x="4892040" y="3630168"/>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Crear</a:t>
            </a:r>
            <a:endParaRPr lang="en-US" sz="1000" dirty="0"/>
          </a:p>
        </p:txBody>
      </p:sp>
      <p:sp>
        <p:nvSpPr>
          <p:cNvPr id="27" name="Text 25"/>
          <p:cNvSpPr txBox="1"/>
          <p:nvPr/>
        </p:nvSpPr>
        <p:spPr>
          <a:xfrm>
            <a:off x="4892040" y="3922776"/>
            <a:ext cx="3657600" cy="566928"/>
          </a:xfrm>
          <a:prstGeom prst="rect">
            <a:avLst/>
          </a:prstGeom>
          <a:noFill/>
          <a:ln/>
        </p:spPr>
        <p:txBody>
          <a:bodyPr wrap="square" lIns="0" tIns="0" rIns="0" bIns="0" rtlCol="0" anchor="t">
            <a:normAutofit/>
          </a:bodyPr>
          <a:lstStyle/>
          <a:p>
            <a:pPr indent="0" marL="0">
              <a:buNone/>
            </a:pPr>
            <a:r>
              <a:rPr lang="en-US" sz="1100" dirty="0">
                <a:solidFill>
                  <a:srgbClr val="1F2D3D"/>
                </a:solidFill>
                <a:latin typeface="Calibri" pitchFamily="34" charset="0"/>
                <a:ea typeface="Calibri" pitchFamily="34" charset="-122"/>
                <a:cs typeface="Calibri" pitchFamily="34" charset="-120"/>
              </a:rPr>
              <a:t>Crear un plan de validación para llevar el modelo a un hospital.</a:t>
            </a:r>
            <a:endParaRPr lang="en-US" sz="11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Resumen de la clase anterior</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Text 2"/>
          <p:cNvSpPr txBox="1"/>
          <p:nvPr/>
        </p:nvSpPr>
        <p:spPr>
          <a:xfrm>
            <a:off x="548640" y="1234440"/>
            <a:ext cx="8046720" cy="457200"/>
          </a:xfrm>
          <a:prstGeom prst="rect">
            <a:avLst/>
          </a:prstGeom>
          <a:noFill/>
          <a:ln/>
        </p:spPr>
        <p:txBody>
          <a:bodyPr wrap="square" lIns="0" tIns="0" rIns="0" bIns="0" rtlCol="0" anchor="ctr">
            <a:normAutofit/>
          </a:bodyPr>
          <a:lstStyle/>
          <a:p>
            <a:pPr indent="0" marL="0">
              <a:buNone/>
            </a:pPr>
            <a:r>
              <a:rPr lang="en-US" sz="1500" b="1" dirty="0">
                <a:solidFill>
                  <a:srgbClr val="1A7F8E"/>
                </a:solidFill>
                <a:latin typeface="Calibri" pitchFamily="34" charset="0"/>
                <a:ea typeface="Calibri" pitchFamily="34" charset="-122"/>
                <a:cs typeface="Calibri" pitchFamily="34" charset="-120"/>
              </a:rPr>
              <a:t>Semana 10: Redes neuronales convolucionales (CNN)</a:t>
            </a:r>
            <a:endParaRPr lang="en-US" sz="1500" dirty="0"/>
          </a:p>
        </p:txBody>
      </p:sp>
      <p:sp>
        <p:nvSpPr>
          <p:cNvPr id="5" name="Shape 3"/>
          <p:cNvSpPr/>
          <p:nvPr/>
        </p:nvSpPr>
        <p:spPr>
          <a:xfrm>
            <a:off x="548640" y="1828800"/>
            <a:ext cx="2560320" cy="26517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13232" y="1993392"/>
            <a:ext cx="384048" cy="384048"/>
          </a:xfrm>
          <a:prstGeom prst="ellipse">
            <a:avLst/>
          </a:prstGeom>
          <a:solidFill>
            <a:srgbClr val="1A7F8E"/>
          </a:solidFill>
          <a:ln w="12700">
            <a:solidFill>
              <a:srgbClr val="1A7F8E"/>
            </a:solidFill>
            <a:prstDash val="solid"/>
          </a:ln>
        </p:spPr>
      </p:sp>
      <p:sp>
        <p:nvSpPr>
          <p:cNvPr id="7" name="Text 5"/>
          <p:cNvSpPr txBox="1"/>
          <p:nvPr/>
        </p:nvSpPr>
        <p:spPr>
          <a:xfrm>
            <a:off x="7132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731520" y="2514600"/>
            <a:ext cx="2194560" cy="18745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Una CNN usa filtros locales compartidos, con muchos menos parámetros que una red densa.</a:t>
            </a:r>
            <a:endParaRPr lang="en-US" sz="1400" dirty="0"/>
          </a:p>
        </p:txBody>
      </p:sp>
      <p:sp>
        <p:nvSpPr>
          <p:cNvPr id="9" name="Shape 7"/>
          <p:cNvSpPr/>
          <p:nvPr/>
        </p:nvSpPr>
        <p:spPr>
          <a:xfrm>
            <a:off x="3291840" y="1828800"/>
            <a:ext cx="2560320" cy="26517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3456432" y="19933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34564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474720" y="2514600"/>
            <a:ext cx="2194560" cy="18745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Convolución, activación y pooling extraen rasgos cada vez más abstractos.</a:t>
            </a:r>
            <a:endParaRPr lang="en-US" sz="1400" dirty="0"/>
          </a:p>
        </p:txBody>
      </p:sp>
      <p:sp>
        <p:nvSpPr>
          <p:cNvPr id="13" name="Shape 11"/>
          <p:cNvSpPr/>
          <p:nvPr/>
        </p:nvSpPr>
        <p:spPr>
          <a:xfrm>
            <a:off x="6035040" y="1828800"/>
            <a:ext cx="2560320" cy="26517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6199632" y="1993392"/>
            <a:ext cx="384048" cy="384048"/>
          </a:xfrm>
          <a:prstGeom prst="ellipse">
            <a:avLst/>
          </a:prstGeom>
          <a:solidFill>
            <a:srgbClr val="1A7F8E"/>
          </a:solidFill>
          <a:ln w="12700">
            <a:solidFill>
              <a:srgbClr val="1A7F8E"/>
            </a:solidFill>
            <a:prstDash val="solid"/>
          </a:ln>
        </p:spPr>
      </p:sp>
      <p:sp>
        <p:nvSpPr>
          <p:cNvPr id="15" name="Text 13"/>
          <p:cNvSpPr txBox="1"/>
          <p:nvPr/>
        </p:nvSpPr>
        <p:spPr>
          <a:xfrm>
            <a:off x="6199632"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217920" y="2514600"/>
            <a:ext cx="2194560" cy="18745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La salida de una convolución sigue (N − F + 2P)/S + 1.</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Agenda de la sesión: 105 minutos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2801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2801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0–10 min</a:t>
            </a:r>
            <a:endParaRPr lang="en-US" sz="1200" dirty="0"/>
          </a:p>
        </p:txBody>
      </p:sp>
      <p:sp>
        <p:nvSpPr>
          <p:cNvPr id="6" name="Text 4"/>
          <p:cNvSpPr txBox="1"/>
          <p:nvPr/>
        </p:nvSpPr>
        <p:spPr>
          <a:xfrm>
            <a:off x="2011680" y="12801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Apertura</a:t>
            </a:r>
            <a:endParaRPr lang="en-US" sz="1300" dirty="0"/>
          </a:p>
        </p:txBody>
      </p:sp>
      <p:sp>
        <p:nvSpPr>
          <p:cNvPr id="7" name="Shape 5"/>
          <p:cNvSpPr/>
          <p:nvPr/>
        </p:nvSpPr>
        <p:spPr>
          <a:xfrm>
            <a:off x="5760720" y="1353312"/>
            <a:ext cx="1280160" cy="256032"/>
          </a:xfrm>
          <a:prstGeom prst="roundRect">
            <a:avLst>
              <a:gd name="adj" fmla="val 50000"/>
            </a:avLst>
          </a:prstGeom>
          <a:solidFill>
            <a:srgbClr val="1A7F8E"/>
          </a:solidFill>
          <a:ln w="12700">
            <a:solidFill>
              <a:srgbClr val="1A7F8E"/>
            </a:solidFill>
            <a:prstDash val="solid"/>
          </a:ln>
        </p:spPr>
      </p:sp>
      <p:sp>
        <p:nvSpPr>
          <p:cNvPr id="8" name="Text 6"/>
          <p:cNvSpPr txBox="1"/>
          <p:nvPr/>
        </p:nvSpPr>
        <p:spPr>
          <a:xfrm>
            <a:off x="5760720" y="13533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Recordar</a:t>
            </a:r>
            <a:endParaRPr lang="en-US" sz="1000" dirty="0"/>
          </a:p>
        </p:txBody>
      </p:sp>
      <p:sp>
        <p:nvSpPr>
          <p:cNvPr id="9" name="Text 7"/>
          <p:cNvSpPr txBox="1"/>
          <p:nvPr/>
        </p:nvSpPr>
        <p:spPr>
          <a:xfrm>
            <a:off x="7315200" y="12801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10 min</a:t>
            </a:r>
            <a:endParaRPr lang="en-US" sz="1200" dirty="0"/>
          </a:p>
        </p:txBody>
      </p:sp>
      <p:sp>
        <p:nvSpPr>
          <p:cNvPr id="10" name="Shape 8"/>
          <p:cNvSpPr/>
          <p:nvPr/>
        </p:nvSpPr>
        <p:spPr>
          <a:xfrm>
            <a:off x="548640" y="17373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85800" y="17373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10–30 min</a:t>
            </a:r>
            <a:endParaRPr lang="en-US" sz="1200" dirty="0"/>
          </a:p>
        </p:txBody>
      </p:sp>
      <p:sp>
        <p:nvSpPr>
          <p:cNvPr id="12" name="Text 10"/>
          <p:cNvSpPr txBox="1"/>
          <p:nvPr/>
        </p:nvSpPr>
        <p:spPr>
          <a:xfrm>
            <a:off x="2011680" y="17373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Exposición</a:t>
            </a:r>
            <a:endParaRPr lang="en-US" sz="1300" dirty="0"/>
          </a:p>
        </p:txBody>
      </p:sp>
      <p:sp>
        <p:nvSpPr>
          <p:cNvPr id="13" name="Shape 11"/>
          <p:cNvSpPr/>
          <p:nvPr/>
        </p:nvSpPr>
        <p:spPr>
          <a:xfrm>
            <a:off x="5760720" y="1810512"/>
            <a:ext cx="1280160" cy="256032"/>
          </a:xfrm>
          <a:prstGeom prst="roundRect">
            <a:avLst>
              <a:gd name="adj" fmla="val 50000"/>
            </a:avLst>
          </a:prstGeom>
          <a:solidFill>
            <a:srgbClr val="2E6DA4"/>
          </a:solidFill>
          <a:ln w="12700">
            <a:solidFill>
              <a:srgbClr val="2E6DA4"/>
            </a:solidFill>
            <a:prstDash val="solid"/>
          </a:ln>
        </p:spPr>
      </p:sp>
      <p:sp>
        <p:nvSpPr>
          <p:cNvPr id="14" name="Text 12"/>
          <p:cNvSpPr txBox="1"/>
          <p:nvPr/>
        </p:nvSpPr>
        <p:spPr>
          <a:xfrm>
            <a:off x="5760720" y="18105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15" name="Text 13"/>
          <p:cNvSpPr txBox="1"/>
          <p:nvPr/>
        </p:nvSpPr>
        <p:spPr>
          <a:xfrm>
            <a:off x="7315200" y="17373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20 min</a:t>
            </a:r>
            <a:endParaRPr lang="en-US" sz="1200" dirty="0"/>
          </a:p>
        </p:txBody>
      </p:sp>
      <p:sp>
        <p:nvSpPr>
          <p:cNvPr id="16" name="Shape 14"/>
          <p:cNvSpPr/>
          <p:nvPr/>
        </p:nvSpPr>
        <p:spPr>
          <a:xfrm>
            <a:off x="548640" y="21945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85800" y="21945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30–50 min</a:t>
            </a:r>
            <a:endParaRPr lang="en-US" sz="1200" dirty="0"/>
          </a:p>
        </p:txBody>
      </p:sp>
      <p:sp>
        <p:nvSpPr>
          <p:cNvPr id="18" name="Text 16"/>
          <p:cNvSpPr txBox="1"/>
          <p:nvPr/>
        </p:nvSpPr>
        <p:spPr>
          <a:xfrm>
            <a:off x="2011680" y="21945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Demostración en vivo</a:t>
            </a:r>
            <a:endParaRPr lang="en-US" sz="1300" dirty="0"/>
          </a:p>
        </p:txBody>
      </p:sp>
      <p:sp>
        <p:nvSpPr>
          <p:cNvPr id="19" name="Shape 17"/>
          <p:cNvSpPr/>
          <p:nvPr/>
        </p:nvSpPr>
        <p:spPr>
          <a:xfrm>
            <a:off x="5760720" y="2267712"/>
            <a:ext cx="1280160" cy="256032"/>
          </a:xfrm>
          <a:prstGeom prst="roundRect">
            <a:avLst>
              <a:gd name="adj" fmla="val 50000"/>
            </a:avLst>
          </a:prstGeom>
          <a:solidFill>
            <a:srgbClr val="E8871E"/>
          </a:solidFill>
          <a:ln w="12700">
            <a:solidFill>
              <a:srgbClr val="E8871E"/>
            </a:solidFill>
            <a:prstDash val="solid"/>
          </a:ln>
        </p:spPr>
      </p:sp>
      <p:sp>
        <p:nvSpPr>
          <p:cNvPr id="20" name="Text 18"/>
          <p:cNvSpPr txBox="1"/>
          <p:nvPr/>
        </p:nvSpPr>
        <p:spPr>
          <a:xfrm>
            <a:off x="5760720" y="22677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21" name="Text 19"/>
          <p:cNvSpPr txBox="1"/>
          <p:nvPr/>
        </p:nvSpPr>
        <p:spPr>
          <a:xfrm>
            <a:off x="7315200" y="21945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20 min</a:t>
            </a:r>
            <a:endParaRPr lang="en-US" sz="1200" dirty="0"/>
          </a:p>
        </p:txBody>
      </p:sp>
      <p:sp>
        <p:nvSpPr>
          <p:cNvPr id="22" name="Shape 20"/>
          <p:cNvSpPr/>
          <p:nvPr/>
        </p:nvSpPr>
        <p:spPr>
          <a:xfrm>
            <a:off x="548640" y="26517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685800" y="26517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50–55 min</a:t>
            </a:r>
            <a:endParaRPr lang="en-US" sz="1200" dirty="0"/>
          </a:p>
        </p:txBody>
      </p:sp>
      <p:sp>
        <p:nvSpPr>
          <p:cNvPr id="24" name="Text 22"/>
          <p:cNvSpPr txBox="1"/>
          <p:nvPr/>
        </p:nvSpPr>
        <p:spPr>
          <a:xfrm>
            <a:off x="2011680" y="26517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Pausa</a:t>
            </a:r>
            <a:endParaRPr lang="en-US" sz="1300" dirty="0"/>
          </a:p>
        </p:txBody>
      </p:sp>
      <p:sp>
        <p:nvSpPr>
          <p:cNvPr id="25" name="Text 23"/>
          <p:cNvSpPr txBox="1"/>
          <p:nvPr/>
        </p:nvSpPr>
        <p:spPr>
          <a:xfrm>
            <a:off x="5760720" y="2651760"/>
            <a:ext cx="1280160" cy="402336"/>
          </a:xfrm>
          <a:prstGeom prst="rect">
            <a:avLst/>
          </a:prstGeom>
          <a:noFill/>
          <a:ln/>
        </p:spPr>
        <p:txBody>
          <a:bodyPr wrap="square" lIns="0" tIns="0" rIns="0" bIns="0" rtlCol="0" anchor="ctr"/>
          <a:lstStyle/>
          <a:p>
            <a:pPr algn="ctr" indent="0" marL="0">
              <a:buNone/>
            </a:pPr>
            <a:r>
              <a:rPr lang="en-US" sz="1100" i="1" dirty="0">
                <a:solidFill>
                  <a:srgbClr val="4A5B6C"/>
                </a:solidFill>
                <a:latin typeface="Calibri" pitchFamily="34" charset="0"/>
                <a:ea typeface="Calibri" pitchFamily="34" charset="-122"/>
                <a:cs typeface="Calibri" pitchFamily="34" charset="-120"/>
              </a:rPr>
              <a:t>Descanso</a:t>
            </a:r>
            <a:endParaRPr lang="en-US" sz="1100" dirty="0"/>
          </a:p>
        </p:txBody>
      </p:sp>
      <p:sp>
        <p:nvSpPr>
          <p:cNvPr id="26" name="Text 24"/>
          <p:cNvSpPr txBox="1"/>
          <p:nvPr/>
        </p:nvSpPr>
        <p:spPr>
          <a:xfrm>
            <a:off x="7315200" y="26517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5 min</a:t>
            </a:r>
            <a:endParaRPr lang="en-US" sz="1200" dirty="0"/>
          </a:p>
        </p:txBody>
      </p:sp>
      <p:sp>
        <p:nvSpPr>
          <p:cNvPr id="27" name="Shape 25"/>
          <p:cNvSpPr/>
          <p:nvPr/>
        </p:nvSpPr>
        <p:spPr>
          <a:xfrm>
            <a:off x="548640" y="31089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8" name="Text 26"/>
          <p:cNvSpPr txBox="1"/>
          <p:nvPr/>
        </p:nvSpPr>
        <p:spPr>
          <a:xfrm>
            <a:off x="685800" y="31089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55–80 min</a:t>
            </a:r>
            <a:endParaRPr lang="en-US" sz="1200" dirty="0"/>
          </a:p>
        </p:txBody>
      </p:sp>
      <p:sp>
        <p:nvSpPr>
          <p:cNvPr id="29" name="Text 27"/>
          <p:cNvSpPr txBox="1"/>
          <p:nvPr/>
        </p:nvSpPr>
        <p:spPr>
          <a:xfrm>
            <a:off x="2011680" y="31089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Práctica en salas virtuales</a:t>
            </a:r>
            <a:endParaRPr lang="en-US" sz="1300" dirty="0"/>
          </a:p>
        </p:txBody>
      </p:sp>
      <p:sp>
        <p:nvSpPr>
          <p:cNvPr id="30" name="Shape 28"/>
          <p:cNvSpPr/>
          <p:nvPr/>
        </p:nvSpPr>
        <p:spPr>
          <a:xfrm>
            <a:off x="5760720" y="3182112"/>
            <a:ext cx="1280160" cy="256032"/>
          </a:xfrm>
          <a:prstGeom prst="roundRect">
            <a:avLst>
              <a:gd name="adj" fmla="val 50000"/>
            </a:avLst>
          </a:prstGeom>
          <a:solidFill>
            <a:srgbClr val="7A4E9C"/>
          </a:solidFill>
          <a:ln w="12700">
            <a:solidFill>
              <a:srgbClr val="7A4E9C"/>
            </a:solidFill>
            <a:prstDash val="solid"/>
          </a:ln>
        </p:spPr>
      </p:sp>
      <p:sp>
        <p:nvSpPr>
          <p:cNvPr id="31" name="Text 29"/>
          <p:cNvSpPr txBox="1"/>
          <p:nvPr/>
        </p:nvSpPr>
        <p:spPr>
          <a:xfrm>
            <a:off x="5760720" y="31821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Analizar</a:t>
            </a:r>
            <a:endParaRPr lang="en-US" sz="1000" dirty="0"/>
          </a:p>
        </p:txBody>
      </p:sp>
      <p:sp>
        <p:nvSpPr>
          <p:cNvPr id="32" name="Text 30"/>
          <p:cNvSpPr txBox="1"/>
          <p:nvPr/>
        </p:nvSpPr>
        <p:spPr>
          <a:xfrm>
            <a:off x="7315200" y="31089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25 min</a:t>
            </a:r>
            <a:endParaRPr lang="en-US" sz="1200" dirty="0"/>
          </a:p>
        </p:txBody>
      </p:sp>
      <p:sp>
        <p:nvSpPr>
          <p:cNvPr id="33" name="Shape 31"/>
          <p:cNvSpPr/>
          <p:nvPr/>
        </p:nvSpPr>
        <p:spPr>
          <a:xfrm>
            <a:off x="548640" y="35661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34" name="Text 32"/>
          <p:cNvSpPr txBox="1"/>
          <p:nvPr/>
        </p:nvSpPr>
        <p:spPr>
          <a:xfrm>
            <a:off x="685800" y="35661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80–95 min</a:t>
            </a:r>
            <a:endParaRPr lang="en-US" sz="1200" dirty="0"/>
          </a:p>
        </p:txBody>
      </p:sp>
      <p:sp>
        <p:nvSpPr>
          <p:cNvPr id="35" name="Text 33"/>
          <p:cNvSpPr txBox="1"/>
          <p:nvPr/>
        </p:nvSpPr>
        <p:spPr>
          <a:xfrm>
            <a:off x="2011680" y="35661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Plenaria y discusión</a:t>
            </a:r>
            <a:endParaRPr lang="en-US" sz="1300" dirty="0"/>
          </a:p>
        </p:txBody>
      </p:sp>
      <p:sp>
        <p:nvSpPr>
          <p:cNvPr id="36" name="Shape 34"/>
          <p:cNvSpPr/>
          <p:nvPr/>
        </p:nvSpPr>
        <p:spPr>
          <a:xfrm>
            <a:off x="5760720" y="3639312"/>
            <a:ext cx="1280160" cy="256032"/>
          </a:xfrm>
          <a:prstGeom prst="roundRect">
            <a:avLst>
              <a:gd name="adj" fmla="val 50000"/>
            </a:avLst>
          </a:prstGeom>
          <a:solidFill>
            <a:srgbClr val="C0392B"/>
          </a:solidFill>
          <a:ln w="12700">
            <a:solidFill>
              <a:srgbClr val="C0392B"/>
            </a:solidFill>
            <a:prstDash val="solid"/>
          </a:ln>
        </p:spPr>
      </p:sp>
      <p:sp>
        <p:nvSpPr>
          <p:cNvPr id="37" name="Text 35"/>
          <p:cNvSpPr txBox="1"/>
          <p:nvPr/>
        </p:nvSpPr>
        <p:spPr>
          <a:xfrm>
            <a:off x="5760720" y="36393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Evaluar</a:t>
            </a:r>
            <a:endParaRPr lang="en-US" sz="1000" dirty="0"/>
          </a:p>
        </p:txBody>
      </p:sp>
      <p:sp>
        <p:nvSpPr>
          <p:cNvPr id="38" name="Text 36"/>
          <p:cNvSpPr txBox="1"/>
          <p:nvPr/>
        </p:nvSpPr>
        <p:spPr>
          <a:xfrm>
            <a:off x="7315200" y="35661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15 min</a:t>
            </a:r>
            <a:endParaRPr lang="en-US" sz="1200" dirty="0"/>
          </a:p>
        </p:txBody>
      </p:sp>
      <p:sp>
        <p:nvSpPr>
          <p:cNvPr id="39" name="Shape 37"/>
          <p:cNvSpPr/>
          <p:nvPr/>
        </p:nvSpPr>
        <p:spPr>
          <a:xfrm>
            <a:off x="548640" y="4023360"/>
            <a:ext cx="8046720" cy="402336"/>
          </a:xfrm>
          <a:prstGeom prst="roundRect">
            <a:avLst>
              <a:gd name="adj" fmla="val 2272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40" name="Text 38"/>
          <p:cNvSpPr txBox="1"/>
          <p:nvPr/>
        </p:nvSpPr>
        <p:spPr>
          <a:xfrm>
            <a:off x="685800" y="4023360"/>
            <a:ext cx="1280160" cy="402336"/>
          </a:xfrm>
          <a:prstGeom prst="rect">
            <a:avLst/>
          </a:prstGeom>
          <a:noFill/>
          <a:ln/>
        </p:spPr>
        <p:txBody>
          <a:bodyPr wrap="square" lIns="0" tIns="0" rIns="0" bIns="0" rtlCol="0" anchor="ctr"/>
          <a:lstStyle/>
          <a:p>
            <a:pPr indent="0" marL="0">
              <a:buNone/>
            </a:pPr>
            <a:r>
              <a:rPr lang="en-US" sz="1200" b="1" dirty="0">
                <a:solidFill>
                  <a:srgbClr val="1A7F8E"/>
                </a:solidFill>
                <a:latin typeface="Calibri" pitchFamily="34" charset="0"/>
                <a:ea typeface="Calibri" pitchFamily="34" charset="-122"/>
                <a:cs typeface="Calibri" pitchFamily="34" charset="-120"/>
              </a:rPr>
              <a:t>95–105 min</a:t>
            </a:r>
            <a:endParaRPr lang="en-US" sz="1200" dirty="0"/>
          </a:p>
        </p:txBody>
      </p:sp>
      <p:sp>
        <p:nvSpPr>
          <p:cNvPr id="41" name="Text 39"/>
          <p:cNvSpPr txBox="1"/>
          <p:nvPr/>
        </p:nvSpPr>
        <p:spPr>
          <a:xfrm>
            <a:off x="2011680" y="4023360"/>
            <a:ext cx="3474720" cy="402336"/>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Cierre y evaluación</a:t>
            </a:r>
            <a:endParaRPr lang="en-US" sz="1300" dirty="0"/>
          </a:p>
        </p:txBody>
      </p:sp>
      <p:sp>
        <p:nvSpPr>
          <p:cNvPr id="42" name="Shape 40"/>
          <p:cNvSpPr/>
          <p:nvPr/>
        </p:nvSpPr>
        <p:spPr>
          <a:xfrm>
            <a:off x="5760720" y="4096512"/>
            <a:ext cx="1280160" cy="256032"/>
          </a:xfrm>
          <a:prstGeom prst="roundRect">
            <a:avLst>
              <a:gd name="adj" fmla="val 50000"/>
            </a:avLst>
          </a:prstGeom>
          <a:solidFill>
            <a:srgbClr val="2E8B57"/>
          </a:solidFill>
          <a:ln w="12700">
            <a:solidFill>
              <a:srgbClr val="2E8B57"/>
            </a:solidFill>
            <a:prstDash val="solid"/>
          </a:ln>
        </p:spPr>
      </p:sp>
      <p:sp>
        <p:nvSpPr>
          <p:cNvPr id="43" name="Text 41"/>
          <p:cNvSpPr txBox="1"/>
          <p:nvPr/>
        </p:nvSpPr>
        <p:spPr>
          <a:xfrm>
            <a:off x="5760720" y="4096512"/>
            <a:ext cx="12801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Crear</a:t>
            </a:r>
            <a:endParaRPr lang="en-US" sz="1000" dirty="0"/>
          </a:p>
        </p:txBody>
      </p:sp>
      <p:sp>
        <p:nvSpPr>
          <p:cNvPr id="44" name="Text 42"/>
          <p:cNvSpPr txBox="1"/>
          <p:nvPr/>
        </p:nvSpPr>
        <p:spPr>
          <a:xfrm>
            <a:off x="7315200" y="4023360"/>
            <a:ext cx="1097280" cy="402336"/>
          </a:xfrm>
          <a:prstGeom prst="rect">
            <a:avLst/>
          </a:prstGeom>
          <a:noFill/>
          <a:ln/>
        </p:spPr>
        <p:txBody>
          <a:bodyPr wrap="square" lIns="0" tIns="0" rIns="0" bIns="0" rtlCol="0" anchor="ctr"/>
          <a:lstStyle/>
          <a:p>
            <a:pPr algn="r" indent="0" marL="0">
              <a:buNone/>
            </a:pPr>
            <a:r>
              <a:rPr lang="en-US" sz="1200" dirty="0">
                <a:solidFill>
                  <a:srgbClr val="4A5B6C"/>
                </a:solidFill>
                <a:latin typeface="Calibri" pitchFamily="34" charset="0"/>
                <a:ea typeface="Calibri" pitchFamily="34" charset="-122"/>
                <a:cs typeface="Calibri" pitchFamily="34" charset="-120"/>
              </a:rPr>
              <a:t>10 min</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Cómo trabajaremos: niveles de Bloom en la clase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25880"/>
            <a:ext cx="2743200" cy="457200"/>
          </a:xfrm>
          <a:prstGeom prst="roundRect">
            <a:avLst>
              <a:gd name="adj" fmla="val 20000"/>
            </a:avLst>
          </a:prstGeom>
          <a:solidFill>
            <a:srgbClr val="1A7F8E"/>
          </a:solidFill>
          <a:ln w="12700">
            <a:solidFill>
              <a:srgbClr val="1A7F8E"/>
            </a:solidFill>
            <a:prstDash val="solid"/>
          </a:ln>
        </p:spPr>
      </p:sp>
      <p:sp>
        <p:nvSpPr>
          <p:cNvPr id="5" name="Text 3"/>
          <p:cNvSpPr txBox="1"/>
          <p:nvPr/>
        </p:nvSpPr>
        <p:spPr>
          <a:xfrm>
            <a:off x="685800" y="1325880"/>
            <a:ext cx="24688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Recordar</a:t>
            </a:r>
            <a:endParaRPr lang="en-US" sz="1300" dirty="0"/>
          </a:p>
        </p:txBody>
      </p:sp>
      <p:sp>
        <p:nvSpPr>
          <p:cNvPr id="6" name="Text 4"/>
          <p:cNvSpPr txBox="1"/>
          <p:nvPr/>
        </p:nvSpPr>
        <p:spPr>
          <a:xfrm>
            <a:off x="3429000" y="1325880"/>
            <a:ext cx="521208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Apertura y repaso rápido</a:t>
            </a:r>
            <a:endParaRPr lang="en-US" sz="1250" dirty="0"/>
          </a:p>
        </p:txBody>
      </p:sp>
      <p:sp>
        <p:nvSpPr>
          <p:cNvPr id="7" name="Shape 5"/>
          <p:cNvSpPr/>
          <p:nvPr/>
        </p:nvSpPr>
        <p:spPr>
          <a:xfrm>
            <a:off x="548640" y="1856232"/>
            <a:ext cx="3611880" cy="457200"/>
          </a:xfrm>
          <a:prstGeom prst="roundRect">
            <a:avLst>
              <a:gd name="adj" fmla="val 20000"/>
            </a:avLst>
          </a:prstGeom>
          <a:solidFill>
            <a:srgbClr val="2E6DA4"/>
          </a:solidFill>
          <a:ln w="12700">
            <a:solidFill>
              <a:srgbClr val="2E6DA4"/>
            </a:solidFill>
            <a:prstDash val="solid"/>
          </a:ln>
        </p:spPr>
      </p:sp>
      <p:sp>
        <p:nvSpPr>
          <p:cNvPr id="8" name="Text 6"/>
          <p:cNvSpPr txBox="1"/>
          <p:nvPr/>
        </p:nvSpPr>
        <p:spPr>
          <a:xfrm>
            <a:off x="685800" y="1856232"/>
            <a:ext cx="33375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Comprender</a:t>
            </a:r>
            <a:endParaRPr lang="en-US" sz="1300" dirty="0"/>
          </a:p>
        </p:txBody>
      </p:sp>
      <p:sp>
        <p:nvSpPr>
          <p:cNvPr id="9" name="Text 7"/>
          <p:cNvSpPr txBox="1"/>
          <p:nvPr/>
        </p:nvSpPr>
        <p:spPr>
          <a:xfrm>
            <a:off x="4297680" y="1856232"/>
            <a:ext cx="434340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Exposición con ejemplos</a:t>
            </a:r>
            <a:endParaRPr lang="en-US" sz="1250" dirty="0"/>
          </a:p>
        </p:txBody>
      </p:sp>
      <p:sp>
        <p:nvSpPr>
          <p:cNvPr id="10" name="Shape 8"/>
          <p:cNvSpPr/>
          <p:nvPr/>
        </p:nvSpPr>
        <p:spPr>
          <a:xfrm>
            <a:off x="548640" y="2386584"/>
            <a:ext cx="4480560" cy="457200"/>
          </a:xfrm>
          <a:prstGeom prst="roundRect">
            <a:avLst>
              <a:gd name="adj" fmla="val 20000"/>
            </a:avLst>
          </a:prstGeom>
          <a:solidFill>
            <a:srgbClr val="E8871E"/>
          </a:solidFill>
          <a:ln w="12700">
            <a:solidFill>
              <a:srgbClr val="E8871E"/>
            </a:solidFill>
            <a:prstDash val="solid"/>
          </a:ln>
        </p:spPr>
      </p:sp>
      <p:sp>
        <p:nvSpPr>
          <p:cNvPr id="11" name="Text 9"/>
          <p:cNvSpPr txBox="1"/>
          <p:nvPr/>
        </p:nvSpPr>
        <p:spPr>
          <a:xfrm>
            <a:off x="685800" y="2386584"/>
            <a:ext cx="42062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Aplicar</a:t>
            </a:r>
            <a:endParaRPr lang="en-US" sz="1300" dirty="0"/>
          </a:p>
        </p:txBody>
      </p:sp>
      <p:sp>
        <p:nvSpPr>
          <p:cNvPr id="12" name="Text 10"/>
          <p:cNvSpPr txBox="1"/>
          <p:nvPr/>
        </p:nvSpPr>
        <p:spPr>
          <a:xfrm>
            <a:off x="5166360" y="2386584"/>
            <a:ext cx="347472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Demostración en vivo</a:t>
            </a:r>
            <a:endParaRPr lang="en-US" sz="1250" dirty="0"/>
          </a:p>
        </p:txBody>
      </p:sp>
      <p:sp>
        <p:nvSpPr>
          <p:cNvPr id="13" name="Shape 11"/>
          <p:cNvSpPr/>
          <p:nvPr/>
        </p:nvSpPr>
        <p:spPr>
          <a:xfrm>
            <a:off x="548640" y="2916936"/>
            <a:ext cx="5349240" cy="457200"/>
          </a:xfrm>
          <a:prstGeom prst="roundRect">
            <a:avLst>
              <a:gd name="adj" fmla="val 20000"/>
            </a:avLst>
          </a:prstGeom>
          <a:solidFill>
            <a:srgbClr val="7A4E9C"/>
          </a:solidFill>
          <a:ln w="12700">
            <a:solidFill>
              <a:srgbClr val="7A4E9C"/>
            </a:solidFill>
            <a:prstDash val="solid"/>
          </a:ln>
        </p:spPr>
      </p:sp>
      <p:sp>
        <p:nvSpPr>
          <p:cNvPr id="14" name="Text 12"/>
          <p:cNvSpPr txBox="1"/>
          <p:nvPr/>
        </p:nvSpPr>
        <p:spPr>
          <a:xfrm>
            <a:off x="685800" y="2916936"/>
            <a:ext cx="5074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Analizar</a:t>
            </a:r>
            <a:endParaRPr lang="en-US" sz="1300" dirty="0"/>
          </a:p>
        </p:txBody>
      </p:sp>
      <p:sp>
        <p:nvSpPr>
          <p:cNvPr id="15" name="Text 13"/>
          <p:cNvSpPr txBox="1"/>
          <p:nvPr/>
        </p:nvSpPr>
        <p:spPr>
          <a:xfrm>
            <a:off x="6035040" y="2916936"/>
            <a:ext cx="260604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Práctica en salas virtuales</a:t>
            </a:r>
            <a:endParaRPr lang="en-US" sz="1250" dirty="0"/>
          </a:p>
        </p:txBody>
      </p:sp>
      <p:sp>
        <p:nvSpPr>
          <p:cNvPr id="16" name="Shape 14"/>
          <p:cNvSpPr/>
          <p:nvPr/>
        </p:nvSpPr>
        <p:spPr>
          <a:xfrm>
            <a:off x="548640" y="3447288"/>
            <a:ext cx="6217920" cy="457200"/>
          </a:xfrm>
          <a:prstGeom prst="roundRect">
            <a:avLst>
              <a:gd name="adj" fmla="val 20000"/>
            </a:avLst>
          </a:prstGeom>
          <a:solidFill>
            <a:srgbClr val="C0392B"/>
          </a:solidFill>
          <a:ln w="12700">
            <a:solidFill>
              <a:srgbClr val="C0392B"/>
            </a:solidFill>
            <a:prstDash val="solid"/>
          </a:ln>
        </p:spPr>
      </p:sp>
      <p:sp>
        <p:nvSpPr>
          <p:cNvPr id="17" name="Text 15"/>
          <p:cNvSpPr txBox="1"/>
          <p:nvPr/>
        </p:nvSpPr>
        <p:spPr>
          <a:xfrm>
            <a:off x="685800" y="3447288"/>
            <a:ext cx="59436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Evaluar</a:t>
            </a:r>
            <a:endParaRPr lang="en-US" sz="1300" dirty="0"/>
          </a:p>
        </p:txBody>
      </p:sp>
      <p:sp>
        <p:nvSpPr>
          <p:cNvPr id="18" name="Text 16"/>
          <p:cNvSpPr txBox="1"/>
          <p:nvPr/>
        </p:nvSpPr>
        <p:spPr>
          <a:xfrm>
            <a:off x="6903720" y="3447288"/>
            <a:ext cx="173736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Plenaria y rúbrica</a:t>
            </a:r>
            <a:endParaRPr lang="en-US" sz="1250" dirty="0"/>
          </a:p>
        </p:txBody>
      </p:sp>
      <p:sp>
        <p:nvSpPr>
          <p:cNvPr id="19" name="Shape 17"/>
          <p:cNvSpPr/>
          <p:nvPr/>
        </p:nvSpPr>
        <p:spPr>
          <a:xfrm>
            <a:off x="548640" y="3977640"/>
            <a:ext cx="7086600" cy="457200"/>
          </a:xfrm>
          <a:prstGeom prst="roundRect">
            <a:avLst>
              <a:gd name="adj" fmla="val 20000"/>
            </a:avLst>
          </a:prstGeom>
          <a:solidFill>
            <a:srgbClr val="2E8B57"/>
          </a:solidFill>
          <a:ln w="12700">
            <a:solidFill>
              <a:srgbClr val="2E8B57"/>
            </a:solidFill>
            <a:prstDash val="solid"/>
          </a:ln>
        </p:spPr>
      </p:sp>
      <p:sp>
        <p:nvSpPr>
          <p:cNvPr id="20" name="Text 18"/>
          <p:cNvSpPr txBox="1"/>
          <p:nvPr/>
        </p:nvSpPr>
        <p:spPr>
          <a:xfrm>
            <a:off x="685800" y="3977640"/>
            <a:ext cx="6812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 Crear</a:t>
            </a:r>
            <a:endParaRPr lang="en-US" sz="1300" dirty="0"/>
          </a:p>
        </p:txBody>
      </p:sp>
      <p:sp>
        <p:nvSpPr>
          <p:cNvPr id="21" name="Text 19"/>
          <p:cNvSpPr txBox="1"/>
          <p:nvPr/>
        </p:nvSpPr>
        <p:spPr>
          <a:xfrm>
            <a:off x="7772400" y="3977640"/>
            <a:ext cx="868680" cy="457200"/>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Cierre, quiz y tarea</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Lo que preparaste antes de la clase</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508760"/>
            <a:ext cx="1051560" cy="256032"/>
          </a:xfrm>
          <a:prstGeom prst="roundRect">
            <a:avLst>
              <a:gd name="adj" fmla="val 50000"/>
            </a:avLst>
          </a:prstGeom>
          <a:solidFill>
            <a:srgbClr val="2E6DA4"/>
          </a:solidFill>
          <a:ln w="12700">
            <a:solidFill>
              <a:srgbClr val="2E6DA4"/>
            </a:solidFill>
            <a:prstDash val="solid"/>
          </a:ln>
        </p:spPr>
      </p:sp>
      <p:sp>
        <p:nvSpPr>
          <p:cNvPr id="6" name="Text 4"/>
          <p:cNvSpPr txBox="1"/>
          <p:nvPr/>
        </p:nvSpPr>
        <p:spPr>
          <a:xfrm>
            <a:off x="6858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7" name="Text 5"/>
          <p:cNvSpPr txBox="1"/>
          <p:nvPr/>
        </p:nvSpPr>
        <p:spPr>
          <a:xfrm>
            <a:off x="19202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25 min</a:t>
            </a:r>
            <a:endParaRPr lang="en-US" sz="1100" dirty="0"/>
          </a:p>
        </p:txBody>
      </p:sp>
      <p:sp>
        <p:nvSpPr>
          <p:cNvPr id="8" name="Text 6"/>
          <p:cNvSpPr txBox="1"/>
          <p:nvPr/>
        </p:nvSpPr>
        <p:spPr>
          <a:xfrm>
            <a:off x="7132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Explorar el conjunto de radiografías de tórax y contar imágenes por clase</a:t>
            </a:r>
            <a:endParaRPr lang="en-US" sz="1300" dirty="0"/>
          </a:p>
        </p:txBody>
      </p:sp>
      <p:sp>
        <p:nvSpPr>
          <p:cNvPr id="9" name="Text 7"/>
          <p:cNvSpPr txBox="1"/>
          <p:nvPr/>
        </p:nvSpPr>
        <p:spPr>
          <a:xfrm>
            <a:off x="7132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Tabla de imágenes por clase</a:t>
            </a:r>
            <a:endParaRPr lang="en-US" sz="1100" dirty="0"/>
          </a:p>
        </p:txBody>
      </p:sp>
      <p:sp>
        <p:nvSpPr>
          <p:cNvPr id="10" name="Shape 8"/>
          <p:cNvSpPr/>
          <p:nvPr/>
        </p:nvSpPr>
        <p:spPr>
          <a:xfrm>
            <a:off x="32918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3429000" y="1508760"/>
            <a:ext cx="1051560" cy="256032"/>
          </a:xfrm>
          <a:prstGeom prst="roundRect">
            <a:avLst>
              <a:gd name="adj" fmla="val 50000"/>
            </a:avLst>
          </a:prstGeom>
          <a:solidFill>
            <a:srgbClr val="1A7F8E"/>
          </a:solidFill>
          <a:ln w="12700">
            <a:solidFill>
              <a:srgbClr val="1A7F8E"/>
            </a:solidFill>
            <a:prstDash val="solid"/>
          </a:ln>
        </p:spPr>
      </p:sp>
      <p:sp>
        <p:nvSpPr>
          <p:cNvPr id="12" name="Text 10"/>
          <p:cNvSpPr txBox="1"/>
          <p:nvPr/>
        </p:nvSpPr>
        <p:spPr>
          <a:xfrm>
            <a:off x="34290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Recordar</a:t>
            </a:r>
            <a:endParaRPr lang="en-US" sz="1000" dirty="0"/>
          </a:p>
        </p:txBody>
      </p:sp>
      <p:sp>
        <p:nvSpPr>
          <p:cNvPr id="13" name="Text 11"/>
          <p:cNvSpPr txBox="1"/>
          <p:nvPr/>
        </p:nvSpPr>
        <p:spPr>
          <a:xfrm>
            <a:off x="46634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30 min</a:t>
            </a:r>
            <a:endParaRPr lang="en-US" sz="1100" dirty="0"/>
          </a:p>
        </p:txBody>
      </p:sp>
      <p:sp>
        <p:nvSpPr>
          <p:cNvPr id="14" name="Text 12"/>
          <p:cNvSpPr txBox="1"/>
          <p:nvPr/>
        </p:nvSpPr>
        <p:spPr>
          <a:xfrm>
            <a:off x="34564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Repasar el tutorial de CNN y las métricas clínicas</a:t>
            </a:r>
            <a:endParaRPr lang="en-US" sz="1300" dirty="0"/>
          </a:p>
        </p:txBody>
      </p:sp>
      <p:sp>
        <p:nvSpPr>
          <p:cNvPr id="15" name="Text 13"/>
          <p:cNvSpPr txBox="1"/>
          <p:nvPr/>
        </p:nvSpPr>
        <p:spPr>
          <a:xfrm>
            <a:off x="34564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Definiciones de sensibilidad y AUC</a:t>
            </a:r>
            <a:endParaRPr lang="en-US" sz="1100" dirty="0"/>
          </a:p>
        </p:txBody>
      </p:sp>
      <p:sp>
        <p:nvSpPr>
          <p:cNvPr id="16" name="Shape 14"/>
          <p:cNvSpPr/>
          <p:nvPr/>
        </p:nvSpPr>
        <p:spPr>
          <a:xfrm>
            <a:off x="60350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1508760"/>
            <a:ext cx="1051560" cy="256032"/>
          </a:xfrm>
          <a:prstGeom prst="roundRect">
            <a:avLst>
              <a:gd name="adj" fmla="val 50000"/>
            </a:avLst>
          </a:prstGeom>
          <a:solidFill>
            <a:srgbClr val="2E6DA4"/>
          </a:solidFill>
          <a:ln w="12700">
            <a:solidFill>
              <a:srgbClr val="2E6DA4"/>
            </a:solidFill>
            <a:prstDash val="solid"/>
          </a:ln>
        </p:spPr>
      </p:sp>
      <p:sp>
        <p:nvSpPr>
          <p:cNvPr id="18" name="Text 16"/>
          <p:cNvSpPr txBox="1"/>
          <p:nvPr/>
        </p:nvSpPr>
        <p:spPr>
          <a:xfrm>
            <a:off x="61722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Comprender</a:t>
            </a:r>
            <a:endParaRPr lang="en-US" sz="1000" dirty="0"/>
          </a:p>
        </p:txBody>
      </p:sp>
      <p:sp>
        <p:nvSpPr>
          <p:cNvPr id="19" name="Text 17"/>
          <p:cNvSpPr txBox="1"/>
          <p:nvPr/>
        </p:nvSpPr>
        <p:spPr>
          <a:xfrm>
            <a:off x="74066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20 min</a:t>
            </a:r>
            <a:endParaRPr lang="en-US" sz="1100" dirty="0"/>
          </a:p>
        </p:txBody>
      </p:sp>
      <p:sp>
        <p:nvSpPr>
          <p:cNvPr id="20" name="Text 18"/>
          <p:cNvSpPr txBox="1"/>
          <p:nvPr/>
        </p:nvSpPr>
        <p:spPr>
          <a:xfrm>
            <a:off x="61996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Revisar una colección de TCIA con tumores y anotar la modalidad</a:t>
            </a:r>
            <a:endParaRPr lang="en-US" sz="1300" dirty="0"/>
          </a:p>
        </p:txBody>
      </p:sp>
      <p:sp>
        <p:nvSpPr>
          <p:cNvPr id="21" name="Text 19"/>
          <p:cNvSpPr txBox="1"/>
          <p:nvPr/>
        </p:nvSpPr>
        <p:spPr>
          <a:xfrm>
            <a:off x="61996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Colección y modalidad</a:t>
            </a:r>
            <a:endParaRPr lang="en-US" sz="11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Del problema clínico al modelo</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Pregunta clínica</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¿Qué decisión ayudará el modelo a tomar?</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Clases</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Definir normal, neumonía u otras patologías.</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Datos etiquetados</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Colecciones públicas como TCIA o radiografías de tórax.</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Métrica</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Elegir sensibilidad, especificidad y AUC según el riesgo.</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Radiografías de tórax con neumonía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463040"/>
            <a:ext cx="2560320" cy="2103120"/>
          </a:xfrm>
          <a:prstGeom prst="roundRect">
            <a:avLst>
              <a:gd name="adj" fmla="val 4348"/>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40080" y="1600200"/>
            <a:ext cx="2377440" cy="914400"/>
          </a:xfrm>
          <a:prstGeom prst="rect">
            <a:avLst/>
          </a:prstGeom>
          <a:noFill/>
          <a:ln/>
        </p:spPr>
        <p:txBody>
          <a:bodyPr wrap="square" lIns="0" tIns="0" rIns="0" bIns="0" rtlCol="0" anchor="ctr">
            <a:normAutofit/>
          </a:bodyPr>
          <a:lstStyle/>
          <a:p>
            <a:pPr algn="ctr" indent="0" marL="0">
              <a:buNone/>
            </a:pPr>
            <a:r>
              <a:rPr lang="en-US" sz="3400" b="1" dirty="0">
                <a:solidFill>
                  <a:srgbClr val="1A7F8E"/>
                </a:solidFill>
                <a:latin typeface="Cambria" pitchFamily="34" charset="0"/>
                <a:ea typeface="Cambria" pitchFamily="34" charset="-122"/>
                <a:cs typeface="Cambria" pitchFamily="34" charset="-120"/>
              </a:rPr>
              <a:t>5 863</a:t>
            </a:r>
            <a:endParaRPr lang="en-US" sz="3400" dirty="0"/>
          </a:p>
        </p:txBody>
      </p:sp>
      <p:sp>
        <p:nvSpPr>
          <p:cNvPr id="6" name="Text 4"/>
          <p:cNvSpPr txBox="1"/>
          <p:nvPr/>
        </p:nvSpPr>
        <p:spPr>
          <a:xfrm>
            <a:off x="731520" y="2560320"/>
            <a:ext cx="2194560" cy="914400"/>
          </a:xfrm>
          <a:prstGeom prst="rect">
            <a:avLst/>
          </a:prstGeom>
          <a:noFill/>
          <a:ln/>
        </p:spPr>
        <p:txBody>
          <a:bodyPr wrap="square" lIns="0" tIns="0" rIns="0" bIns="0" rtlCol="0" anchor="t"/>
          <a:lstStyle/>
          <a:p>
            <a:pPr algn="ctr" indent="0" marL="0">
              <a:buNone/>
            </a:pPr>
            <a:r>
              <a:rPr lang="en-US" sz="1250" dirty="0">
                <a:solidFill>
                  <a:srgbClr val="4A5B6C"/>
                </a:solidFill>
                <a:latin typeface="Calibri" pitchFamily="34" charset="0"/>
                <a:ea typeface="Calibri" pitchFamily="34" charset="-122"/>
                <a:cs typeface="Calibri" pitchFamily="34" charset="-120"/>
              </a:rPr>
              <a:t>imágenes en el conjunto</a:t>
            </a:r>
            <a:endParaRPr lang="en-US" sz="1250" dirty="0"/>
          </a:p>
        </p:txBody>
      </p:sp>
      <p:sp>
        <p:nvSpPr>
          <p:cNvPr id="7" name="Shape 5"/>
          <p:cNvSpPr/>
          <p:nvPr/>
        </p:nvSpPr>
        <p:spPr>
          <a:xfrm>
            <a:off x="3291840" y="1463040"/>
            <a:ext cx="2560320" cy="2103120"/>
          </a:xfrm>
          <a:prstGeom prst="roundRect">
            <a:avLst>
              <a:gd name="adj" fmla="val 4348"/>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383280" y="1600200"/>
            <a:ext cx="2377440" cy="914400"/>
          </a:xfrm>
          <a:prstGeom prst="rect">
            <a:avLst/>
          </a:prstGeom>
          <a:noFill/>
          <a:ln/>
        </p:spPr>
        <p:txBody>
          <a:bodyPr wrap="square" lIns="0" tIns="0" rIns="0" bIns="0" rtlCol="0" anchor="ctr">
            <a:normAutofit/>
          </a:bodyPr>
          <a:lstStyle/>
          <a:p>
            <a:pPr algn="ctr" indent="0" marL="0">
              <a:buNone/>
            </a:pPr>
            <a:r>
              <a:rPr lang="en-US" sz="3400" b="1" dirty="0">
                <a:solidFill>
                  <a:srgbClr val="E8871E"/>
                </a:solidFill>
                <a:latin typeface="Cambria" pitchFamily="34" charset="0"/>
                <a:ea typeface="Cambria" pitchFamily="34" charset="-122"/>
                <a:cs typeface="Cambria" pitchFamily="34" charset="-120"/>
              </a:rPr>
              <a:t>2</a:t>
            </a:r>
            <a:endParaRPr lang="en-US" sz="3400" dirty="0"/>
          </a:p>
        </p:txBody>
      </p:sp>
      <p:sp>
        <p:nvSpPr>
          <p:cNvPr id="9" name="Text 7"/>
          <p:cNvSpPr txBox="1"/>
          <p:nvPr/>
        </p:nvSpPr>
        <p:spPr>
          <a:xfrm>
            <a:off x="3474720" y="2560320"/>
            <a:ext cx="2194560" cy="914400"/>
          </a:xfrm>
          <a:prstGeom prst="rect">
            <a:avLst/>
          </a:prstGeom>
          <a:noFill/>
          <a:ln/>
        </p:spPr>
        <p:txBody>
          <a:bodyPr wrap="square" lIns="0" tIns="0" rIns="0" bIns="0" rtlCol="0" anchor="t"/>
          <a:lstStyle/>
          <a:p>
            <a:pPr algn="ctr" indent="0" marL="0">
              <a:buNone/>
            </a:pPr>
            <a:r>
              <a:rPr lang="en-US" sz="1250" dirty="0">
                <a:solidFill>
                  <a:srgbClr val="4A5B6C"/>
                </a:solidFill>
                <a:latin typeface="Calibri" pitchFamily="34" charset="0"/>
                <a:ea typeface="Calibri" pitchFamily="34" charset="-122"/>
                <a:cs typeface="Calibri" pitchFamily="34" charset="-120"/>
              </a:rPr>
              <a:t>clases: normal y neumonía</a:t>
            </a:r>
            <a:endParaRPr lang="en-US" sz="1250" dirty="0"/>
          </a:p>
        </p:txBody>
      </p:sp>
      <p:sp>
        <p:nvSpPr>
          <p:cNvPr id="10" name="Shape 8"/>
          <p:cNvSpPr/>
          <p:nvPr/>
        </p:nvSpPr>
        <p:spPr>
          <a:xfrm>
            <a:off x="6035040" y="1463040"/>
            <a:ext cx="2560320" cy="2103120"/>
          </a:xfrm>
          <a:prstGeom prst="roundRect">
            <a:avLst>
              <a:gd name="adj" fmla="val 4348"/>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126480" y="1600200"/>
            <a:ext cx="2377440" cy="914400"/>
          </a:xfrm>
          <a:prstGeom prst="rect">
            <a:avLst/>
          </a:prstGeom>
          <a:noFill/>
          <a:ln/>
        </p:spPr>
        <p:txBody>
          <a:bodyPr wrap="square" lIns="0" tIns="0" rIns="0" bIns="0" rtlCol="0" anchor="ctr">
            <a:normAutofit/>
          </a:bodyPr>
          <a:lstStyle/>
          <a:p>
            <a:pPr algn="ctr" indent="0" marL="0">
              <a:buNone/>
            </a:pPr>
            <a:r>
              <a:rPr lang="en-US" sz="3400" b="1" dirty="0">
                <a:solidFill>
                  <a:srgbClr val="1A7F8E"/>
                </a:solidFill>
                <a:latin typeface="Cambria" pitchFamily="34" charset="0"/>
                <a:ea typeface="Cambria" pitchFamily="34" charset="-122"/>
                <a:cs typeface="Cambria" pitchFamily="34" charset="-120"/>
              </a:rPr>
              <a:t>1 a 5 años</a:t>
            </a:r>
            <a:endParaRPr lang="en-US" sz="3400" dirty="0"/>
          </a:p>
        </p:txBody>
      </p:sp>
      <p:sp>
        <p:nvSpPr>
          <p:cNvPr id="12" name="Text 10"/>
          <p:cNvSpPr txBox="1"/>
          <p:nvPr/>
        </p:nvSpPr>
        <p:spPr>
          <a:xfrm>
            <a:off x="6217920" y="2560320"/>
            <a:ext cx="2194560" cy="914400"/>
          </a:xfrm>
          <a:prstGeom prst="rect">
            <a:avLst/>
          </a:prstGeom>
          <a:noFill/>
          <a:ln/>
        </p:spPr>
        <p:txBody>
          <a:bodyPr wrap="square" lIns="0" tIns="0" rIns="0" bIns="0" rtlCol="0" anchor="t"/>
          <a:lstStyle/>
          <a:p>
            <a:pPr algn="ctr" indent="0" marL="0">
              <a:buNone/>
            </a:pPr>
            <a:r>
              <a:rPr lang="en-US" sz="1250" dirty="0">
                <a:solidFill>
                  <a:srgbClr val="4A5B6C"/>
                </a:solidFill>
                <a:latin typeface="Calibri" pitchFamily="34" charset="0"/>
                <a:ea typeface="Calibri" pitchFamily="34" charset="-122"/>
                <a:cs typeface="Calibri" pitchFamily="34" charset="-120"/>
              </a:rPr>
              <a:t>edad de los pacientes pediátricos</a:t>
            </a:r>
            <a:endParaRPr lang="en-US" sz="1250" dirty="0"/>
          </a:p>
        </p:txBody>
      </p:sp>
      <p:sp>
        <p:nvSpPr>
          <p:cNvPr id="13" name="Text 11"/>
          <p:cNvSpPr txBox="1"/>
          <p:nvPr/>
        </p:nvSpPr>
        <p:spPr>
          <a:xfrm>
            <a:off x="548640" y="3840480"/>
            <a:ext cx="8046720" cy="685800"/>
          </a:xfrm>
          <a:prstGeom prst="rect">
            <a:avLst/>
          </a:prstGeom>
          <a:noFill/>
          <a:ln/>
        </p:spPr>
        <p:txBody>
          <a:bodyPr wrap="square" lIns="0" tIns="0" rIns="0" bIns="0" rtlCol="0" anchor="t"/>
          <a:lstStyle/>
          <a:p>
            <a:pPr indent="0" marL="0">
              <a:buNone/>
            </a:pPr>
            <a:r>
              <a:rPr lang="en-US" sz="1250" i="1" dirty="0">
                <a:solidFill>
                  <a:srgbClr val="1F2D3D"/>
                </a:solidFill>
                <a:latin typeface="Calibri" pitchFamily="34" charset="0"/>
                <a:ea typeface="Calibri" pitchFamily="34" charset="-122"/>
                <a:cs typeface="Calibri" pitchFamily="34" charset="-120"/>
              </a:rPr>
              <a:t>Etiquetadas por dos médicos y revisadas por un tercero; conjunto separado en entrenamiento, validación y prueba.</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Aprendizaje por transferencia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37160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Red preentrenada</a:t>
            </a:r>
            <a:endParaRPr lang="en-US" sz="1400" dirty="0"/>
          </a:p>
        </p:txBody>
      </p:sp>
      <p:sp>
        <p:nvSpPr>
          <p:cNvPr id="8" name="Text 6"/>
          <p:cNvSpPr txBox="1"/>
          <p:nvPr/>
        </p:nvSpPr>
        <p:spPr>
          <a:xfrm>
            <a:off x="3657600" y="137160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Partir de una CNN entrenada en ImageNet.</a:t>
            </a:r>
            <a:endParaRPr lang="en-US" sz="1250" dirty="0"/>
          </a:p>
        </p:txBody>
      </p:sp>
      <p:sp>
        <p:nvSpPr>
          <p:cNvPr id="9" name="Shape 7"/>
          <p:cNvSpPr/>
          <p:nvPr/>
        </p:nvSpPr>
        <p:spPr>
          <a:xfrm>
            <a:off x="548640" y="214884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713232" y="2313432"/>
            <a:ext cx="384048" cy="384048"/>
          </a:xfrm>
          <a:prstGeom prst="ellipse">
            <a:avLst/>
          </a:prstGeom>
          <a:solidFill>
            <a:srgbClr val="1A7F8E"/>
          </a:solidFill>
          <a:ln w="12700">
            <a:solidFill>
              <a:srgbClr val="1A7F8E"/>
            </a:solidFill>
            <a:prstDash val="solid"/>
          </a:ln>
        </p:spPr>
      </p:sp>
      <p:sp>
        <p:nvSpPr>
          <p:cNvPr id="11" name="Text 9"/>
          <p:cNvSpPr txBox="1"/>
          <p:nvPr/>
        </p:nvSpPr>
        <p:spPr>
          <a:xfrm>
            <a:off x="713232" y="2313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80160" y="214884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Congelar la base</a:t>
            </a:r>
            <a:endParaRPr lang="en-US" sz="1400" dirty="0"/>
          </a:p>
        </p:txBody>
      </p:sp>
      <p:sp>
        <p:nvSpPr>
          <p:cNvPr id="13" name="Text 11"/>
          <p:cNvSpPr txBox="1"/>
          <p:nvPr/>
        </p:nvSpPr>
        <p:spPr>
          <a:xfrm>
            <a:off x="3657600" y="214884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Conservar los filtros generales.</a:t>
            </a:r>
            <a:endParaRPr lang="en-US" sz="1250" dirty="0"/>
          </a:p>
        </p:txBody>
      </p:sp>
      <p:sp>
        <p:nvSpPr>
          <p:cNvPr id="14" name="Shape 12"/>
          <p:cNvSpPr/>
          <p:nvPr/>
        </p:nvSpPr>
        <p:spPr>
          <a:xfrm>
            <a:off x="548640" y="292608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09067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090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292608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Nuevo clasificador</a:t>
            </a:r>
            <a:endParaRPr lang="en-US" sz="1400" dirty="0"/>
          </a:p>
        </p:txBody>
      </p:sp>
      <p:sp>
        <p:nvSpPr>
          <p:cNvPr id="18" name="Text 16"/>
          <p:cNvSpPr txBox="1"/>
          <p:nvPr/>
        </p:nvSpPr>
        <p:spPr>
          <a:xfrm>
            <a:off x="3657600" y="292608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Entrenar capas finales para tu problema.</a:t>
            </a:r>
            <a:endParaRPr lang="en-US" sz="1250" dirty="0"/>
          </a:p>
        </p:txBody>
      </p:sp>
      <p:sp>
        <p:nvSpPr>
          <p:cNvPr id="19" name="Shape 17"/>
          <p:cNvSpPr/>
          <p:nvPr/>
        </p:nvSpPr>
        <p:spPr>
          <a:xfrm>
            <a:off x="548640" y="3703320"/>
            <a:ext cx="8046720" cy="713232"/>
          </a:xfrm>
          <a:prstGeom prst="roundRect">
            <a:avLst>
              <a:gd name="adj" fmla="val 1282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13232" y="386791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713232"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80160" y="3703320"/>
            <a:ext cx="2286000" cy="713232"/>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Ajuste fino</a:t>
            </a:r>
            <a:endParaRPr lang="en-US" sz="1400" dirty="0"/>
          </a:p>
        </p:txBody>
      </p:sp>
      <p:sp>
        <p:nvSpPr>
          <p:cNvPr id="23" name="Text 21"/>
          <p:cNvSpPr txBox="1"/>
          <p:nvPr/>
        </p:nvSpPr>
        <p:spPr>
          <a:xfrm>
            <a:off x="3657600" y="3703320"/>
            <a:ext cx="4754880" cy="713232"/>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Descongelar con tasa de aprendizaje baja.</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Aumento de datos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Rotaciones leves</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Pequeños giros que imitan variaciones de posición.</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Brillo y contraste</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Simulan cambios de equipo.</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Recortes</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Variaciones de encuadre.</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Cuidado anatómico</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No invertir lo que rompe la anatomía, como el corazón.</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Curva ROC y AUC</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Eje horizontal</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1 − especificidad (falsos positivos).</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Eje vertical</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Sensibilidad (verdaderos positivos).</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AUC</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0,5 equivale al azar; 1 es perfecto.</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Umbral</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Se elige según el costo de cada tipo de error.</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Desbalance y falsos negativos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3840480" cy="3154680"/>
          </a:xfrm>
          <a:prstGeom prst="roundRect">
            <a:avLst>
              <a:gd name="adj" fmla="val 289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554480"/>
            <a:ext cx="3474720" cy="457200"/>
          </a:xfrm>
          <a:prstGeom prst="roundRect">
            <a:avLst>
              <a:gd name="adj" fmla="val 20000"/>
            </a:avLst>
          </a:prstGeom>
          <a:solidFill>
            <a:srgbClr val="0B2545"/>
          </a:solidFill>
          <a:ln w="12700">
            <a:solidFill>
              <a:srgbClr val="0B2545"/>
            </a:solidFill>
            <a:prstDash val="solid"/>
          </a:ln>
        </p:spPr>
      </p:sp>
      <p:sp>
        <p:nvSpPr>
          <p:cNvPr id="6" name="Text 4"/>
          <p:cNvSpPr txBox="1"/>
          <p:nvPr/>
        </p:nvSpPr>
        <p:spPr>
          <a:xfrm>
            <a:off x="731520" y="1554480"/>
            <a:ext cx="34747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Problema</a:t>
            </a:r>
            <a:endParaRPr lang="en-US" sz="1500" dirty="0"/>
          </a:p>
        </p:txBody>
      </p:sp>
      <p:sp>
        <p:nvSpPr>
          <p:cNvPr id="7" name="Text 5"/>
          <p:cNvSpPr txBox="1"/>
          <p:nvPr/>
        </p:nvSpPr>
        <p:spPr>
          <a:xfrm>
            <a:off x="777240" y="219456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Pocas imágenes de la clase enferma</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El modelo favorece la clase común</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La exactitud parece alta pero se pierden casos</a:t>
            </a:r>
            <a:endParaRPr lang="en-US" sz="1300" dirty="0"/>
          </a:p>
        </p:txBody>
      </p:sp>
      <p:sp>
        <p:nvSpPr>
          <p:cNvPr id="8" name="Shape 6"/>
          <p:cNvSpPr/>
          <p:nvPr/>
        </p:nvSpPr>
        <p:spPr>
          <a:xfrm>
            <a:off x="4754880" y="1371600"/>
            <a:ext cx="3840480" cy="3154680"/>
          </a:xfrm>
          <a:prstGeom prst="roundRect">
            <a:avLst>
              <a:gd name="adj" fmla="val 289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937760" y="1554480"/>
            <a:ext cx="3474720" cy="457200"/>
          </a:xfrm>
          <a:prstGeom prst="roundRect">
            <a:avLst>
              <a:gd name="adj" fmla="val 20000"/>
            </a:avLst>
          </a:prstGeom>
          <a:solidFill>
            <a:srgbClr val="1A7F8E"/>
          </a:solidFill>
          <a:ln w="12700">
            <a:solidFill>
              <a:srgbClr val="1A7F8E"/>
            </a:solidFill>
            <a:prstDash val="solid"/>
          </a:ln>
        </p:spPr>
      </p:sp>
      <p:sp>
        <p:nvSpPr>
          <p:cNvPr id="10" name="Text 8"/>
          <p:cNvSpPr txBox="1"/>
          <p:nvPr/>
        </p:nvSpPr>
        <p:spPr>
          <a:xfrm>
            <a:off x="4937760" y="1554480"/>
            <a:ext cx="34747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Acciones</a:t>
            </a:r>
            <a:endParaRPr lang="en-US" sz="1500" dirty="0"/>
          </a:p>
        </p:txBody>
      </p:sp>
      <p:sp>
        <p:nvSpPr>
          <p:cNvPr id="11" name="Text 9"/>
          <p:cNvSpPr txBox="1"/>
          <p:nvPr/>
        </p:nvSpPr>
        <p:spPr>
          <a:xfrm>
            <a:off x="4983480" y="219456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Pesos de clase y aumento de datos</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Bajar el umbral para subir sensibilidad</a:t>
            </a:r>
            <a:endParaRPr lang="en-US" sz="1300" dirty="0"/>
          </a:p>
          <a:p>
            <a:pPr marL="342900" indent="-342900">
              <a:spcAft>
                <a:spcPts val="800"/>
              </a:spcAft>
              <a:buSzPct val="100000"/>
              <a:buChar char="•"/>
            </a:pPr>
            <a:r>
              <a:rPr lang="en-US" sz="1300" dirty="0">
                <a:solidFill>
                  <a:srgbClr val="1F2D3D"/>
                </a:solidFill>
                <a:latin typeface="Calibri" pitchFamily="34" charset="0"/>
                <a:ea typeface="Calibri" pitchFamily="34" charset="-122"/>
                <a:cs typeface="Calibri" pitchFamily="34" charset="-120"/>
              </a:rPr>
              <a:t>Revisar los falsos negativos uno a uno</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Explicabilidad con Grad-CAM</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Mapa de calor</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Resalta las regiones que más influyen en la decisión.</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Verificación</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Comprobar que el modelo mire el pulmón.</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Atajos</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Detectar si mira marcadores, texto o el tipo de equipo.</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Confianza</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Ayuda al médico a decidir si usar la sugerencia.</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Riesgos y sesgos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070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Un solo hospital</a:t>
            </a:r>
            <a:endParaRPr lang="en-US" sz="1400" dirty="0"/>
          </a:p>
        </p:txBody>
      </p:sp>
      <p:sp>
        <p:nvSpPr>
          <p:cNvPr id="8" name="Text 6"/>
          <p:cNvSpPr txBox="1"/>
          <p:nvPr/>
        </p:nvSpPr>
        <p:spPr>
          <a:xfrm>
            <a:off x="7315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El modelo puede no generalizar a otros centros.</a:t>
            </a:r>
            <a:endParaRPr lang="en-US" sz="1250" dirty="0"/>
          </a:p>
        </p:txBody>
      </p:sp>
      <p:sp>
        <p:nvSpPr>
          <p:cNvPr id="9" name="Shape 7"/>
          <p:cNvSpPr/>
          <p:nvPr/>
        </p:nvSpPr>
        <p:spPr>
          <a:xfrm>
            <a:off x="4663440" y="13716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28032" y="1536192"/>
            <a:ext cx="384048" cy="384048"/>
          </a:xfrm>
          <a:prstGeom prst="ellipse">
            <a:avLst/>
          </a:prstGeom>
          <a:solidFill>
            <a:srgbClr val="1A7F8E"/>
          </a:solidFill>
          <a:ln w="12700">
            <a:solidFill>
              <a:srgbClr val="1A7F8E"/>
            </a:solidFill>
            <a:prstDash val="solid"/>
          </a:ln>
        </p:spPr>
      </p:sp>
      <p:sp>
        <p:nvSpPr>
          <p:cNvPr id="11" name="Text 9"/>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21808" y="14996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Equipo y protocolo</a:t>
            </a:r>
            <a:endParaRPr lang="en-US" sz="1400" dirty="0"/>
          </a:p>
        </p:txBody>
      </p:sp>
      <p:sp>
        <p:nvSpPr>
          <p:cNvPr id="13" name="Text 11"/>
          <p:cNvSpPr txBox="1"/>
          <p:nvPr/>
        </p:nvSpPr>
        <p:spPr>
          <a:xfrm>
            <a:off x="4846320" y="19933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Cambios de máquina alteran la imagen.</a:t>
            </a:r>
            <a:endParaRPr lang="en-US" sz="1250" dirty="0"/>
          </a:p>
        </p:txBody>
      </p:sp>
      <p:sp>
        <p:nvSpPr>
          <p:cNvPr id="14" name="Shape 12"/>
          <p:cNvSpPr/>
          <p:nvPr/>
        </p:nvSpPr>
        <p:spPr>
          <a:xfrm>
            <a:off x="5486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313639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070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Población</a:t>
            </a:r>
            <a:endParaRPr lang="en-US" sz="1400" dirty="0"/>
          </a:p>
        </p:txBody>
      </p:sp>
      <p:sp>
        <p:nvSpPr>
          <p:cNvPr id="18" name="Text 16"/>
          <p:cNvSpPr txBox="1"/>
          <p:nvPr/>
        </p:nvSpPr>
        <p:spPr>
          <a:xfrm>
            <a:off x="7315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Edad y prevalencia distintas a las del entrenamiento.</a:t>
            </a:r>
            <a:endParaRPr lang="en-US" sz="1250" dirty="0"/>
          </a:p>
        </p:txBody>
      </p:sp>
      <p:sp>
        <p:nvSpPr>
          <p:cNvPr id="19" name="Shape 17"/>
          <p:cNvSpPr/>
          <p:nvPr/>
        </p:nvSpPr>
        <p:spPr>
          <a:xfrm>
            <a:off x="4663440" y="2971800"/>
            <a:ext cx="3931920" cy="1417320"/>
          </a:xfrm>
          <a:prstGeom prst="roundRect">
            <a:avLst>
              <a:gd name="adj" fmla="val 64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28032" y="3136392"/>
            <a:ext cx="384048" cy="384048"/>
          </a:xfrm>
          <a:prstGeom prst="ellipse">
            <a:avLst/>
          </a:prstGeom>
          <a:solidFill>
            <a:srgbClr val="1A7F8E"/>
          </a:solidFill>
          <a:ln w="12700">
            <a:solidFill>
              <a:srgbClr val="1A7F8E"/>
            </a:solidFill>
            <a:prstDash val="solid"/>
          </a:ln>
        </p:spPr>
      </p:sp>
      <p:sp>
        <p:nvSpPr>
          <p:cNvPr id="21" name="Text 19"/>
          <p:cNvSpPr txBox="1"/>
          <p:nvPr/>
        </p:nvSpPr>
        <p:spPr>
          <a:xfrm>
            <a:off x="4828032" y="3136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21808" y="3099816"/>
            <a:ext cx="3154680" cy="45720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Deriva</a:t>
            </a:r>
            <a:endParaRPr lang="en-US" sz="1400" dirty="0"/>
          </a:p>
        </p:txBody>
      </p:sp>
      <p:sp>
        <p:nvSpPr>
          <p:cNvPr id="23" name="Text 21"/>
          <p:cNvSpPr txBox="1"/>
          <p:nvPr/>
        </p:nvSpPr>
        <p:spPr>
          <a:xfrm>
            <a:off x="4846320" y="3593592"/>
            <a:ext cx="3611880" cy="731520"/>
          </a:xfrm>
          <a:prstGeom prst="rect">
            <a:avLst/>
          </a:prstGeom>
          <a:noFill/>
          <a:ln/>
        </p:spPr>
        <p:txBody>
          <a:bodyPr wrap="square" lIns="0" tIns="0" rIns="0" bIns="0" rtlCol="0" anchor="t"/>
          <a:lstStyle/>
          <a:p>
            <a:pPr indent="0" marL="0">
              <a:buNone/>
            </a:pPr>
            <a:r>
              <a:rPr lang="en-US" sz="1250" dirty="0">
                <a:solidFill>
                  <a:srgbClr val="4A5B6C"/>
                </a:solidFill>
                <a:latin typeface="Calibri" pitchFamily="34" charset="0"/>
                <a:ea typeface="Calibri" pitchFamily="34" charset="-122"/>
                <a:cs typeface="Calibri" pitchFamily="34" charset="-120"/>
              </a:rPr>
              <a:t>El desempeño cambia con el tiempo.</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Plan de validación clínica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8046720" cy="603504"/>
          </a:xfrm>
          <a:prstGeom prst="roundRect">
            <a:avLst>
              <a:gd name="adj" fmla="val 151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481328"/>
            <a:ext cx="384048" cy="384048"/>
          </a:xfrm>
          <a:prstGeom prst="ellipse">
            <a:avLst/>
          </a:prstGeom>
          <a:solidFill>
            <a:srgbClr val="1A7F8E"/>
          </a:solidFill>
          <a:ln w="12700">
            <a:solidFill>
              <a:srgbClr val="1A7F8E"/>
            </a:solidFill>
            <a:prstDash val="solid"/>
          </a:ln>
        </p:spPr>
      </p:sp>
      <p:sp>
        <p:nvSpPr>
          <p:cNvPr id="6" name="Text 4"/>
          <p:cNvSpPr txBox="1"/>
          <p:nvPr/>
        </p:nvSpPr>
        <p:spPr>
          <a:xfrm>
            <a:off x="713232"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371600"/>
            <a:ext cx="2286000" cy="603504"/>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Validación interna</a:t>
            </a:r>
            <a:endParaRPr lang="en-US" sz="1400" dirty="0"/>
          </a:p>
        </p:txBody>
      </p:sp>
      <p:sp>
        <p:nvSpPr>
          <p:cNvPr id="8" name="Text 6"/>
          <p:cNvSpPr txBox="1"/>
          <p:nvPr/>
        </p:nvSpPr>
        <p:spPr>
          <a:xfrm>
            <a:off x="3657600" y="1371600"/>
            <a:ext cx="4754880" cy="603504"/>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Prueba con datos separados del mismo centro.</a:t>
            </a:r>
            <a:endParaRPr lang="en-US" sz="1250" dirty="0"/>
          </a:p>
        </p:txBody>
      </p:sp>
      <p:sp>
        <p:nvSpPr>
          <p:cNvPr id="9" name="Shape 7"/>
          <p:cNvSpPr/>
          <p:nvPr/>
        </p:nvSpPr>
        <p:spPr>
          <a:xfrm>
            <a:off x="548640" y="2039112"/>
            <a:ext cx="8046720" cy="603504"/>
          </a:xfrm>
          <a:prstGeom prst="roundRect">
            <a:avLst>
              <a:gd name="adj" fmla="val 151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713232" y="2148840"/>
            <a:ext cx="384048" cy="384048"/>
          </a:xfrm>
          <a:prstGeom prst="ellipse">
            <a:avLst/>
          </a:prstGeom>
          <a:solidFill>
            <a:srgbClr val="1A7F8E"/>
          </a:solidFill>
          <a:ln w="12700">
            <a:solidFill>
              <a:srgbClr val="1A7F8E"/>
            </a:solidFill>
            <a:prstDash val="solid"/>
          </a:ln>
        </p:spPr>
      </p:sp>
      <p:sp>
        <p:nvSpPr>
          <p:cNvPr id="11" name="Text 9"/>
          <p:cNvSpPr txBox="1"/>
          <p:nvPr/>
        </p:nvSpPr>
        <p:spPr>
          <a:xfrm>
            <a:off x="713232"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280160" y="2039112"/>
            <a:ext cx="2286000" cy="603504"/>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Validación externa</a:t>
            </a:r>
            <a:endParaRPr lang="en-US" sz="1400" dirty="0"/>
          </a:p>
        </p:txBody>
      </p:sp>
      <p:sp>
        <p:nvSpPr>
          <p:cNvPr id="13" name="Text 11"/>
          <p:cNvSpPr txBox="1"/>
          <p:nvPr/>
        </p:nvSpPr>
        <p:spPr>
          <a:xfrm>
            <a:off x="3657600" y="2039112"/>
            <a:ext cx="4754880" cy="603504"/>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Otros hospitales y equipos.</a:t>
            </a:r>
            <a:endParaRPr lang="en-US" sz="1250" dirty="0"/>
          </a:p>
        </p:txBody>
      </p:sp>
      <p:sp>
        <p:nvSpPr>
          <p:cNvPr id="14" name="Shape 12"/>
          <p:cNvSpPr/>
          <p:nvPr/>
        </p:nvSpPr>
        <p:spPr>
          <a:xfrm>
            <a:off x="548640" y="2706624"/>
            <a:ext cx="8046720" cy="603504"/>
          </a:xfrm>
          <a:prstGeom prst="roundRect">
            <a:avLst>
              <a:gd name="adj" fmla="val 151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13232" y="2816352"/>
            <a:ext cx="384048" cy="384048"/>
          </a:xfrm>
          <a:prstGeom prst="ellipse">
            <a:avLst/>
          </a:prstGeom>
          <a:solidFill>
            <a:srgbClr val="1A7F8E"/>
          </a:solidFill>
          <a:ln w="12700">
            <a:solidFill>
              <a:srgbClr val="1A7F8E"/>
            </a:solidFill>
            <a:prstDash val="solid"/>
          </a:ln>
        </p:spPr>
      </p:sp>
      <p:sp>
        <p:nvSpPr>
          <p:cNvPr id="16" name="Text 14"/>
          <p:cNvSpPr txBox="1"/>
          <p:nvPr/>
        </p:nvSpPr>
        <p:spPr>
          <a:xfrm>
            <a:off x="713232"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2706624"/>
            <a:ext cx="2286000" cy="603504"/>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Estudio prospectivo</a:t>
            </a:r>
            <a:endParaRPr lang="en-US" sz="1400" dirty="0"/>
          </a:p>
        </p:txBody>
      </p:sp>
      <p:sp>
        <p:nvSpPr>
          <p:cNvPr id="18" name="Text 16"/>
          <p:cNvSpPr txBox="1"/>
          <p:nvPr/>
        </p:nvSpPr>
        <p:spPr>
          <a:xfrm>
            <a:off x="3657600" y="2706624"/>
            <a:ext cx="4754880" cy="603504"/>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Uso en condiciones reales, con supervisión.</a:t>
            </a:r>
            <a:endParaRPr lang="en-US" sz="1250" dirty="0"/>
          </a:p>
        </p:txBody>
      </p:sp>
      <p:sp>
        <p:nvSpPr>
          <p:cNvPr id="19" name="Shape 17"/>
          <p:cNvSpPr/>
          <p:nvPr/>
        </p:nvSpPr>
        <p:spPr>
          <a:xfrm>
            <a:off x="548640" y="3374136"/>
            <a:ext cx="8046720" cy="603504"/>
          </a:xfrm>
          <a:prstGeom prst="roundRect">
            <a:avLst>
              <a:gd name="adj" fmla="val 151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13232" y="3483864"/>
            <a:ext cx="384048" cy="384048"/>
          </a:xfrm>
          <a:prstGeom prst="ellipse">
            <a:avLst/>
          </a:prstGeom>
          <a:solidFill>
            <a:srgbClr val="1A7F8E"/>
          </a:solidFill>
          <a:ln w="12700">
            <a:solidFill>
              <a:srgbClr val="1A7F8E"/>
            </a:solidFill>
            <a:prstDash val="solid"/>
          </a:ln>
        </p:spPr>
      </p:sp>
      <p:sp>
        <p:nvSpPr>
          <p:cNvPr id="21" name="Text 19"/>
          <p:cNvSpPr txBox="1"/>
          <p:nvPr/>
        </p:nvSpPr>
        <p:spPr>
          <a:xfrm>
            <a:off x="713232" y="3483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80160" y="3374136"/>
            <a:ext cx="2286000" cy="603504"/>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Regulación</a:t>
            </a:r>
            <a:endParaRPr lang="en-US" sz="1400" dirty="0"/>
          </a:p>
        </p:txBody>
      </p:sp>
      <p:sp>
        <p:nvSpPr>
          <p:cNvPr id="23" name="Text 21"/>
          <p:cNvSpPr txBox="1"/>
          <p:nvPr/>
        </p:nvSpPr>
        <p:spPr>
          <a:xfrm>
            <a:off x="3657600" y="3374136"/>
            <a:ext cx="4754880" cy="603504"/>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Cumplir la normativa de dispositivos médicos.</a:t>
            </a:r>
            <a:endParaRPr lang="en-US" sz="1250" dirty="0"/>
          </a:p>
        </p:txBody>
      </p:sp>
      <p:sp>
        <p:nvSpPr>
          <p:cNvPr id="24" name="Shape 22"/>
          <p:cNvSpPr/>
          <p:nvPr/>
        </p:nvSpPr>
        <p:spPr>
          <a:xfrm>
            <a:off x="548640" y="4041648"/>
            <a:ext cx="8046720" cy="603504"/>
          </a:xfrm>
          <a:prstGeom prst="roundRect">
            <a:avLst>
              <a:gd name="adj" fmla="val 1515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713232" y="4151376"/>
            <a:ext cx="384048" cy="384048"/>
          </a:xfrm>
          <a:prstGeom prst="ellipse">
            <a:avLst/>
          </a:prstGeom>
          <a:solidFill>
            <a:srgbClr val="1A7F8E"/>
          </a:solidFill>
          <a:ln w="12700">
            <a:solidFill>
              <a:srgbClr val="1A7F8E"/>
            </a:solidFill>
            <a:prstDash val="solid"/>
          </a:ln>
        </p:spPr>
      </p:sp>
      <p:sp>
        <p:nvSpPr>
          <p:cNvPr id="26" name="Text 24"/>
          <p:cNvSpPr txBox="1"/>
          <p:nvPr/>
        </p:nvSpPr>
        <p:spPr>
          <a:xfrm>
            <a:off x="713232"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280160" y="4041648"/>
            <a:ext cx="2286000" cy="603504"/>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Monitoreo</a:t>
            </a:r>
            <a:endParaRPr lang="en-US" sz="1400" dirty="0"/>
          </a:p>
        </p:txBody>
      </p:sp>
      <p:sp>
        <p:nvSpPr>
          <p:cNvPr id="28" name="Text 26"/>
          <p:cNvSpPr txBox="1"/>
          <p:nvPr/>
        </p:nvSpPr>
        <p:spPr>
          <a:xfrm>
            <a:off x="3657600" y="4041648"/>
            <a:ext cx="4754880" cy="603504"/>
          </a:xfrm>
          <a:prstGeom prst="rect">
            <a:avLst/>
          </a:prstGeom>
          <a:noFill/>
          <a:ln/>
        </p:spPr>
        <p:txBody>
          <a:bodyPr wrap="square" lIns="0" tIns="0" rIns="0" bIns="0" rtlCol="0" anchor="ctr"/>
          <a:lstStyle/>
          <a:p>
            <a:pPr indent="0" marL="0">
              <a:buNone/>
            </a:pPr>
            <a:r>
              <a:rPr lang="en-US" sz="1250" dirty="0">
                <a:solidFill>
                  <a:srgbClr val="4A5B6C"/>
                </a:solidFill>
                <a:latin typeface="Calibri" pitchFamily="34" charset="0"/>
                <a:ea typeface="Calibri" pitchFamily="34" charset="-122"/>
                <a:cs typeface="Calibri" pitchFamily="34" charset="-120"/>
              </a:rPr>
              <a:t>Vigilar el desempeño tras el despliegue.</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Demostración en vivo</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4754880" cy="3108960"/>
          </a:xfrm>
          <a:prstGeom prst="roundRect">
            <a:avLst>
              <a:gd name="adj" fmla="val 3529"/>
            </a:avLst>
          </a:prstGeom>
          <a:solidFill>
            <a:srgbClr val="0B2545"/>
          </a:solidFill>
          <a:ln w="12700">
            <a:solidFill>
              <a:srgbClr val="0B2545"/>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508760"/>
            <a:ext cx="4297680" cy="365760"/>
          </a:xfrm>
          <a:prstGeom prst="rect">
            <a:avLst/>
          </a:prstGeom>
          <a:noFill/>
          <a:ln/>
        </p:spPr>
        <p:txBody>
          <a:bodyPr wrap="square" lIns="0" tIns="0" rIns="0" bIns="0" rtlCol="0" anchor="ctr"/>
          <a:lstStyle/>
          <a:p>
            <a:pPr indent="0" marL="0">
              <a:buNone/>
            </a:pPr>
            <a:r>
              <a:rPr lang="en-US" sz="1500" b="1" dirty="0">
                <a:solidFill>
                  <a:srgbClr val="CFE8EC"/>
                </a:solidFill>
                <a:latin typeface="Cambria" pitchFamily="34" charset="0"/>
                <a:ea typeface="Cambria" pitchFamily="34" charset="-122"/>
                <a:cs typeface="Cambria" pitchFamily="34" charset="-120"/>
              </a:rPr>
              <a:t>Qué haremos (20 min)</a:t>
            </a:r>
            <a:endParaRPr lang="en-US" sz="1500" dirty="0"/>
          </a:p>
        </p:txBody>
      </p:sp>
      <p:sp>
        <p:nvSpPr>
          <p:cNvPr id="6" name="Text 4"/>
          <p:cNvSpPr txBox="1"/>
          <p:nvPr/>
        </p:nvSpPr>
        <p:spPr>
          <a:xfrm>
            <a:off x="777240" y="1965960"/>
            <a:ext cx="4297680" cy="237744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Calibri" pitchFamily="34" charset="0"/>
                <a:ea typeface="Calibri" pitchFamily="34" charset="-122"/>
                <a:cs typeface="Calibri" pitchFamily="34" charset="-120"/>
              </a:rPr>
              <a:t>Demostración en Colab: cargar las radiografías, entrenar una CNN y calcular matriz de confusión y AUC.</a:t>
            </a:r>
            <a:endParaRPr lang="en-US" sz="1500" dirty="0"/>
          </a:p>
        </p:txBody>
      </p:sp>
      <p:sp>
        <p:nvSpPr>
          <p:cNvPr id="7" name="Shape 5"/>
          <p:cNvSpPr/>
          <p:nvPr/>
        </p:nvSpPr>
        <p:spPr>
          <a:xfrm>
            <a:off x="5486400" y="1371600"/>
            <a:ext cx="3108960" cy="960120"/>
          </a:xfrm>
          <a:prstGeom prst="roundRect">
            <a:avLst>
              <a:gd name="adj" fmla="val 9524"/>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5623560" y="1645920"/>
            <a:ext cx="384048" cy="384048"/>
          </a:xfrm>
          <a:prstGeom prst="ellipse">
            <a:avLst/>
          </a:prstGeom>
          <a:solidFill>
            <a:srgbClr val="E8871E"/>
          </a:solidFill>
          <a:ln w="12700">
            <a:solidFill>
              <a:srgbClr val="E8871E"/>
            </a:solidFill>
            <a:prstDash val="solid"/>
          </a:ln>
        </p:spPr>
      </p:sp>
      <p:sp>
        <p:nvSpPr>
          <p:cNvPr id="9" name="Text 7"/>
          <p:cNvSpPr txBox="1"/>
          <p:nvPr/>
        </p:nvSpPr>
        <p:spPr>
          <a:xfrm>
            <a:off x="562356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6126480" y="1371600"/>
            <a:ext cx="2377440" cy="960120"/>
          </a:xfrm>
          <a:prstGeom prst="rect">
            <a:avLst/>
          </a:prstGeom>
          <a:noFill/>
          <a:ln/>
        </p:spPr>
        <p:txBody>
          <a:bodyPr wrap="square" lIns="0" tIns="0" rIns="0" bIns="0" rtlCol="0" anchor="ctr"/>
          <a:lstStyle/>
          <a:p>
            <a:pPr indent="0" marL="0">
              <a:buNone/>
            </a:pPr>
            <a:r>
              <a:rPr lang="en-US" sz="1250" dirty="0">
                <a:solidFill>
                  <a:srgbClr val="1F2D3D"/>
                </a:solidFill>
                <a:latin typeface="Calibri" pitchFamily="34" charset="0"/>
                <a:ea typeface="Calibri" pitchFamily="34" charset="-122"/>
                <a:cs typeface="Calibri" pitchFamily="34" charset="-120"/>
              </a:rPr>
              <a:t>Sigue en tu propio Colab o software mientras se muestra</a:t>
            </a:r>
            <a:endParaRPr lang="en-US" sz="1250" dirty="0"/>
          </a:p>
        </p:txBody>
      </p:sp>
      <p:sp>
        <p:nvSpPr>
          <p:cNvPr id="11" name="Shape 9"/>
          <p:cNvSpPr/>
          <p:nvPr/>
        </p:nvSpPr>
        <p:spPr>
          <a:xfrm>
            <a:off x="5486400" y="2423160"/>
            <a:ext cx="3108960" cy="960120"/>
          </a:xfrm>
          <a:prstGeom prst="roundRect">
            <a:avLst>
              <a:gd name="adj" fmla="val 9524"/>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5623560" y="2697480"/>
            <a:ext cx="384048" cy="384048"/>
          </a:xfrm>
          <a:prstGeom prst="ellipse">
            <a:avLst/>
          </a:prstGeom>
          <a:solidFill>
            <a:srgbClr val="E8871E"/>
          </a:solidFill>
          <a:ln w="12700">
            <a:solidFill>
              <a:srgbClr val="E8871E"/>
            </a:solidFill>
            <a:prstDash val="solid"/>
          </a:ln>
        </p:spPr>
      </p:sp>
      <p:sp>
        <p:nvSpPr>
          <p:cNvPr id="13" name="Text 11"/>
          <p:cNvSpPr txBox="1"/>
          <p:nvPr/>
        </p:nvSpPr>
        <p:spPr>
          <a:xfrm>
            <a:off x="5623560" y="2697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126480" y="2423160"/>
            <a:ext cx="2377440" cy="960120"/>
          </a:xfrm>
          <a:prstGeom prst="rect">
            <a:avLst/>
          </a:prstGeom>
          <a:noFill/>
          <a:ln/>
        </p:spPr>
        <p:txBody>
          <a:bodyPr wrap="square" lIns="0" tIns="0" rIns="0" bIns="0" rtlCol="0" anchor="ctr"/>
          <a:lstStyle/>
          <a:p>
            <a:pPr indent="0" marL="0">
              <a:buNone/>
            </a:pPr>
            <a:r>
              <a:rPr lang="en-US" sz="1250" dirty="0">
                <a:solidFill>
                  <a:srgbClr val="1F2D3D"/>
                </a:solidFill>
                <a:latin typeface="Calibri" pitchFamily="34" charset="0"/>
                <a:ea typeface="Calibri" pitchFamily="34" charset="-122"/>
                <a:cs typeface="Calibri" pitchFamily="34" charset="-120"/>
              </a:rPr>
              <a:t>Anota tus dudas en el chat con el número de paso</a:t>
            </a:r>
            <a:endParaRPr lang="en-US" sz="1250" dirty="0"/>
          </a:p>
        </p:txBody>
      </p:sp>
      <p:sp>
        <p:nvSpPr>
          <p:cNvPr id="15" name="Shape 13"/>
          <p:cNvSpPr/>
          <p:nvPr/>
        </p:nvSpPr>
        <p:spPr>
          <a:xfrm>
            <a:off x="5486400" y="3474720"/>
            <a:ext cx="3108960" cy="960120"/>
          </a:xfrm>
          <a:prstGeom prst="roundRect">
            <a:avLst>
              <a:gd name="adj" fmla="val 9524"/>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5623560" y="3749040"/>
            <a:ext cx="384048" cy="384048"/>
          </a:xfrm>
          <a:prstGeom prst="ellipse">
            <a:avLst/>
          </a:prstGeom>
          <a:solidFill>
            <a:srgbClr val="E8871E"/>
          </a:solidFill>
          <a:ln w="12700">
            <a:solidFill>
              <a:srgbClr val="E8871E"/>
            </a:solidFill>
            <a:prstDash val="solid"/>
          </a:ln>
        </p:spPr>
      </p:sp>
      <p:sp>
        <p:nvSpPr>
          <p:cNvPr id="17" name="Text 15"/>
          <p:cNvSpPr txBox="1"/>
          <p:nvPr/>
        </p:nvSpPr>
        <p:spPr>
          <a:xfrm>
            <a:off x="562356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126480" y="3474720"/>
            <a:ext cx="2377440" cy="960120"/>
          </a:xfrm>
          <a:prstGeom prst="rect">
            <a:avLst/>
          </a:prstGeom>
          <a:noFill/>
          <a:ln/>
        </p:spPr>
        <p:txBody>
          <a:bodyPr wrap="square" lIns="0" tIns="0" rIns="0" bIns="0" rtlCol="0" anchor="ctr"/>
          <a:lstStyle/>
          <a:p>
            <a:pPr indent="0" marL="0">
              <a:buNone/>
            </a:pPr>
            <a:r>
              <a:rPr lang="en-US" sz="1250" dirty="0">
                <a:solidFill>
                  <a:srgbClr val="1F2D3D"/>
                </a:solidFill>
                <a:latin typeface="Calibri" pitchFamily="34" charset="0"/>
                <a:ea typeface="Calibri" pitchFamily="34" charset="-122"/>
                <a:cs typeface="Calibri" pitchFamily="34" charset="-120"/>
              </a:rPr>
              <a:t>Guarda capturas para tu entregable</a:t>
            </a:r>
            <a:endParaRPr lang="en-US" sz="12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Práctica en salas virtuales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2194560" cy="3108960"/>
          </a:xfrm>
          <a:prstGeom prst="roundRect">
            <a:avLst>
              <a:gd name="adj" fmla="val 5000"/>
            </a:avLst>
          </a:prstGeom>
          <a:solidFill>
            <a:srgbClr val="1A7F8E"/>
          </a:solidFill>
          <a:ln w="12700">
            <a:solidFill>
              <a:srgbClr val="1A7F8E"/>
            </a:solidFill>
            <a:prstDash val="solid"/>
          </a:ln>
        </p:spPr>
      </p:sp>
      <p:sp>
        <p:nvSpPr>
          <p:cNvPr id="5" name="Text 3"/>
          <p:cNvSpPr txBox="1"/>
          <p:nvPr/>
        </p:nvSpPr>
        <p:spPr>
          <a:xfrm>
            <a:off x="548640" y="1645920"/>
            <a:ext cx="219456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25</a:t>
            </a:r>
            <a:endParaRPr lang="en-US" sz="6000" dirty="0"/>
          </a:p>
        </p:txBody>
      </p:sp>
      <p:sp>
        <p:nvSpPr>
          <p:cNvPr id="6" name="Text 4"/>
          <p:cNvSpPr txBox="1"/>
          <p:nvPr/>
        </p:nvSpPr>
        <p:spPr>
          <a:xfrm>
            <a:off x="548640" y="2834640"/>
            <a:ext cx="2194560" cy="9144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minutos</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salas de 4 personas</a:t>
            </a:r>
            <a:endParaRPr lang="en-US" sz="1400" dirty="0"/>
          </a:p>
        </p:txBody>
      </p:sp>
      <p:sp>
        <p:nvSpPr>
          <p:cNvPr id="7" name="Text 5"/>
          <p:cNvSpPr txBox="1"/>
          <p:nvPr/>
        </p:nvSpPr>
        <p:spPr>
          <a:xfrm>
            <a:off x="2926080" y="1371600"/>
            <a:ext cx="5669280" cy="1188720"/>
          </a:xfrm>
          <a:prstGeom prst="rect">
            <a:avLst/>
          </a:prstGeom>
          <a:noFill/>
          <a:ln/>
        </p:spPr>
        <p:txBody>
          <a:bodyPr wrap="square" lIns="0" tIns="0" rIns="0" bIns="0" rtlCol="0" anchor="t">
            <a:normAutofit/>
          </a:bodyPr>
          <a:lstStyle/>
          <a:p>
            <a:pPr indent="0" marL="0">
              <a:buNone/>
            </a:pPr>
            <a:r>
              <a:rPr lang="en-US" sz="1450" dirty="0">
                <a:solidFill>
                  <a:srgbClr val="1F2D3D"/>
                </a:solidFill>
                <a:latin typeface="Calibri" pitchFamily="34" charset="0"/>
                <a:ea typeface="Calibri" pitchFamily="34" charset="-122"/>
                <a:cs typeface="Calibri" pitchFamily="34" charset="-120"/>
              </a:rPr>
              <a:t>Salas de 4 personas: analizar los falsos negativos del modelo y proponer un ajuste (pesos de clase o aumento de datos).</a:t>
            </a:r>
            <a:endParaRPr lang="en-US" sz="1450" dirty="0"/>
          </a:p>
        </p:txBody>
      </p:sp>
      <p:sp>
        <p:nvSpPr>
          <p:cNvPr id="8" name="Shape 6"/>
          <p:cNvSpPr/>
          <p:nvPr/>
        </p:nvSpPr>
        <p:spPr>
          <a:xfrm>
            <a:off x="2926080" y="265176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063240" y="270662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Moderador/a</a:t>
            </a:r>
            <a:endParaRPr lang="en-US" sz="1300" dirty="0"/>
          </a:p>
        </p:txBody>
      </p:sp>
      <p:sp>
        <p:nvSpPr>
          <p:cNvPr id="10" name="Text 8"/>
          <p:cNvSpPr txBox="1"/>
          <p:nvPr/>
        </p:nvSpPr>
        <p:spPr>
          <a:xfrm>
            <a:off x="3063240" y="303580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Cuida el tiempo y da la palabra.</a:t>
            </a:r>
            <a:endParaRPr lang="en-US" sz="1150" dirty="0"/>
          </a:p>
        </p:txBody>
      </p:sp>
      <p:sp>
        <p:nvSpPr>
          <p:cNvPr id="11" name="Shape 9"/>
          <p:cNvSpPr/>
          <p:nvPr/>
        </p:nvSpPr>
        <p:spPr>
          <a:xfrm>
            <a:off x="5806440" y="265176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5943600" y="270662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Ejecutor/a</a:t>
            </a:r>
            <a:endParaRPr lang="en-US" sz="1300" dirty="0"/>
          </a:p>
        </p:txBody>
      </p:sp>
      <p:sp>
        <p:nvSpPr>
          <p:cNvPr id="13" name="Text 11"/>
          <p:cNvSpPr txBox="1"/>
          <p:nvPr/>
        </p:nvSpPr>
        <p:spPr>
          <a:xfrm>
            <a:off x="5943600" y="303580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Comparte pantalla y corre el ejercicio.</a:t>
            </a:r>
            <a:endParaRPr lang="en-US" sz="1150" dirty="0"/>
          </a:p>
        </p:txBody>
      </p:sp>
      <p:sp>
        <p:nvSpPr>
          <p:cNvPr id="14" name="Shape 12"/>
          <p:cNvSpPr/>
          <p:nvPr/>
        </p:nvSpPr>
        <p:spPr>
          <a:xfrm>
            <a:off x="2926080" y="361188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3063240" y="366674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Verificador/a</a:t>
            </a:r>
            <a:endParaRPr lang="en-US" sz="1300" dirty="0"/>
          </a:p>
        </p:txBody>
      </p:sp>
      <p:sp>
        <p:nvSpPr>
          <p:cNvPr id="16" name="Text 14"/>
          <p:cNvSpPr txBox="1"/>
          <p:nvPr/>
        </p:nvSpPr>
        <p:spPr>
          <a:xfrm>
            <a:off x="3063240" y="399592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Revisa resultados y unidades.</a:t>
            </a:r>
            <a:endParaRPr lang="en-US" sz="1150" dirty="0"/>
          </a:p>
        </p:txBody>
      </p:sp>
      <p:sp>
        <p:nvSpPr>
          <p:cNvPr id="17" name="Shape 15"/>
          <p:cNvSpPr/>
          <p:nvPr/>
        </p:nvSpPr>
        <p:spPr>
          <a:xfrm>
            <a:off x="5806440" y="3611880"/>
            <a:ext cx="2788920" cy="868680"/>
          </a:xfrm>
          <a:prstGeom prst="roundRect">
            <a:avLst>
              <a:gd name="adj" fmla="val 10526"/>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5943600" y="3666744"/>
            <a:ext cx="2560320" cy="32004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Relator/a</a:t>
            </a:r>
            <a:endParaRPr lang="en-US" sz="1300" dirty="0"/>
          </a:p>
        </p:txBody>
      </p:sp>
      <p:sp>
        <p:nvSpPr>
          <p:cNvPr id="19" name="Text 17"/>
          <p:cNvSpPr txBox="1"/>
          <p:nvPr/>
        </p:nvSpPr>
        <p:spPr>
          <a:xfrm>
            <a:off x="5943600" y="3995928"/>
            <a:ext cx="2560320" cy="438912"/>
          </a:xfrm>
          <a:prstGeom prst="rect">
            <a:avLst/>
          </a:prstGeom>
          <a:noFill/>
          <a:ln/>
        </p:spPr>
        <p:txBody>
          <a:bodyPr wrap="square" lIns="0" tIns="0" rIns="0" bIns="0" rtlCol="0" anchor="t"/>
          <a:lstStyle/>
          <a:p>
            <a:pPr indent="0" marL="0">
              <a:buNone/>
            </a:pPr>
            <a:r>
              <a:rPr lang="en-US" sz="1150" dirty="0">
                <a:solidFill>
                  <a:srgbClr val="4A5B6C"/>
                </a:solidFill>
                <a:latin typeface="Calibri" pitchFamily="34" charset="0"/>
                <a:ea typeface="Calibri" pitchFamily="34" charset="-122"/>
                <a:cs typeface="Calibri" pitchFamily="34" charset="-120"/>
              </a:rPr>
              <a:t>Resume hallazgos en el documento.</a:t>
            </a:r>
            <a:endParaRPr lang="en-US" sz="11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Plenaria y discusión</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8046720" cy="1325880"/>
          </a:xfrm>
          <a:prstGeom prst="roundRect">
            <a:avLst>
              <a:gd name="adj" fmla="val 689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417320"/>
            <a:ext cx="7589520" cy="1234440"/>
          </a:xfrm>
          <a:prstGeom prst="rect">
            <a:avLst/>
          </a:prstGeom>
          <a:noFill/>
          <a:ln/>
        </p:spPr>
        <p:txBody>
          <a:bodyPr wrap="square" lIns="0" tIns="0" rIns="0" bIns="0" rtlCol="0" anchor="ctr">
            <a:normAutofit/>
          </a:bodyPr>
          <a:lstStyle/>
          <a:p>
            <a:pPr indent="0" marL="0">
              <a:buNone/>
            </a:pPr>
            <a:r>
              <a:rPr lang="en-US" sz="1500" dirty="0">
                <a:solidFill>
                  <a:srgbClr val="1F2D3D"/>
                </a:solidFill>
                <a:latin typeface="Calibri" pitchFamily="34" charset="0"/>
                <a:ea typeface="Calibri" pitchFamily="34" charset="-122"/>
                <a:cs typeface="Calibri" pitchFamily="34" charset="-120"/>
              </a:rPr>
              <a:t>Plenaria: cada sala argumenta si el modelo sería seguro en una consulta real. Discusión sobre sesgo de los datos y regulación.</a:t>
            </a:r>
            <a:endParaRPr lang="en-US" sz="1500" dirty="0"/>
          </a:p>
        </p:txBody>
      </p:sp>
      <p:sp>
        <p:nvSpPr>
          <p:cNvPr id="6" name="Shape 4"/>
          <p:cNvSpPr/>
          <p:nvPr/>
        </p:nvSpPr>
        <p:spPr>
          <a:xfrm>
            <a:off x="548640" y="2926080"/>
            <a:ext cx="2560320" cy="1554480"/>
          </a:xfrm>
          <a:prstGeom prst="roundRect">
            <a:avLst>
              <a:gd name="adj" fmla="val 588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685800" y="3063240"/>
            <a:ext cx="347472" cy="347472"/>
          </a:xfrm>
          <a:prstGeom prst="ellipse">
            <a:avLst/>
          </a:prstGeom>
          <a:solidFill>
            <a:srgbClr val="E8871E"/>
          </a:solidFill>
          <a:ln w="12700">
            <a:solidFill>
              <a:srgbClr val="E8871E"/>
            </a:solidFill>
            <a:prstDash val="solid"/>
          </a:ln>
        </p:spPr>
      </p:sp>
      <p:sp>
        <p:nvSpPr>
          <p:cNvPr id="8" name="Text 6"/>
          <p:cNvSpPr txBox="1"/>
          <p:nvPr/>
        </p:nvSpPr>
        <p:spPr>
          <a:xfrm>
            <a:off x="6858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43000" y="3063240"/>
            <a:ext cx="1874520" cy="347472"/>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Claridad</a:t>
            </a:r>
            <a:endParaRPr lang="en-US" sz="1300" dirty="0"/>
          </a:p>
        </p:txBody>
      </p:sp>
      <p:sp>
        <p:nvSpPr>
          <p:cNvPr id="10" name="Text 8"/>
          <p:cNvSpPr txBox="1"/>
          <p:nvPr/>
        </p:nvSpPr>
        <p:spPr>
          <a:xfrm>
            <a:off x="713232" y="3520440"/>
            <a:ext cx="2240280" cy="86868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La explicación se entiende sin ver el código.</a:t>
            </a:r>
            <a:endParaRPr lang="en-US" sz="1200" dirty="0"/>
          </a:p>
        </p:txBody>
      </p:sp>
      <p:sp>
        <p:nvSpPr>
          <p:cNvPr id="11" name="Shape 9"/>
          <p:cNvSpPr/>
          <p:nvPr/>
        </p:nvSpPr>
        <p:spPr>
          <a:xfrm>
            <a:off x="3291840" y="2926080"/>
            <a:ext cx="2560320" cy="1554480"/>
          </a:xfrm>
          <a:prstGeom prst="roundRect">
            <a:avLst>
              <a:gd name="adj" fmla="val 588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429000" y="3063240"/>
            <a:ext cx="347472" cy="347472"/>
          </a:xfrm>
          <a:prstGeom prst="ellipse">
            <a:avLst/>
          </a:prstGeom>
          <a:solidFill>
            <a:srgbClr val="E8871E"/>
          </a:solidFill>
          <a:ln w="12700">
            <a:solidFill>
              <a:srgbClr val="E8871E"/>
            </a:solidFill>
            <a:prstDash val="solid"/>
          </a:ln>
        </p:spPr>
      </p:sp>
      <p:sp>
        <p:nvSpPr>
          <p:cNvPr id="13" name="Text 11"/>
          <p:cNvSpPr txBox="1"/>
          <p:nvPr/>
        </p:nvSpPr>
        <p:spPr>
          <a:xfrm>
            <a:off x="34290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3886200" y="3063240"/>
            <a:ext cx="1874520" cy="347472"/>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Evidencia</a:t>
            </a:r>
            <a:endParaRPr lang="en-US" sz="1300" dirty="0"/>
          </a:p>
        </p:txBody>
      </p:sp>
      <p:sp>
        <p:nvSpPr>
          <p:cNvPr id="15" name="Text 13"/>
          <p:cNvSpPr txBox="1"/>
          <p:nvPr/>
        </p:nvSpPr>
        <p:spPr>
          <a:xfrm>
            <a:off x="3456432" y="3520440"/>
            <a:ext cx="2240280" cy="86868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Respalda con datos, métricas o cálculos.</a:t>
            </a:r>
            <a:endParaRPr lang="en-US" sz="1200" dirty="0"/>
          </a:p>
        </p:txBody>
      </p:sp>
      <p:sp>
        <p:nvSpPr>
          <p:cNvPr id="16" name="Shape 14"/>
          <p:cNvSpPr/>
          <p:nvPr/>
        </p:nvSpPr>
        <p:spPr>
          <a:xfrm>
            <a:off x="6035040" y="2926080"/>
            <a:ext cx="2560320" cy="1554480"/>
          </a:xfrm>
          <a:prstGeom prst="roundRect">
            <a:avLst>
              <a:gd name="adj" fmla="val 5882"/>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3063240"/>
            <a:ext cx="347472" cy="347472"/>
          </a:xfrm>
          <a:prstGeom prst="ellipse">
            <a:avLst/>
          </a:prstGeom>
          <a:solidFill>
            <a:srgbClr val="E8871E"/>
          </a:solidFill>
          <a:ln w="12700">
            <a:solidFill>
              <a:srgbClr val="E8871E"/>
            </a:solidFill>
            <a:prstDash val="solid"/>
          </a:ln>
        </p:spPr>
      </p:sp>
      <p:sp>
        <p:nvSpPr>
          <p:cNvPr id="18" name="Text 16"/>
          <p:cNvSpPr txBox="1"/>
          <p:nvPr/>
        </p:nvSpPr>
        <p:spPr>
          <a:xfrm>
            <a:off x="6172200" y="30632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629400" y="3063240"/>
            <a:ext cx="1874520" cy="347472"/>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Seguridad del paciente</a:t>
            </a:r>
            <a:endParaRPr lang="en-US" sz="1300" dirty="0"/>
          </a:p>
        </p:txBody>
      </p:sp>
      <p:sp>
        <p:nvSpPr>
          <p:cNvPr id="20" name="Text 18"/>
          <p:cNvSpPr txBox="1"/>
          <p:nvPr/>
        </p:nvSpPr>
        <p:spPr>
          <a:xfrm>
            <a:off x="6199632" y="3520440"/>
            <a:ext cx="2240280" cy="868680"/>
          </a:xfrm>
          <a:prstGeom prst="rect">
            <a:avLst/>
          </a:prstGeom>
          <a:noFill/>
          <a:ln/>
        </p:spPr>
        <p:txBody>
          <a:bodyPr wrap="square" lIns="0" tIns="0" rIns="0" bIns="0" rtlCol="0" anchor="t"/>
          <a:lstStyle/>
          <a:p>
            <a:pPr indent="0" marL="0">
              <a:buNone/>
            </a:pPr>
            <a:r>
              <a:rPr lang="en-US" sz="1200" dirty="0">
                <a:solidFill>
                  <a:srgbClr val="4A5B6C"/>
                </a:solidFill>
                <a:latin typeface="Calibri" pitchFamily="34" charset="0"/>
                <a:ea typeface="Calibri" pitchFamily="34" charset="-122"/>
                <a:cs typeface="Calibri" pitchFamily="34" charset="-120"/>
              </a:rPr>
              <a:t>Considera el riesgo de equivocarse.</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Quiz de cierre (Google Forms)</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2588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426464"/>
            <a:ext cx="365760" cy="365760"/>
          </a:xfrm>
          <a:prstGeom prst="ellipse">
            <a:avLst/>
          </a:prstGeom>
          <a:solidFill>
            <a:srgbClr val="1A7F8E"/>
          </a:solidFill>
          <a:ln w="12700">
            <a:solidFill>
              <a:srgbClr val="1A7F8E"/>
            </a:solidFill>
            <a:prstDash val="solid"/>
          </a:ln>
        </p:spPr>
      </p:sp>
      <p:sp>
        <p:nvSpPr>
          <p:cNvPr id="6" name="Text 4"/>
          <p:cNvSpPr txBox="1"/>
          <p:nvPr/>
        </p:nvSpPr>
        <p:spPr>
          <a:xfrm>
            <a:off x="685800" y="1426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88720" y="132588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¿Qué es el aprendizaje por transferencia?</a:t>
            </a:r>
            <a:endParaRPr lang="en-US" sz="1300" dirty="0"/>
          </a:p>
        </p:txBody>
      </p:sp>
      <p:sp>
        <p:nvSpPr>
          <p:cNvPr id="8" name="Shape 6"/>
          <p:cNvSpPr/>
          <p:nvPr/>
        </p:nvSpPr>
        <p:spPr>
          <a:xfrm>
            <a:off x="548640" y="196596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85800" y="2066544"/>
            <a:ext cx="365760" cy="365760"/>
          </a:xfrm>
          <a:prstGeom prst="ellipse">
            <a:avLst/>
          </a:prstGeom>
          <a:solidFill>
            <a:srgbClr val="2E6DA4"/>
          </a:solidFill>
          <a:ln w="12700">
            <a:solidFill>
              <a:srgbClr val="2E6DA4"/>
            </a:solidFill>
            <a:prstDash val="solid"/>
          </a:ln>
        </p:spPr>
      </p:sp>
      <p:sp>
        <p:nvSpPr>
          <p:cNvPr id="10" name="Text 8"/>
          <p:cNvSpPr txBox="1"/>
          <p:nvPr/>
        </p:nvSpPr>
        <p:spPr>
          <a:xfrm>
            <a:off x="685800"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88720" y="196596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¿Qué representa el eje vertical de la curva ROC?</a:t>
            </a:r>
            <a:endParaRPr lang="en-US" sz="1300" dirty="0"/>
          </a:p>
        </p:txBody>
      </p:sp>
      <p:sp>
        <p:nvSpPr>
          <p:cNvPr id="12" name="Shape 10"/>
          <p:cNvSpPr/>
          <p:nvPr/>
        </p:nvSpPr>
        <p:spPr>
          <a:xfrm>
            <a:off x="548640" y="260604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85800" y="2706624"/>
            <a:ext cx="365760" cy="365760"/>
          </a:xfrm>
          <a:prstGeom prst="ellipse">
            <a:avLst/>
          </a:prstGeom>
          <a:solidFill>
            <a:srgbClr val="E8871E"/>
          </a:solidFill>
          <a:ln w="12700">
            <a:solidFill>
              <a:srgbClr val="E8871E"/>
            </a:solidFill>
            <a:prstDash val="solid"/>
          </a:ln>
        </p:spPr>
      </p:sp>
      <p:sp>
        <p:nvSpPr>
          <p:cNvPr id="14" name="Text 12"/>
          <p:cNvSpPr txBox="1"/>
          <p:nvPr/>
        </p:nvSpPr>
        <p:spPr>
          <a:xfrm>
            <a:off x="685800" y="27066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88720" y="260604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¿Qué significa un AUC de 0,5?</a:t>
            </a:r>
            <a:endParaRPr lang="en-US" sz="1300" dirty="0"/>
          </a:p>
        </p:txBody>
      </p:sp>
      <p:sp>
        <p:nvSpPr>
          <p:cNvPr id="16" name="Shape 14"/>
          <p:cNvSpPr/>
          <p:nvPr/>
        </p:nvSpPr>
        <p:spPr>
          <a:xfrm>
            <a:off x="548640" y="324612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85800" y="3346704"/>
            <a:ext cx="365760" cy="365760"/>
          </a:xfrm>
          <a:prstGeom prst="ellipse">
            <a:avLst/>
          </a:prstGeom>
          <a:solidFill>
            <a:srgbClr val="7A4E9C"/>
          </a:solidFill>
          <a:ln w="12700">
            <a:solidFill>
              <a:srgbClr val="7A4E9C"/>
            </a:solidFill>
            <a:prstDash val="solid"/>
          </a:ln>
        </p:spPr>
      </p:sp>
      <p:sp>
        <p:nvSpPr>
          <p:cNvPr id="18" name="Text 16"/>
          <p:cNvSpPr txBox="1"/>
          <p:nvPr/>
        </p:nvSpPr>
        <p:spPr>
          <a:xfrm>
            <a:off x="685800" y="3346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88720" y="324612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¿Para qué sirve Grad-CAM?</a:t>
            </a:r>
            <a:endParaRPr lang="en-US" sz="1300" dirty="0"/>
          </a:p>
        </p:txBody>
      </p:sp>
      <p:sp>
        <p:nvSpPr>
          <p:cNvPr id="20" name="Shape 18"/>
          <p:cNvSpPr/>
          <p:nvPr/>
        </p:nvSpPr>
        <p:spPr>
          <a:xfrm>
            <a:off x="548640" y="3886200"/>
            <a:ext cx="8046720" cy="566928"/>
          </a:xfrm>
          <a:prstGeom prst="roundRect">
            <a:avLst>
              <a:gd name="adj" fmla="val 16129"/>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85800" y="3986784"/>
            <a:ext cx="365760" cy="365760"/>
          </a:xfrm>
          <a:prstGeom prst="ellipse">
            <a:avLst/>
          </a:prstGeom>
          <a:solidFill>
            <a:srgbClr val="C0392B"/>
          </a:solidFill>
          <a:ln w="12700">
            <a:solidFill>
              <a:srgbClr val="C0392B"/>
            </a:solidFill>
            <a:prstDash val="solid"/>
          </a:ln>
        </p:spPr>
      </p:sp>
      <p:sp>
        <p:nvSpPr>
          <p:cNvPr id="22" name="Text 20"/>
          <p:cNvSpPr txBox="1"/>
          <p:nvPr/>
        </p:nvSpPr>
        <p:spPr>
          <a:xfrm>
            <a:off x="685800" y="3986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188720" y="3886200"/>
            <a:ext cx="7315200" cy="566928"/>
          </a:xfrm>
          <a:prstGeom prst="rect">
            <a:avLst/>
          </a:prstGeom>
          <a:noFill/>
          <a:ln/>
        </p:spPr>
        <p:txBody>
          <a:bodyPr wrap="square" lIns="0" tIns="0" rIns="0" bIns="0" rtlCol="0" anchor="ctr">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¿Por qué hace falta validación externa?</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Resumen de la clase de hoy</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13232" y="1536192"/>
            <a:ext cx="384048" cy="384048"/>
          </a:xfrm>
          <a:prstGeom prst="ellipse">
            <a:avLst/>
          </a:prstGeom>
          <a:solidFill>
            <a:srgbClr val="E8871E"/>
          </a:solidFill>
          <a:ln w="12700">
            <a:solidFill>
              <a:srgbClr val="E8871E"/>
            </a:solidFill>
            <a:prstDash val="solid"/>
          </a:ln>
        </p:spPr>
      </p:sp>
      <p:sp>
        <p:nvSpPr>
          <p:cNvPr id="6" name="Text 4"/>
          <p:cNvSpPr txBox="1"/>
          <p:nvPr/>
        </p:nvSpPr>
        <p:spPr>
          <a:xfrm>
            <a:off x="7132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31520" y="2103120"/>
            <a:ext cx="2194560" cy="2286000"/>
          </a:xfrm>
          <a:prstGeom prst="rect">
            <a:avLst/>
          </a:prstGeom>
          <a:noFill/>
          <a:ln/>
        </p:spPr>
        <p:txBody>
          <a:bodyPr wrap="square" lIns="0" tIns="0" rIns="0" bIns="0" rtlCol="0" anchor="t"/>
          <a:lstStyle/>
          <a:p>
            <a:pPr indent="0" marL="0">
              <a:buNone/>
            </a:pPr>
            <a:r>
              <a:rPr lang="en-US" sz="1450" dirty="0">
                <a:solidFill>
                  <a:srgbClr val="1F2D3D"/>
                </a:solidFill>
                <a:latin typeface="Calibri" pitchFamily="34" charset="0"/>
                <a:ea typeface="Calibri" pitchFamily="34" charset="-122"/>
                <a:cs typeface="Calibri" pitchFamily="34" charset="-120"/>
              </a:rPr>
              <a:t>El aprendizaje por transferencia permite clasificar con pocos datos médicos.</a:t>
            </a:r>
            <a:endParaRPr lang="en-US" sz="1450" dirty="0"/>
          </a:p>
        </p:txBody>
      </p:sp>
      <p:sp>
        <p:nvSpPr>
          <p:cNvPr id="8" name="Shape 6"/>
          <p:cNvSpPr/>
          <p:nvPr/>
        </p:nvSpPr>
        <p:spPr>
          <a:xfrm>
            <a:off x="32918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3456432" y="1536192"/>
            <a:ext cx="384048" cy="384048"/>
          </a:xfrm>
          <a:prstGeom prst="ellipse">
            <a:avLst/>
          </a:prstGeom>
          <a:solidFill>
            <a:srgbClr val="E8871E"/>
          </a:solidFill>
          <a:ln w="12700">
            <a:solidFill>
              <a:srgbClr val="E8871E"/>
            </a:solidFill>
            <a:prstDash val="solid"/>
          </a:ln>
        </p:spPr>
      </p:sp>
      <p:sp>
        <p:nvSpPr>
          <p:cNvPr id="10" name="Text 8"/>
          <p:cNvSpPr txBox="1"/>
          <p:nvPr/>
        </p:nvSpPr>
        <p:spPr>
          <a:xfrm>
            <a:off x="34564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3474720" y="2103120"/>
            <a:ext cx="2194560" cy="2286000"/>
          </a:xfrm>
          <a:prstGeom prst="rect">
            <a:avLst/>
          </a:prstGeom>
          <a:noFill/>
          <a:ln/>
        </p:spPr>
        <p:txBody>
          <a:bodyPr wrap="square" lIns="0" tIns="0" rIns="0" bIns="0" rtlCol="0" anchor="t"/>
          <a:lstStyle/>
          <a:p>
            <a:pPr indent="0" marL="0">
              <a:buNone/>
            </a:pPr>
            <a:r>
              <a:rPr lang="en-US" sz="1450" dirty="0">
                <a:solidFill>
                  <a:srgbClr val="1F2D3D"/>
                </a:solidFill>
                <a:latin typeface="Calibri" pitchFamily="34" charset="0"/>
                <a:ea typeface="Calibri" pitchFamily="34" charset="-122"/>
                <a:cs typeface="Calibri" pitchFamily="34" charset="-120"/>
              </a:rPr>
              <a:t>La curva ROC y la sensibilidad guían el umbral según el riesgo clínico.</a:t>
            </a:r>
            <a:endParaRPr lang="en-US" sz="1450" dirty="0"/>
          </a:p>
        </p:txBody>
      </p:sp>
      <p:sp>
        <p:nvSpPr>
          <p:cNvPr id="12" name="Shape 10"/>
          <p:cNvSpPr/>
          <p:nvPr/>
        </p:nvSpPr>
        <p:spPr>
          <a:xfrm>
            <a:off x="60350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6199632" y="1536192"/>
            <a:ext cx="384048" cy="384048"/>
          </a:xfrm>
          <a:prstGeom prst="ellipse">
            <a:avLst/>
          </a:prstGeom>
          <a:solidFill>
            <a:srgbClr val="E8871E"/>
          </a:solidFill>
          <a:ln w="12700">
            <a:solidFill>
              <a:srgbClr val="E8871E"/>
            </a:solidFill>
            <a:prstDash val="solid"/>
          </a:ln>
        </p:spPr>
      </p:sp>
      <p:sp>
        <p:nvSpPr>
          <p:cNvPr id="14" name="Text 12"/>
          <p:cNvSpPr txBox="1"/>
          <p:nvPr/>
        </p:nvSpPr>
        <p:spPr>
          <a:xfrm>
            <a:off x="61996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217920" y="2103120"/>
            <a:ext cx="2194560" cy="2286000"/>
          </a:xfrm>
          <a:prstGeom prst="rect">
            <a:avLst/>
          </a:prstGeom>
          <a:noFill/>
          <a:ln/>
        </p:spPr>
        <p:txBody>
          <a:bodyPr wrap="square" lIns="0" tIns="0" rIns="0" bIns="0" rtlCol="0" anchor="t"/>
          <a:lstStyle/>
          <a:p>
            <a:pPr indent="0" marL="0">
              <a:buNone/>
            </a:pPr>
            <a:r>
              <a:rPr lang="en-US" sz="1450" dirty="0">
                <a:solidFill>
                  <a:srgbClr val="1F2D3D"/>
                </a:solidFill>
                <a:latin typeface="Calibri" pitchFamily="34" charset="0"/>
                <a:ea typeface="Calibri" pitchFamily="34" charset="-122"/>
                <a:cs typeface="Calibri" pitchFamily="34" charset="-120"/>
              </a:rPr>
              <a:t>Un modelo necesita validación externa y supervisión antes de usarse en un hospital.</a:t>
            </a:r>
            <a:endParaRPr lang="en-US" sz="14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Después de la clase: tarea</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508760"/>
            <a:ext cx="1051560" cy="256032"/>
          </a:xfrm>
          <a:prstGeom prst="roundRect">
            <a:avLst>
              <a:gd name="adj" fmla="val 50000"/>
            </a:avLst>
          </a:prstGeom>
          <a:solidFill>
            <a:srgbClr val="E8871E"/>
          </a:solidFill>
          <a:ln w="12700">
            <a:solidFill>
              <a:srgbClr val="E8871E"/>
            </a:solidFill>
            <a:prstDash val="solid"/>
          </a:ln>
        </p:spPr>
      </p:sp>
      <p:sp>
        <p:nvSpPr>
          <p:cNvPr id="6" name="Text 4"/>
          <p:cNvSpPr txBox="1"/>
          <p:nvPr/>
        </p:nvSpPr>
        <p:spPr>
          <a:xfrm>
            <a:off x="6858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Aplicar</a:t>
            </a:r>
            <a:endParaRPr lang="en-US" sz="1000" dirty="0"/>
          </a:p>
        </p:txBody>
      </p:sp>
      <p:sp>
        <p:nvSpPr>
          <p:cNvPr id="7" name="Text 5"/>
          <p:cNvSpPr txBox="1"/>
          <p:nvPr/>
        </p:nvSpPr>
        <p:spPr>
          <a:xfrm>
            <a:off x="19202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50 min</a:t>
            </a:r>
            <a:endParaRPr lang="en-US" sz="1100" dirty="0"/>
          </a:p>
        </p:txBody>
      </p:sp>
      <p:sp>
        <p:nvSpPr>
          <p:cNvPr id="8" name="Text 6"/>
          <p:cNvSpPr txBox="1"/>
          <p:nvPr/>
        </p:nvSpPr>
        <p:spPr>
          <a:xfrm>
            <a:off x="7132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Entregar el cuaderno con la CNN, la matriz de confusión y la curva ROC</a:t>
            </a:r>
            <a:endParaRPr lang="en-US" sz="1300" dirty="0"/>
          </a:p>
        </p:txBody>
      </p:sp>
      <p:sp>
        <p:nvSpPr>
          <p:cNvPr id="9" name="Text 7"/>
          <p:cNvSpPr txBox="1"/>
          <p:nvPr/>
        </p:nvSpPr>
        <p:spPr>
          <a:xfrm>
            <a:off x="7132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Cuaderno con métricas</a:t>
            </a:r>
            <a:endParaRPr lang="en-US" sz="1100" dirty="0"/>
          </a:p>
        </p:txBody>
      </p:sp>
      <p:sp>
        <p:nvSpPr>
          <p:cNvPr id="10" name="Shape 8"/>
          <p:cNvSpPr/>
          <p:nvPr/>
        </p:nvSpPr>
        <p:spPr>
          <a:xfrm>
            <a:off x="32918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3429000" y="1508760"/>
            <a:ext cx="1051560" cy="256032"/>
          </a:xfrm>
          <a:prstGeom prst="roundRect">
            <a:avLst>
              <a:gd name="adj" fmla="val 50000"/>
            </a:avLst>
          </a:prstGeom>
          <a:solidFill>
            <a:srgbClr val="2E8B57"/>
          </a:solidFill>
          <a:ln w="12700">
            <a:solidFill>
              <a:srgbClr val="2E8B57"/>
            </a:solidFill>
            <a:prstDash val="solid"/>
          </a:ln>
        </p:spPr>
      </p:sp>
      <p:sp>
        <p:nvSpPr>
          <p:cNvPr id="12" name="Text 10"/>
          <p:cNvSpPr txBox="1"/>
          <p:nvPr/>
        </p:nvSpPr>
        <p:spPr>
          <a:xfrm>
            <a:off x="34290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Crear</a:t>
            </a:r>
            <a:endParaRPr lang="en-US" sz="1000" dirty="0"/>
          </a:p>
        </p:txBody>
      </p:sp>
      <p:sp>
        <p:nvSpPr>
          <p:cNvPr id="13" name="Text 11"/>
          <p:cNvSpPr txBox="1"/>
          <p:nvPr/>
        </p:nvSpPr>
        <p:spPr>
          <a:xfrm>
            <a:off x="46634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30 min</a:t>
            </a:r>
            <a:endParaRPr lang="en-US" sz="1100" dirty="0"/>
          </a:p>
        </p:txBody>
      </p:sp>
      <p:sp>
        <p:nvSpPr>
          <p:cNvPr id="14" name="Text 12"/>
          <p:cNvSpPr txBox="1"/>
          <p:nvPr/>
        </p:nvSpPr>
        <p:spPr>
          <a:xfrm>
            <a:off x="34564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Redactar un plan de validación clínica del modelo (datos externos, sesgos, supervisión médica)</a:t>
            </a:r>
            <a:endParaRPr lang="en-US" sz="1300" dirty="0"/>
          </a:p>
        </p:txBody>
      </p:sp>
      <p:sp>
        <p:nvSpPr>
          <p:cNvPr id="15" name="Text 13"/>
          <p:cNvSpPr txBox="1"/>
          <p:nvPr/>
        </p:nvSpPr>
        <p:spPr>
          <a:xfrm>
            <a:off x="34564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Plan de una página</a:t>
            </a:r>
            <a:endParaRPr lang="en-US" sz="1100" dirty="0"/>
          </a:p>
        </p:txBody>
      </p:sp>
      <p:sp>
        <p:nvSpPr>
          <p:cNvPr id="16" name="Shape 14"/>
          <p:cNvSpPr/>
          <p:nvPr/>
        </p:nvSpPr>
        <p:spPr>
          <a:xfrm>
            <a:off x="6035040" y="1371600"/>
            <a:ext cx="2560320" cy="3108960"/>
          </a:xfrm>
          <a:prstGeom prst="roundRect">
            <a:avLst>
              <a:gd name="adj" fmla="val 3571"/>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1508760"/>
            <a:ext cx="1051560" cy="256032"/>
          </a:xfrm>
          <a:prstGeom prst="roundRect">
            <a:avLst>
              <a:gd name="adj" fmla="val 50000"/>
            </a:avLst>
          </a:prstGeom>
          <a:solidFill>
            <a:srgbClr val="C0392B"/>
          </a:solidFill>
          <a:ln w="12700">
            <a:solidFill>
              <a:srgbClr val="C0392B"/>
            </a:solidFill>
            <a:prstDash val="solid"/>
          </a:ln>
        </p:spPr>
      </p:sp>
      <p:sp>
        <p:nvSpPr>
          <p:cNvPr id="18" name="Text 16"/>
          <p:cNvSpPr txBox="1"/>
          <p:nvPr/>
        </p:nvSpPr>
        <p:spPr>
          <a:xfrm>
            <a:off x="6172200" y="1508760"/>
            <a:ext cx="10515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Evaluar</a:t>
            </a:r>
            <a:endParaRPr lang="en-US" sz="1000" dirty="0"/>
          </a:p>
        </p:txBody>
      </p:sp>
      <p:sp>
        <p:nvSpPr>
          <p:cNvPr id="19" name="Text 17"/>
          <p:cNvSpPr txBox="1"/>
          <p:nvPr/>
        </p:nvSpPr>
        <p:spPr>
          <a:xfrm>
            <a:off x="7406640" y="1508760"/>
            <a:ext cx="1051560" cy="256032"/>
          </a:xfrm>
          <a:prstGeom prst="rect">
            <a:avLst/>
          </a:prstGeom>
          <a:noFill/>
          <a:ln/>
        </p:spPr>
        <p:txBody>
          <a:bodyPr wrap="square" lIns="0" tIns="0" rIns="0" bIns="0" rtlCol="0" anchor="ctr"/>
          <a:lstStyle/>
          <a:p>
            <a:pPr algn="r" indent="0" marL="0">
              <a:buNone/>
            </a:pPr>
            <a:r>
              <a:rPr lang="en-US" sz="1100" b="1" dirty="0">
                <a:solidFill>
                  <a:srgbClr val="4A5B6C"/>
                </a:solidFill>
                <a:latin typeface="Calibri" pitchFamily="34" charset="0"/>
                <a:ea typeface="Calibri" pitchFamily="34" charset="-122"/>
                <a:cs typeface="Calibri" pitchFamily="34" charset="-120"/>
              </a:rPr>
              <a:t>15 min</a:t>
            </a:r>
            <a:endParaRPr lang="en-US" sz="1100" dirty="0"/>
          </a:p>
        </p:txBody>
      </p:sp>
      <p:sp>
        <p:nvSpPr>
          <p:cNvPr id="20" name="Text 18"/>
          <p:cNvSpPr txBox="1"/>
          <p:nvPr/>
        </p:nvSpPr>
        <p:spPr>
          <a:xfrm>
            <a:off x="6199632" y="1920240"/>
            <a:ext cx="2240280" cy="1600200"/>
          </a:xfrm>
          <a:prstGeom prst="rect">
            <a:avLst/>
          </a:prstGeom>
          <a:noFill/>
          <a:ln/>
        </p:spPr>
        <p:txBody>
          <a:bodyPr wrap="square" lIns="0" tIns="0" rIns="0" bIns="0" rtlCol="0" anchor="t">
            <a:normAutofit/>
          </a:bodyPr>
          <a:lstStyle/>
          <a:p>
            <a:pPr indent="0" marL="0">
              <a:buNone/>
            </a:pPr>
            <a:r>
              <a:rPr lang="en-US" sz="1300" dirty="0">
                <a:solidFill>
                  <a:srgbClr val="1F2D3D"/>
                </a:solidFill>
                <a:latin typeface="Calibri" pitchFamily="34" charset="0"/>
                <a:ea typeface="Calibri" pitchFamily="34" charset="-122"/>
                <a:cs typeface="Calibri" pitchFamily="34" charset="-120"/>
              </a:rPr>
              <a:t>Evaluar en el foro el plan de un compañero con la rúbrica</a:t>
            </a:r>
            <a:endParaRPr lang="en-US" sz="1300" dirty="0"/>
          </a:p>
        </p:txBody>
      </p:sp>
      <p:sp>
        <p:nvSpPr>
          <p:cNvPr id="21" name="Text 19"/>
          <p:cNvSpPr txBox="1"/>
          <p:nvPr/>
        </p:nvSpPr>
        <p:spPr>
          <a:xfrm>
            <a:off x="6199632" y="3566160"/>
            <a:ext cx="2240280" cy="822960"/>
          </a:xfrm>
          <a:prstGeom prst="rect">
            <a:avLst/>
          </a:prstGeom>
          <a:noFill/>
          <a:ln/>
        </p:spPr>
        <p:txBody>
          <a:bodyPr wrap="square" lIns="0" tIns="0" rIns="0" bIns="0" rtlCol="0" anchor="t"/>
          <a:lstStyle/>
          <a:p>
            <a:pPr indent="0" marL="0">
              <a:buNone/>
            </a:pPr>
            <a:r>
              <a:rPr lang="en-US" sz="1100" i="1" dirty="0">
                <a:solidFill>
                  <a:srgbClr val="1A7F8E"/>
                </a:solidFill>
                <a:latin typeface="Calibri" pitchFamily="34" charset="0"/>
                <a:ea typeface="Calibri" pitchFamily="34" charset="-122"/>
                <a:cs typeface="Calibri" pitchFamily="34" charset="-120"/>
              </a:rPr>
              <a:t>Entregable: Rúbrica completada</a:t>
            </a:r>
            <a:endParaRPr lang="en-US" sz="11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0B2545"/>
                </a:solidFill>
                <a:latin typeface="Cambria" pitchFamily="34" charset="0"/>
                <a:ea typeface="Cambria" pitchFamily="34" charset="-122"/>
                <a:cs typeface="Cambria" pitchFamily="34" charset="-120"/>
              </a:rPr>
              <a:t>Recursos y enlaces de la sesión</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7A8B9C"/>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548640" y="1280160"/>
            <a:ext cx="39319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280160"/>
            <a:ext cx="36576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Chest X-Ray Images, Pneumonia (Kaggle)</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https://www.kaggle.com/datasets/paultimothymooney/chest-xray-pneumonia</a:t>
            </a:r>
            <a:endParaRPr lang="en-US" sz="1100" dirty="0"/>
          </a:p>
        </p:txBody>
      </p:sp>
      <p:sp>
        <p:nvSpPr>
          <p:cNvPr id="6" name="Shape 4"/>
          <p:cNvSpPr/>
          <p:nvPr/>
        </p:nvSpPr>
        <p:spPr>
          <a:xfrm>
            <a:off x="548640" y="1847088"/>
            <a:ext cx="39319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85800" y="1847088"/>
            <a:ext cx="36576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Tutorial CNN de TensorFlow</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https://www.tensorflow.org/tutorials/images/cnn</a:t>
            </a:r>
            <a:endParaRPr lang="en-US" sz="1100" dirty="0"/>
          </a:p>
        </p:txBody>
      </p:sp>
      <p:sp>
        <p:nvSpPr>
          <p:cNvPr id="8" name="Shape 6"/>
          <p:cNvSpPr/>
          <p:nvPr/>
        </p:nvSpPr>
        <p:spPr>
          <a:xfrm>
            <a:off x="548640" y="2414016"/>
            <a:ext cx="39319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85800" y="2414016"/>
            <a:ext cx="36576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Guía de usuario de scikit-learn</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https://scikit-learn.org/stable/user_guide.html</a:t>
            </a:r>
            <a:endParaRPr lang="en-US" sz="1100" dirty="0"/>
          </a:p>
        </p:txBody>
      </p:sp>
      <p:sp>
        <p:nvSpPr>
          <p:cNvPr id="10" name="Shape 8"/>
          <p:cNvSpPr/>
          <p:nvPr/>
        </p:nvSpPr>
        <p:spPr>
          <a:xfrm>
            <a:off x="4663440" y="1280160"/>
            <a:ext cx="39319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4800600" y="1280160"/>
            <a:ext cx="36576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TCIA: colecciones públicas de imágenes (CT, MRI, PET)</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https://wiki.cancerimagingarchive.net/display/Public/Collections</a:t>
            </a:r>
            <a:endParaRPr lang="en-US" sz="1100" dirty="0"/>
          </a:p>
        </p:txBody>
      </p:sp>
      <p:sp>
        <p:nvSpPr>
          <p:cNvPr id="12" name="Shape 10"/>
          <p:cNvSpPr/>
          <p:nvPr/>
        </p:nvSpPr>
        <p:spPr>
          <a:xfrm>
            <a:off x="4663440" y="1847088"/>
            <a:ext cx="39319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800600" y="1847088"/>
            <a:ext cx="36576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The public cancer radiology imaging collections of TCIA (Scientific Data)</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https://www.nature.com/articles/sdata2017124</a:t>
            </a:r>
            <a:endParaRPr lang="en-US" sz="1100" dirty="0"/>
          </a:p>
        </p:txBody>
      </p:sp>
      <p:sp>
        <p:nvSpPr>
          <p:cNvPr id="14" name="Shape 12"/>
          <p:cNvSpPr/>
          <p:nvPr/>
        </p:nvSpPr>
        <p:spPr>
          <a:xfrm>
            <a:off x="4663440" y="2414016"/>
            <a:ext cx="3931920" cy="512064"/>
          </a:xfrm>
          <a:prstGeom prst="roundRect">
            <a:avLst>
              <a:gd name="adj" fmla="val 17857"/>
            </a:avLst>
          </a:prstGeom>
          <a:solidFill>
            <a:srgbClr val="FFFFFF"/>
          </a:solidFill>
          <a:ln w="9525">
            <a:solidFill>
              <a:srgbClr val="DCE6EE"/>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4800600" y="2414016"/>
            <a:ext cx="3657600" cy="512064"/>
          </a:xfrm>
          <a:prstGeom prst="rect">
            <a:avLst/>
          </a:prstGeom>
          <a:noFill/>
          <a:ln/>
        </p:spPr>
        <p:txBody>
          <a:bodyPr wrap="square" lIns="0" tIns="0" rIns="0" bIns="0" rtlCol="0" anchor="ctr">
            <a:normAutofit/>
          </a:bodyPr>
          <a:lstStyle/>
          <a:p>
            <a:pPr indent="0" marL="0">
              <a:buNone/>
            </a:pPr>
            <a:r>
              <a:rPr lang="en-US" sz="1100" b="1" dirty="0">
                <a:solidFill>
                  <a:srgbClr val="0B2545"/>
                </a:solidFill>
                <a:latin typeface="Calibri" pitchFamily="34" charset="0"/>
                <a:ea typeface="Calibri" pitchFamily="34" charset="-122"/>
                <a:cs typeface="Calibri" pitchFamily="34" charset="-120"/>
              </a:rPr>
              <a:t>Google Colab</a:t>
            </a:r>
            <a:endParaRPr lang="en-US" sz="1100" dirty="0"/>
          </a:p>
          <a:p>
            <a:pPr indent="0" marL="0">
              <a:buNone/>
            </a:pPr>
            <a:r>
              <a:rPr lang="en-US" sz="9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https://colab.research.google.com/</a:t>
            </a:r>
            <a:endParaRPr lang="en-US" sz="1100" dirty="0"/>
          </a:p>
        </p:txBody>
      </p:sp>
      <p:sp>
        <p:nvSpPr>
          <p:cNvPr id="16" name="Text 14"/>
          <p:cNvSpPr txBox="1"/>
          <p:nvPr/>
        </p:nvSpPr>
        <p:spPr>
          <a:xfrm>
            <a:off x="548640" y="4526280"/>
            <a:ext cx="8046720" cy="201168"/>
          </a:xfrm>
          <a:prstGeom prst="rect">
            <a:avLst/>
          </a:prstGeom>
          <a:noFill/>
          <a:ln/>
        </p:spPr>
        <p:txBody>
          <a:bodyPr wrap="square" lIns="0" tIns="0" rIns="0" bIns="0" rtlCol="0" anchor="ctr"/>
          <a:lstStyle/>
          <a:p>
            <a:pPr indent="0" marL="0">
              <a:buNone/>
            </a:pPr>
            <a:r>
              <a:rPr lang="en-US" sz="900" i="1" dirty="0">
                <a:solidFill>
                  <a:srgbClr val="7A8B9C"/>
                </a:solidFill>
                <a:latin typeface="Calibri" pitchFamily="34" charset="0"/>
                <a:ea typeface="Calibri" pitchFamily="34" charset="-122"/>
                <a:cs typeface="Calibri" pitchFamily="34" charset="-120"/>
              </a:rPr>
              <a:t>Enlaces confirmados por búsqueda web el 30/09/2026; ábrelos una vez antes de la clase.</a:t>
            </a:r>
            <a:endParaRPr lang="en-US" sz="9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B9C"/>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86868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mbria" pitchFamily="34" charset="0"/>
                <a:ea typeface="Cambria" pitchFamily="34" charset="-122"/>
                <a:cs typeface="Cambria" pitchFamily="34" charset="-120"/>
              </a:rPr>
              <a:t>Próxima clase: Semana 12</a:t>
            </a:r>
            <a:endParaRPr lang="en-US" sz="2600" dirty="0"/>
          </a:p>
        </p:txBody>
      </p:sp>
      <p:sp>
        <p:nvSpPr>
          <p:cNvPr id="3" name="Text 1"/>
          <p:cNvSpPr txBox="1"/>
          <p:nvPr/>
        </p:nvSpPr>
        <p:spPr>
          <a:xfrm>
            <a:off x="548640" y="4773168"/>
            <a:ext cx="5486400" cy="22860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SISTEMAS BIOMECATRONICOS  ·  Semana 11</a:t>
            </a:r>
            <a:endParaRPr lang="en-US" sz="900" dirty="0"/>
          </a:p>
        </p:txBody>
      </p:sp>
      <p:sp>
        <p:nvSpPr>
          <p:cNvPr id="4" name="Shape 2"/>
          <p:cNvSpPr/>
          <p:nvPr/>
        </p:nvSpPr>
        <p:spPr>
          <a:xfrm>
            <a:off x="6949440" y="-914400"/>
            <a:ext cx="3291840" cy="3291840"/>
          </a:xfrm>
          <a:prstGeom prst="ellipse">
            <a:avLst/>
          </a:prstGeom>
          <a:solidFill>
            <a:srgbClr val="13334F"/>
          </a:solidFill>
          <a:ln w="12700">
            <a:solidFill>
              <a:srgbClr val="13334F"/>
            </a:solidFill>
            <a:prstDash val="solid"/>
          </a:ln>
        </p:spPr>
      </p:sp>
      <p:sp>
        <p:nvSpPr>
          <p:cNvPr id="5" name="Shape 3"/>
          <p:cNvSpPr/>
          <p:nvPr/>
        </p:nvSpPr>
        <p:spPr>
          <a:xfrm>
            <a:off x="7498080" y="3017520"/>
            <a:ext cx="2194560" cy="2194560"/>
          </a:xfrm>
          <a:prstGeom prst="ellipse">
            <a:avLst/>
          </a:prstGeom>
          <a:solidFill>
            <a:srgbClr val="1A7F8E">
              <a:alpha val="45000"/>
            </a:srgbClr>
          </a:solidFill>
          <a:ln w="12700">
            <a:solidFill>
              <a:srgbClr val="1A7F8E"/>
            </a:solidFill>
            <a:prstDash val="solid"/>
          </a:ln>
        </p:spPr>
      </p:sp>
      <p:sp>
        <p:nvSpPr>
          <p:cNvPr id="6" name="Text 4"/>
          <p:cNvSpPr txBox="1"/>
          <p:nvPr/>
        </p:nvSpPr>
        <p:spPr>
          <a:xfrm>
            <a:off x="548640" y="1280160"/>
            <a:ext cx="6583680" cy="731520"/>
          </a:xfrm>
          <a:prstGeom prst="rect">
            <a:avLst/>
          </a:prstGeom>
          <a:noFill/>
          <a:ln/>
        </p:spPr>
        <p:txBody>
          <a:bodyPr wrap="square" lIns="0" tIns="0" rIns="0" bIns="0" rtlCol="0" anchor="ctr">
            <a:normAutofit/>
          </a:bodyPr>
          <a:lstStyle/>
          <a:p>
            <a:pPr indent="0" marL="0">
              <a:buNone/>
            </a:pPr>
            <a:r>
              <a:rPr lang="en-US" sz="2000" b="1" dirty="0">
                <a:solidFill>
                  <a:srgbClr val="CFE8EC"/>
                </a:solidFill>
                <a:latin typeface="Calibri" pitchFamily="34" charset="0"/>
                <a:ea typeface="Calibri" pitchFamily="34" charset="-122"/>
                <a:cs typeface="Calibri" pitchFamily="34" charset="-120"/>
              </a:rPr>
              <a:t>Segmentación de tumores cerebrales con la arquitectura U-Net</a:t>
            </a:r>
            <a:endParaRPr lang="en-US" sz="2000" dirty="0"/>
          </a:p>
        </p:txBody>
      </p:sp>
      <p:sp>
        <p:nvSpPr>
          <p:cNvPr id="7" name="Text 5"/>
          <p:cNvSpPr txBox="1"/>
          <p:nvPr/>
        </p:nvSpPr>
        <p:spPr>
          <a:xfrm>
            <a:off x="548640" y="2057400"/>
            <a:ext cx="6583680" cy="914400"/>
          </a:xfrm>
          <a:prstGeom prst="rect">
            <a:avLst/>
          </a:prstGeom>
          <a:noFill/>
          <a:ln/>
        </p:spPr>
        <p:txBody>
          <a:bodyPr wrap="square" lIns="0" tIns="0" rIns="0" bIns="0" rtlCol="0" anchor="t">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Explica la arquitectura U-Net y segmenta anomalías en resonancia magnética cerebral, evaluando el resultado con Dice e IoU.</a:t>
            </a:r>
            <a:endParaRPr lang="en-US" sz="1350" dirty="0"/>
          </a:p>
        </p:txBody>
      </p:sp>
      <p:sp>
        <p:nvSpPr>
          <p:cNvPr id="8" name="Text 6"/>
          <p:cNvSpPr txBox="1"/>
          <p:nvPr/>
        </p:nvSpPr>
        <p:spPr>
          <a:xfrm>
            <a:off x="548640" y="3063240"/>
            <a:ext cx="6583680" cy="320040"/>
          </a:xfrm>
          <a:prstGeom prst="rect">
            <a:avLst/>
          </a:prstGeom>
          <a:noFill/>
          <a:ln/>
        </p:spPr>
        <p:txBody>
          <a:bodyPr wrap="square" lIns="0" tIns="0" rIns="0" bIns="0" rtlCol="0" anchor="ctr"/>
          <a:lstStyle/>
          <a:p>
            <a:pPr indent="0" marL="0">
              <a:buNone/>
            </a:pPr>
            <a:r>
              <a:rPr lang="en-US" sz="1400" b="1" dirty="0">
                <a:solidFill>
                  <a:srgbClr val="E8871E"/>
                </a:solidFill>
                <a:latin typeface="Cambria" pitchFamily="34" charset="0"/>
                <a:ea typeface="Cambria" pitchFamily="34" charset="-122"/>
                <a:cs typeface="Cambria" pitchFamily="34" charset="-120"/>
              </a:rPr>
              <a:t>Antes de esa clase</a:t>
            </a:r>
            <a:endParaRPr lang="en-US" sz="1400" dirty="0"/>
          </a:p>
        </p:txBody>
      </p:sp>
      <p:sp>
        <p:nvSpPr>
          <p:cNvPr id="9" name="Text 7"/>
          <p:cNvSpPr txBox="1"/>
          <p:nvPr/>
        </p:nvSpPr>
        <p:spPr>
          <a:xfrm>
            <a:off x="548640" y="3401568"/>
            <a:ext cx="6583680" cy="128016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Leer el resumen y la figura de arquitectura del artículo de U-Net</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Explorar el conjunto LGG y ver ejemplos de imágenes y máscaras</a:t>
            </a:r>
            <a:endParaRPr lang="en-US" sz="1150" dirty="0"/>
          </a:p>
          <a:p>
            <a:pPr marL="342900" indent="-342900">
              <a:spcAft>
                <a:spcPts val="400"/>
              </a:spcAft>
              <a:buSzPct val="100000"/>
              <a:buChar char="•"/>
            </a:pPr>
            <a:r>
              <a:rPr lang="en-US" sz="1150" dirty="0">
                <a:solidFill>
                  <a:srgbClr val="FFFFFF"/>
                </a:solidFill>
                <a:latin typeface="Calibri" pitchFamily="34" charset="0"/>
                <a:ea typeface="Calibri" pitchFamily="34" charset="-122"/>
                <a:cs typeface="Calibri" pitchFamily="34" charset="-120"/>
              </a:rPr>
              <a:t>Leer el tutorial de segmentación de TensorFlow</a:t>
            </a:r>
            <a:endParaRPr lang="en-US" sz="115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FB3C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11: Clasificación de tumores y patologías con redes convolucionales</dc:title>
  <dc:subject>PptxGenJS Presentation</dc:subject>
  <dc:creator>Sistemas Biomecatrónicos, ESPOL</dc:creator>
  <cp:lastModifiedBy>Sistemas Biomecatrónicos, ESPOL</cp:lastModifiedBy>
  <cp:revision>1</cp:revision>
  <dcterms:created xsi:type="dcterms:W3CDTF">2026-09-30T16:49:19Z</dcterms:created>
  <dcterms:modified xsi:type="dcterms:W3CDTF">2026-09-30T16:49:19Z</dcterms:modified>
</cp:coreProperties>
</file>