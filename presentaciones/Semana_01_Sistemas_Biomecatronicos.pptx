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 la sesión 1 de 14. Dar la bienvenida, verificar audio y video, y recordar las reglas de participación.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Leer los seis objetivos, uno por cada nivel de la taxonomía de Bloom revisada. Al final de la clase el quiz verifica los primeros niveles y la tarea cubre los superiores.
Resultado de aprendizaje: Describe los componentes de un sistema biomecatrónico (sensores, procesamiento, control, actuadores e interfaz biológica) y explica su papel en la ingeniería biomédica.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Sesión inaugural: explorar con una pregunta al chat qué conocimientos previos tiene el grupo.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Paso a paso de la clase:
0–10 min · Apertura: Bienvenida, reglas de participación virtual (cámara, chat, micrófono), sílabo, evaluación y niveles de la taxonomía de Bloom usados en el curso. Sondeo inicial: ¿qué dispositivo biomecatrónico conoces?
10–30 min · Exposición: Presentar la arquitectura general: sensor, acondicionamiento, controlador, actuador, interfaz con el cuerpo. Mostrar el diagrama de bloques con ejemplos (prótesis, exoesqueleto, marcapasos).
30–50 min · Demostración en vivo: Compartir pantalla y recorrer paso a paso una prótesis mioeléctrica: electrodos, amplificación, decisión, movimiento del actuador. Los estudiantes señalan cada bloque en el chat.
50–55 min · Pausa: Pausa de 5 minutos: apagar cámara, estirarse, volver puntuales.
55–80 min · Práctica en salas virtuales: Salas de 4 personas: cada grupo completa una tabla con tres dispositivos (sensores, actuadores, control, señal biológica) en un documento compartido de Google.
80–95 min · Plenaria y discusión: Cada grupo presenta una fila de su tabla. Discusión guiada: riesgos, seguridad del paciente y ética del uso de estos dispositivos.
95–105 min · Cierre y evaluación: Quiz de 5 preguntas en Google Forms, explicación de la tarea y adelanto de la semana 2 (introducción a machine learning).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sesión recorre los seis niveles de la taxonomía de Bloom revisada, de recordar a crear, con una actividad para cada uno.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Preguntar al grupo quién completó cada actividad previa y qué dudas surgieron. Usar sus respuestas para ajustar el ritmo de la exposición.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exposición aproximado: 2 minutos. Pedir un ejemplo del grupo antes de pasar a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exposición aproximado: 2 minutos. Pedir un ejemplo del grupo antes de pasar a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exposición aproximado: 2 minutos. Pedir un ejemplo del grupo antes de pasar a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exposición aproximado: 2 minutos. Pedir un ejemplo del grupo antes de pasar a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exposición aproximado: 2 minutos. Pedir un ejemplo del grupo antes de pasar a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exposición aproximado: 2 minutos. Pedir un ejemplo del grupo antes de pasar a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exposición aproximado: 2 minutos. Pedir un ejemplo del grupo antes de pasar a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exposición aproximado: 2 minutos. Pedir un ejemplo del grupo antes de pasar a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exposición aproximado: 2 minutos. Pedir un ejemplo del grupo antes de pasar a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Demostración (20 min): Compartir pantalla y recorrer paso a paso una prótesis mioeléctrica: electrodos, amplificación, decisión, movimiento del actuador. Los estudiantes señalan cada bloque en el chat.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las salas en Zoom y asignar roles. Pasar por cada sala durante el trabajo. Actividad: Salas de 4 personas: cada grupo completa una tabla con tres dispositivos (sensores, actuadores, control, señal biológica) en un documento compartido de Google.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Plenaria (15 min). Criterios de la rúbrica de coevaluación: claridad, evidencia y seguridad del paciente. Cada grupo presenta una fila de su tabla. Discusión guiada: riesgos, seguridad del paciente y ética del uso de estos dispositivos.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Respuestas esperadas:
1. Por ejemplo: sensor, controlador y actuador.
2. La EMG, actividad eléctrica del músculo.
3. El lazo cerrado mide el resultado y corrige la acción.
4. Amplifica, filtra y digitaliza la señal.
5. Por ejemplo: pérdida de privacidad o uso de los datos sin consentimiento.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con las tres ideas clave. Pedir a un estudiante que las resuma en una frase.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cada entregable y su fecha en el aula virtual.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Compartir este enlace en el chat al final de la clase.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Adelanto de la semana 2. Recordar las actividades previas y su duración.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3C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3C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hyperlink" Target="https://en.wikipedia.org/wiki/Biomechatronics" TargetMode="External"/><Relationship Id="rId2" Type="http://schemas.openxmlformats.org/officeDocument/2006/relationships/hyperlink" Target="https://pmc.ncbi.nlm.nih.gov/articles/PMC9326577/" TargetMode="External"/><Relationship Id="rId3" Type="http://schemas.openxmlformats.org/officeDocument/2006/relationships/hyperlink" Target="https://derekbruff.org/vanderbilt-cft-teaching-guides-archive/blooms-taxonomy/" TargetMode="External"/><Relationship Id="rId4" Type="http://schemas.openxmlformats.org/officeDocument/2006/relationships/hyperlink" Target="https://colab.research.google.com/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-1097280"/>
            <a:ext cx="4572000" cy="4572000"/>
          </a:xfrm>
          <a:prstGeom prst="ellipse">
            <a:avLst/>
          </a:prstGeom>
          <a:solidFill>
            <a:srgbClr val="13334F"/>
          </a:solidFill>
          <a:ln w="12700">
            <a:solidFill>
              <a:srgbClr val="1333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2377440"/>
            <a:ext cx="3108960" cy="3108960"/>
          </a:xfrm>
          <a:prstGeom prst="ellipse">
            <a:avLst/>
          </a:prstGeom>
          <a:solidFill>
            <a:srgbClr val="1A7F8E">
              <a:alpha val="45000"/>
            </a:srgbClr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0" y="3291840"/>
            <a:ext cx="1645920" cy="1645920"/>
          </a:xfrm>
          <a:prstGeom prst="ellipse">
            <a:avLst/>
          </a:prstGeom>
          <a:solidFill>
            <a:srgbClr val="E8871E">
              <a:alpha val="45000"/>
            </a:srgbClr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00584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SISTEMAS BIOMECATRONICOS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4320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CF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1: Introducción a los sistemas biomecatrónicos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34340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ESPOL  ·  Clase virtual de 1 h 45 min  ·  Taxonomía de Bloom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 clase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435608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356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Recordar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72821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Enumerar los subsistemas de un sistema biomecatrónico y dos aplicaciones clínicas de cada uno.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32588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92040" y="1435608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14356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Comprender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172821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cómo se integran biología, mecánica, electrónica y control en una prótesis o un exoesqueleto.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42316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5800" y="2532888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253288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282549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Clasificar dispositivos reales (prótesis mioeléctrica, exoesqueleto, marcapasos) según sensores, actuadores y control.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42316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92040" y="2532888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7A4E9C"/>
          </a:solidFill>
          <a:ln w="12700">
            <a:solidFill>
              <a:srgbClr val="7A4E9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92040" y="253288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892040" y="282549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el flujo señal biológica, procesamiento y actuación en un caso de estudio.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52044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" y="3630168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363016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392277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Valorar ventajas, riesgos y aspectos éticos de un dispositivo biomecatrónico.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52044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92040" y="3630168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92040" y="363016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4892040" y="392277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Proponer un diagrama de bloques para una necesidad clínica concreta.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Resumen de la clase anterior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00200"/>
            <a:ext cx="384048" cy="384048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417320"/>
            <a:ext cx="7040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es la primera sesión del curso, así que no hay clase previa. Punto de partida: fundamentos de física y electrónica, programación básica en Python y curiosidad por las aplicaciones clínicas.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85800" y="3200400"/>
            <a:ext cx="329184" cy="329184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32004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6576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física y electrónica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91840" y="306324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29000" y="3200400"/>
            <a:ext cx="329184" cy="329184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429000" y="32004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474720" y="36576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básica en Python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35040" y="306324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3200400"/>
            <a:ext cx="329184" cy="329184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72200" y="32004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36576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Interés en aplicaciones clínicas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de la sesión: 105 minutos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804672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2801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 min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011680" y="128016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Apertura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760720" y="1353312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760720" y="13533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Recordar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315200" y="12801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737360"/>
            <a:ext cx="804672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85800" y="17373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10–30 min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011680" y="173736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Exposición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760720" y="1810512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760720" y="18105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Comprender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0" y="17373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194560"/>
            <a:ext cx="804672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85800" y="21945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30–50 min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011680" y="219456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Demostración en vivo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760720" y="2267712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760720" y="22677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21945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2651760"/>
            <a:ext cx="804672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85800" y="26517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50–55 min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011680" y="265176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Pausa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760720" y="26517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Descanso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0" y="26517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3108960"/>
            <a:ext cx="804672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685800" y="31089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55–80 min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2011680" y="310896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Práctica en salas virtuales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760720" y="3182112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7A4E9C"/>
          </a:solidFill>
          <a:ln w="12700">
            <a:solidFill>
              <a:srgbClr val="7A4E9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760720" y="31821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7315200" y="31089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3566160"/>
            <a:ext cx="804672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685800" y="35661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80–95 min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2011680" y="356616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Plenaria y discusión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760720" y="3639312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760720" y="36393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7315200" y="35661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48640" y="4023360"/>
            <a:ext cx="804672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685800" y="40233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95–105 min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2011680" y="402336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Cierre y evaluación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5760720" y="4096512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760720" y="40965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7315200" y="40233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trabajaremos: niveles de Bloom en la clase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3258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Recordar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429000" y="13258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 y repaso rápido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856232"/>
            <a:ext cx="3611880" cy="457200"/>
          </a:xfrm>
          <a:prstGeom prst="roundRect">
            <a:avLst>
              <a:gd name="adj" fmla="val 20000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856232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Comprender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297680" y="1856232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con ejemplos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386584"/>
            <a:ext cx="4480560" cy="457200"/>
          </a:xfrm>
          <a:prstGeom prst="roundRect">
            <a:avLst>
              <a:gd name="adj" fmla="val 20000"/>
            </a:avLst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238658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Aplicar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166360" y="238658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 en vivo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2916936"/>
            <a:ext cx="5349240" cy="457200"/>
          </a:xfrm>
          <a:prstGeom prst="roundRect">
            <a:avLst>
              <a:gd name="adj" fmla="val 20000"/>
            </a:avLst>
          </a:prstGeom>
          <a:solidFill>
            <a:srgbClr val="7A4E9C"/>
          </a:solidFill>
          <a:ln w="12700">
            <a:solidFill>
              <a:srgbClr val="7A4E9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2916936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Analizar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035040" y="291693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en salas virtuales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447288"/>
            <a:ext cx="6217920" cy="45720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344728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Evaluar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344728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Plenaria y rúbrica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7086600" cy="457200"/>
          </a:xfrm>
          <a:prstGeom prst="roundRect">
            <a:avLst>
              <a:gd name="adj" fmla="val 2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3977640"/>
            <a:ext cx="6812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Crear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0" y="39776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Cierre, quiz y tarea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preparaste antes de la clase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08760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Recordar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2024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el sílabo, la planificación y las rúbricas del curso en el aula virtual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3566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Entregable: Confirmar lectura en el foro de bienvenida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29000" y="1508760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2900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Comprender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456432" y="192024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el artículo de introducción a la biomecatrónica y anotar tres términos nuevos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456432" y="3566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Entregable: Tres términos con su definición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1508760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7220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Comprender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40664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199632" y="192024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la revisión sobre biomimética y biomecatrónica y elegir un dispositivo de interés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199632" y="3566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Entregable: Nombre del dispositivo elegido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un sistema biomecatrónico?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5361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14996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Biología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9933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con tejidos, señales y movimiento del cuerpo humano.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28032" y="15361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280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321808" y="14996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Mecánica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9933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Estructuras, articulaciones y transmisiones que producen movimiento.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9718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3136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07008" y="30998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Electrónica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5935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Sensores, acondicionamiento de señal y potencia para los actuadores.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663440" y="29718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28032" y="3136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28032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321808" y="30998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y software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35935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que interpretan señales, deciden y se adaptan al usuario.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general de un sistema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481328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371600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Sensor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657600" y="1371600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una señal biológica o mecánica del usuario.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039112"/>
            <a:ext cx="80467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2148840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039112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Acondicionamiento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2039112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Amplifica, filtra y digitaliza la señal.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706624"/>
            <a:ext cx="80467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281635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2816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2706624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Controlador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657600" y="2706624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 la señal y decide la acción.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374136"/>
            <a:ext cx="80467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13232" y="3483864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3232" y="3483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3374136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Actuador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657600" y="3374136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movimiento, fuerza o estimulación.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041648"/>
            <a:ext cx="80467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13232" y="4151376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13232" y="4151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280160" y="4041648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Realimentación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3657600" y="4041648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resultado vuelve al sistema y al usuario para corregir.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Señales biológicas que usaremos en el curso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5361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14996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EMG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9933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eléctrica de los músculos; controla prótesis.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28032" y="15361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280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321808" y="14996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EEG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9933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eléctrica del cerebro; interfaces cerebro-máquina.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9718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3136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07008" y="30998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ECG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5935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eléctrica del corazón; detecta arritmias.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663440" y="29718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28032" y="3136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28032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321808" y="30998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PPG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35935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Variación óptica del volumen de sangre; pulso en relojes y oxímetros.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Caso: prótesis mioeléctrica de mano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481328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371600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Electrodos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657600" y="1371600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Captan la señal EMG sobre el músculo residual.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039112"/>
            <a:ext cx="80467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2148840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039112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Amplificación y filtro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2039112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Eliminan ruido y dejan la banda útil.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706624"/>
            <a:ext cx="80467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281635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2816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2706624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Clasificación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657600" y="2706624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algoritmo reconoce el gesto deseado.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374136"/>
            <a:ext cx="80467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13232" y="3483864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3232" y="3483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3374136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Motor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657600" y="3374136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Mueve los dedos según el gesto reconocido.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041648"/>
            <a:ext cx="80467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13232" y="4151376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13232" y="4151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280160" y="4041648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Usuario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3657600" y="4041648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el resultado y ajusta su contracción.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Exoesqueletos y ortesis activas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840480" cy="315468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54480"/>
            <a:ext cx="3474720" cy="457200"/>
          </a:xfrm>
          <a:prstGeom prst="roundRect">
            <a:avLst>
              <a:gd name="adj" fmla="val 2000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554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Asistencia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94560"/>
            <a:ext cx="3383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Apoyan a una persona que conserva parte de su capacidad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Reducen el esfuerzo en la marcha o al cargar peso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apoyo de cadera en adultos mayores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3840480" cy="315468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37760" y="1554480"/>
            <a:ext cx="3474720" cy="457200"/>
          </a:xfrm>
          <a:prstGeom prst="roundRect">
            <a:avLst>
              <a:gd name="adj" fmla="val 2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37760" y="1554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Rehabilitación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983480" y="2194560"/>
            <a:ext cx="3383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Guían el movimiento para reeducar al paciente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ajustan a la etapa de recuperación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entrenamiento de marcha tras un ictus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Dispositivos implantables y de lazo cerrado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5361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14996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Marcapasos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9933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el ritmo cardiaco y estimula solo cuando hace falta.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28032" y="15361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280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321808" y="14996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Bomba de insulina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9933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híbridos de lazo cerrado ajustan la dosis según la glucosa medida.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9718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3136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07008" y="30998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Implante coclear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5935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Convierte sonido en estimulación eléctrica del nervio auditivo.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663440" y="29718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28032" y="3136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28032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321808" y="30998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Estimulador neural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35935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Envía pulsos controlados para reducir síntomas como el temblor.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Lazo abierto frente a lazo cerrado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840480" cy="315468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54480"/>
            <a:ext cx="3474720" cy="457200"/>
          </a:xfrm>
          <a:prstGeom prst="roundRect">
            <a:avLst>
              <a:gd name="adj" fmla="val 2000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554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Lazo abierto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94560"/>
            <a:ext cx="3383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acción no depende del resultado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simple y barato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corrige errores ni cambios del usuario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3840480" cy="315468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37760" y="1554480"/>
            <a:ext cx="3474720" cy="457200"/>
          </a:xfrm>
          <a:prstGeom prst="roundRect">
            <a:avLst>
              <a:gd name="adj" fmla="val 2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37760" y="1554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Lazo cerrado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983480" y="2194560"/>
            <a:ext cx="3383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 el resultado y corrige la acción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adapta a cada persona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 sensores confiables y análisis de estabilidad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Seguridad, ética y regulación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5361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14996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 del paciente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9933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Fallos del dispositivo no deben causar daño; se diseñan con redundancia.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28032" y="15361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280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321808" y="14996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Biocompatibilidad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9933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materiales en contacto con el cuerpo no deben provocar rechazo.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9718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3136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07008" y="30998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Privacidad de datos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5935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señales fisiológicas son datos personales sensibles.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663440" y="29718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28032" y="3136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28032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321808" y="30998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Equidad de acceso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35935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diseño debe considerar costo, mantenimiento y contexto local.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Ruta del curso: 14 semanas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481328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371600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Semanas 2 a 4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657600" y="1371600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machine learning y algoritmos en biomedicina.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039112"/>
            <a:ext cx="80467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2148840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039112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Semanas 5 y 6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2039112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con señales EMG, EEG, ECG y PPG.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706624"/>
            <a:ext cx="80467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281635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2816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2706624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Semana 7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657600" y="2706624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Imágenes médicas: rayos X, TAC, ecografía, resonancia y PET.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374136"/>
            <a:ext cx="80467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13232" y="3483864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3232" y="3483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3374136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Semanas 8 a 12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657600" y="3374136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learning, CNN, clasificación de tumores y U-Net.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041648"/>
            <a:ext cx="80467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13232" y="4151376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13232" y="4151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280160" y="4041648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Semanas 13 y 14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3657600" y="4041648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Biomecánica ósea y elementos finitos del fémur.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Demostración en vivo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4754880" cy="3108960"/>
          </a:xfrm>
          <a:prstGeom prst="roundRect">
            <a:avLst>
              <a:gd name="adj" fmla="val 3529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FE8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haremos (20 min)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65960"/>
            <a:ext cx="4297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Compartir pantalla y recorrer paso a paso una prótesis mioeléctrica: electrodos, amplificación, decisión, movimiento del actuador. Los estudiantes señalan cada bloque en el chat.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0" y="1371600"/>
            <a:ext cx="31089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23560" y="1645920"/>
            <a:ext cx="384048" cy="384048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2356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126480" y="137160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Sigue en tu propio Colab o software mientras se muestra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0" y="2423160"/>
            <a:ext cx="31089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23560" y="2697480"/>
            <a:ext cx="384048" cy="384048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23560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242316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 tus dudas en el chat con el número de paso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0" y="3474720"/>
            <a:ext cx="31089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623560" y="3749040"/>
            <a:ext cx="384048" cy="384048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2356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126480" y="347472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capturas para tu entregable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Práctica en salas virtuales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194560" cy="3108960"/>
          </a:xfrm>
          <a:prstGeom prst="roundRect">
            <a:avLst>
              <a:gd name="adj" fmla="val 5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459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346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minutos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salas de 4 personas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926080" y="137160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Salas de 4 personas: cada grupo completa una tabla con tres dispositivos (sensores, actuadores, control, señal biológica) en un documento compartido de Google.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2926080" y="2651760"/>
            <a:ext cx="27889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063240" y="270662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Moderador/a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063240" y="303580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 el tiempo y da la palabra.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806440" y="2651760"/>
            <a:ext cx="27889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943600" y="270662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Ejecutor/a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0" y="303580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Comparte pantalla y corre el ejercicio.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926080" y="3611880"/>
            <a:ext cx="27889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3063240" y="366674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Verificador/a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063240" y="399592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resultados y unidades.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806440" y="3611880"/>
            <a:ext cx="27889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5943600" y="366674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Relator/a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0" y="399592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hallazgos en el documento.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Plenaria y discusión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417320"/>
            <a:ext cx="7589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grupo presenta una fila de su tabla. Discusión guiada: riesgos, seguridad del paciente y ética del uso de estos dispositivos.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3063240"/>
            <a:ext cx="347472" cy="347472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3063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306324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Claridad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35204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explicación se entiende sin ver el código.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292608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29000" y="3063240"/>
            <a:ext cx="347472" cy="347472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29000" y="3063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886200" y="306324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Evidencia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456432" y="35204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Respalda con datos, métricas o cálculos.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292608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3063240"/>
            <a:ext cx="347472" cy="347472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72200" y="3063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629400" y="306324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 del paciente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199632" y="35204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 el riesgo de equivocarse.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 de cierre (Google Forms)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426464"/>
            <a:ext cx="365760" cy="365760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264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32588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Nombra tres subsistemas de un sistema biomecatrónico.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85800" y="2066544"/>
            <a:ext cx="365760" cy="365760"/>
          </a:xfrm>
          <a:prstGeom prst="ellipse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0665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196596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señal usa una prótesis mioeléctrica?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6040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5800" y="2706624"/>
            <a:ext cx="365760" cy="365760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2706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260604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diferencia a un lazo cerrado de uno abierto?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5800" y="3346704"/>
            <a:ext cx="365760" cy="365760"/>
          </a:xfrm>
          <a:prstGeom prst="ellipse">
            <a:avLst/>
          </a:prstGeom>
          <a:solidFill>
            <a:srgbClr val="7A4E9C"/>
          </a:solidFill>
          <a:ln w="12700">
            <a:solidFill>
              <a:srgbClr val="7A4E9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33467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24612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hace el acondicionamiento de señal?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886200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" y="3986784"/>
            <a:ext cx="365760" cy="36576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3986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388620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Menciona un riesgo ético de un dispositivo que recoge datos fisiológicos.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Resumen de la clase de hoy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536192"/>
            <a:ext cx="384048" cy="384048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0312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sistema biomecatrónico integra biología, mecánica, electrónica y control.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32918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56432" y="1536192"/>
            <a:ext cx="384048" cy="384048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564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10312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cadena básica es sensor, acondicionamiento, controlador y actuador, con realimentación.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0350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99632" y="1536192"/>
            <a:ext cx="384048" cy="384048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996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210312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del paciente, privacidad y equidad son parte del diseño, no un añadido.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Después de la clase: tarea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08760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2024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Dibujar el diagrama de bloques de un dispositivo biomecatrónico para una necesidad clínica (una página)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3566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Entregable: Diagrama con bloques y señales rotuladas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29000" y="1508760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2900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456432" y="192024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 en el foro un párrafo sobre un riesgo ético del dispositivo elegido y responder a un compañero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456432" y="3566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Entregable: Un aporte y una respuesta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1508760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7220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40664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199632" y="192024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una cuenta en Google Colab y abrir el cuaderno de bienvenida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199632" y="3566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Entregable: Captura de pantalla de la cuenta activa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Recursos y enlaces de la sesión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804672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280160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Biomechatronics (Wikipedia)</a:t>
            </a:r>
            <a:endParaRPr lang="en-US" sz="1100" dirty="0"/>
          </a:p>
          <a:p>
            <a:pPr indent="0" marL="0">
              <a:buNone/>
            </a:pPr>
            <a:r>
              <a:rPr lang="en-US" sz="9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https://en.wikipedia.org/wiki/Biomechatronics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883664"/>
            <a:ext cx="804672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85800" y="1883664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Interplay of Biomimetics and Biomechatronics (PMC)</a:t>
            </a:r>
            <a:endParaRPr lang="en-US" sz="1100" dirty="0"/>
          </a:p>
          <a:p>
            <a:pPr indent="0" marL="0">
              <a:buNone/>
            </a:pPr>
            <a:r>
              <a:rPr lang="en-US" sz="9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https://pmc.ncbi.nlm.nih.gov/articles/PMC9326577/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487168"/>
            <a:ext cx="804672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85800" y="2487168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Taxonomía de Bloom, guía del Center for Teaching de Vanderbilt (archivo)</a:t>
            </a:r>
            <a:endParaRPr lang="en-US" sz="1100" dirty="0"/>
          </a:p>
          <a:p>
            <a:pPr indent="0" marL="0">
              <a:buNone/>
            </a:pPr>
            <a:r>
              <a:rPr lang="en-US" sz="9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https://derekbruff.org/vanderbilt-cft-teaching-guides-archive/blooms-taxonomy/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090672"/>
            <a:ext cx="804672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85800" y="3090672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</a:t>
            </a:r>
            <a:endParaRPr lang="en-US" sz="1100" dirty="0"/>
          </a:p>
          <a:p>
            <a:pPr indent="0" marL="0">
              <a:buNone/>
            </a:pPr>
            <a:r>
              <a:rPr lang="en-US" sz="9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https://colab.research.google.com/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52628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Enlaces confirmados por búsqueda web el 30/09/2026; ábrelos una vez antes de la clase.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Próxima clase: Semana 2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949440" y="-914400"/>
            <a:ext cx="3291840" cy="3291840"/>
          </a:xfrm>
          <a:prstGeom prst="ellipse">
            <a:avLst/>
          </a:prstGeom>
          <a:solidFill>
            <a:srgbClr val="13334F"/>
          </a:solidFill>
          <a:ln w="12700">
            <a:solidFill>
              <a:srgbClr val="1333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3017520"/>
            <a:ext cx="2194560" cy="2194560"/>
          </a:xfrm>
          <a:prstGeom prst="ellipse">
            <a:avLst/>
          </a:prstGeom>
          <a:solidFill>
            <a:srgbClr val="1A7F8E">
              <a:alpha val="45000"/>
            </a:srgbClr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28016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CF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machine learning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05740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 qué es machine learning, sus tipos y el flujo de trabajo (datos, entrenamiento, validación y prueba) con ejemplos biomédicos.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06324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esa clase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401568"/>
            <a:ext cx="6583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Cursar el módulo de introducción de Machine Learning Crash Course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Colab y ejecutar la primera celda de código de práctica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 el formulario diagnóstico de conocimientos previos de Python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3C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Semana 1: Introducción a los sistemas biomecatrónicos</dc:title>
  <dc:subject>PptxGenJS Presentation</dc:subject>
  <dc:creator>Sistemas Biomecatrónicos, ESPOL</dc:creator>
  <cp:lastModifiedBy>Sistemas Biomecatrónicos, ESPOL</cp:lastModifiedBy>
  <cp:revision>1</cp:revision>
  <dcterms:created xsi:type="dcterms:W3CDTF">2026-09-30T16:49:19Z</dcterms:created>
  <dcterms:modified xsi:type="dcterms:W3CDTF">2026-09-30T16:49:19Z</dcterms:modified>
</cp:coreProperties>
</file>